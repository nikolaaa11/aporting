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70" r:id="rId21"/>
    <p:sldId id="262" r:id="rId8"/>
    <p:sldId id="263" r:id="rId9"/>
    <p:sldId id="271" r:id="rId22"/>
    <p:sldId id="272" r:id="rId23"/>
    <p:sldId id="273" r:id="rId24"/>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104" d="100"/>
          <a:sy n="104" d="100"/>
        </p:scale>
        <p:origin x="834" y="114"/>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3061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formal de la segunda Asamblea Ordinaria de Aportantes del FIP CEHTA ESG correspondiente al ejercicio 2025. Saludar a los Aportantes presentes y al representante de CORFO que asiste como observador institucional sin voz ni voto. Confirmar quórum de asistencia conforme al Art. 35 RI. Verificar que los antecedentes hayan sido distribuidos al menos 15 días antes (Art. 39 RI). Recordar que esta es la segunda asamblea ordinaria del Fondo — el Comité de Vigilancia ya está constituido y su remuneración fue fijada en la primera asamblea, por lo que el foco de hoy es presentar avances 2025 y proyecciones 2026.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brevemente la agenda con los Aportantes y el observador de CORFO. Destacar que la sesión está estructurada en siete bloques con tiempos asignados, totalizando aproximadamente 35 minutos más espacio para preguntas. Confirmar que no haya materias adicionales que algún Aportante quiera incorporar bajo el punto 07 "Otros asuntos". Si las hubiera, anotarlas y asignarles tiempo dentro del bloque final.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Introducir el bloque de avances 2025. Recordar a los Aportantes que en la asamblea anterior se definió un plan estratégico de cinco pilares, y que durante 2025 se priorizó la ejecución de tres de ellos. Los otros dos (búsqueda de deuda y consolidación de exclusividades adicionales) están dentro del foco para 2026. En las siguientes tres slides se detalla el avance específico de cada pilar ejecutado.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Detallar el avance del Pilar 1 — Exclusividad de la tecnología sueca. Explicar que durante 2025 se cerró el acuerdo de licenciamiento exclusivo territorial para Chile y Latinoamérica, formalizado mediante contratos y NDAs robustos. Las portfolio companies ya están en proceso de transferencia técnica y adaptación a la normativa local. Enfatizar el valor estratégico: la exclusividad es una barrera defensiva real frente a competidores. Si los Aportantes preguntan por detalles del titular tecnológico o cláusulas específicas, indicar que esa información está disponible bajo el marco de confidencialidad del Fondo.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Pilar 2 — Obtención de subsidios. Explicar las cuatro instituciones donde el Fondo y sus portfolio companies han generado articulación durante 2025: CORFO (con varias líneas activas en ejecución), ANID (proyectos de I+D en postulación), Ministerio de Energía (programas de energías renovables no convencionales) y Ministerio del Medio Ambiente (economía circular). Recalcar el impacto estratégico: los subsidios son recursos no dilutivos que reducen el costo de capital, aceleran hitos y validan institucionalmente los proyectos. No mencionar cifras específicas adjudicadas — eso queda para los Estados Financieros que se presentarán más adelante en la sesión.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Pilar 3 — Avanzar proyectos Ready-to-Build. Comenzar explicando que Ready-to-Build es el estado donde un proyecto está completamente preparado para iniciar construcción: ingeniería terminada, permisos obtenidos, terrenos asegurados y contratos firmados. Es el punto de máximo valor antes de capital de construcción. Durante 2025 el foco estuvo en Evoque Energy (proyectos de valorización de carbonato de calcio) y Rho Generación (6 proyectos energéticos sumando +150 MW). Mencionar que el avance Ready-to-Build abre la puerta a financiamiento estructurado y a la entrada de socios estratégicos, lo cual conecta directamente con el Pilar 5 — búsqueda de deuda nacional, que se aborda en la sección de Objetivos 2026.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slide es un placeholder que será reemplazado por los Estados Financieros 2025 una vez recibidos del auditor externo. Cuando se inserten los EEFF formales, esta slide debe convertirse en una o dos slides con: (1) cuadro resumen de activos, pasivos y patrimonio del FIP CEHTA ESG; (2) resultado del ejercicio con explicación del método de participación aplicado a las portfolio companies (lo cual contablemente genera pérdida pero refleja inversión en construcción de valor); (3) referencia al dictamen del auditor externo y su tipo (sin salvedades, con salvedades, etc.); (4) operaciones con relacionadas conforme a Art. 41-43 RI. Recordar a los Aportantes el principio Art. 93 Ley N° 20.712: no se proyectan retornos ni se promocionan rentabilidades; la presentación es estrictamente informativa sobre la gestión del ejercicio.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Reportar la actividad del Comité de Vigilancia durante el ejercicio 2025. Detallar el número de sesiones realizadas, las operaciones revisadas, la verificación de información a Aportantes, y la propuesta formal de terna de auditores externos para 2026 (que se aborda en la siguiente slide). Recordar la composición y características del Comité según el Reglamento Interno protocolizado: 3 titulares (al menos uno inscrito en Registro de Directores de la Superintendencia de Pensiones), 2 suplentes, todos no relacionados con AFIS, con declaración jurada al efecto, mandato de un año reelegible. Si los Aportantes piden detalles específicos de operaciones revisadas, ofrecer copia del acta del Comité bajo confidencialidad.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 decisoria de la Asamblea: designación de la firma de auditoría externa para el ejercicio 2026. Explicar el procedimiento en cascada: el Comité de Vigilancia es el órgano que propone la terna (no la Administradora ni los Aportantes directamente), la Asamblea evalúa y vota, y luego AFIS contrata formalmente. Presentar las tres opciones de la terna: PKF/BLE, Surlatina/Crowe, Russell Bedford/Baker Tilly. Todas son firmas inscritas en el registro especial de la CMF. La decisión se toma por mayoría absoluta de los presentes o representados. Si algún Aportante quiere conocer los detalles técnicos y económicos de las propuestas, indicar que están disponibles bajo confidencialidad. Una vez votada la firma elegida, registrar en acta y proceder a la formalización del contrato.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del bloque de Objetivos 2026. Encadenar con el cierre del bloque anterior: los avances 2025 dejan al Fondo en condición de activar los dos pilares restantes del plan original. Presentar los tres focos para el próximo ciclo: (1) búsqueda de deuda nacional con bancos chilenos para escalar inversión, (2) apertura a financiamiento internacional con énfasis en bancos chinos y contrapartes con presencia en Chile, (3) avance específico de hitos por cada portfolio company. Las siguientes tres slides detallan cada uno de estos focos.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primer objetivo 2026: búsqueda de deuda nacional. Explicar que el Fondo necesita complementar el capital propio y los subsidios con deuda estructurada para escalar inversión en las portfolio companies, particularmente en aquellas que están alcanzando estado Ready-to-Build (Evoque, Rho). Detallar la estrategia: deuda estructurada a nivel de proyecto (SpV), no a nivel del Fondo, lo cual protege el balance del FIP. Las contrapartes objetivo son bancos chilenos con apetito ESG: Banco Estado, BICE, Santander, BCI, más los bancos chinos con presencia local (Bank of China Chile e ICBC Chile) como puente al objetivo internacional que se detalla en la siguiente slide. Las garantías y estructuras serán específicas según el banco y el proyecto.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segundo objetivo 2026: financiamiento internacional con énfasis en contrapartes chinas. Explicar que CEHTA tiene un posicionamiento institucional especial como puente entre Chile y China gracias al perfil ESG y a las relaciones ya iniciadas. Las cuatro categorías de contraparte trabajadas son: (1) BANCOS: Bank of China, ICBC, China Merchants Bank, tanto en sus filiales locales como en sus matrices; (2) PROVEEDORES con vendor financing: Cospower, SIEYUAN, JINKO, SANY, especialmente para proyectos BESS y solares; (3) ASEGURADORAS: SINOSURE para cobertura de riesgo país, instrumento clave para destrabar deuda a tasas competitivas; (4) GUBERNAMENTAL: Misión Comercial, Prochile, Embajada como facilitadores de relación. Mencionar que las negociaciones se realizan bajo NDAs estrictos y que cualquier detalle específico está sujeto a confidencialidad. Recordar el principio compliance: no se prometen retornos ni se anticipan cierres que no estén formalizados.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Tercer objetivo 2026: avance específico por portfolio company. Presentar la tabla con las seis compañías del portfolio, el sector de cada una y el hito prioritario para el año. Recalcar que Evoque Energy tiene un seguimiento prioritario por ser la única empresa donde el Fondo tiene posición mayoritaria (&gt;50% de participación). Por la misma razón, los hitos de Evoque son los que más impactan la valorización del Fondo. Las otras cinco empresas tienen participación minoritaria (alrededor de 85%) pero el Fondo no es controlador. Si los Aportantes preguntan por hitos específicos o por situación particular de alguna compañía, ofrecer profundizar al cierre o en reuniones individuales con la Administradora.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formal de la Asamblea. Agradecer la asistencia de los Aportantes y del representante de CORFO. Abrir el espacio para preguntas y otros asuntos (punto 07 de la agenda). Confirmar que el acta de la sesión será preparada, circulada y firmada conforme al Reglamento Interno. Recordar que cualquier consulta adicional puede dirigirse a info@cehtacapital.com o a la Administradora directamente. Cerrar la sesión formalmente registrando hora de término.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 Id="rId3" Type="http://schemas.openxmlformats.org/officeDocument/2006/relationships/image" Target="../media/logo_cehta.png"/><Relationship Id="rId4" Type="http://schemas.openxmlformats.org/officeDocument/2006/relationships/image" Target="../media/logo_corfo.png"/></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 Id="rId3" Type="http://schemas.openxmlformats.org/officeDocument/2006/relationships/image" Target="../media/logo_csl.png"/><Relationship Id="rId4" Type="http://schemas.openxmlformats.org/officeDocument/2006/relationships/image" Target="../media/logo_csl.png"/><Relationship Id="rId5" Type="http://schemas.openxmlformats.org/officeDocument/2006/relationships/image" Target="../media/logo_rho.png"/><Relationship Id="rId6" Type="http://schemas.openxmlformats.org/officeDocument/2006/relationships/image" Target="../media/logo_dte.png"/><Relationship Id="rId7" Type="http://schemas.openxmlformats.org/officeDocument/2006/relationships/image" Target="../media/logo_revtech.png"/><Relationship Id="rId8" Type="http://schemas.openxmlformats.org/officeDocument/2006/relationships/image" Target="../media/logo_evoque.png"/><Relationship Id="rId9" Type="http://schemas.openxmlformats.org/officeDocument/2006/relationships/image" Target="../media/logo_trongkai.png"/></Relationships>
</file>

<file path=ppt/slides/_rels/slide14.xml.rels><?xml version="1.0" encoding="UTF-8"?><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 Id="rId3" Type="http://schemas.openxmlformats.org/officeDocument/2006/relationships/image" Target="../media/logo_cehta_white.png"/><Relationship Id="rId4" Type="http://schemas.openxmlformats.org/officeDocument/2006/relationships/image" Target="../media/logo_cmf.png"/><Relationship Id="rId5" Type="http://schemas.openxmlformats.org/officeDocument/2006/relationships/image" Target="../media/logo_cmf.png"/><Relationship Id="rId6" Type="http://schemas.openxmlformats.org/officeDocument/2006/relationships/image" Target="../media/logo_uaf.jpeg"/><Relationship Id="rId7" Type="http://schemas.openxmlformats.org/officeDocument/2006/relationships/image" Target="../media/logo_corfo.png"/><Relationship Id="rId8" Type="http://schemas.openxmlformats.org/officeDocument/2006/relationships/image" Target="../media/logo_cmf.png"/><Relationship Id="rId9" Type="http://schemas.openxmlformats.org/officeDocument/2006/relationships/image" Target="../media/logo_uaf.jpeg"/></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flipV="1">
            <a:off x="0" y="0"/>
            <a:ext cx="3200400" cy="1645920"/>
          </a:xfrm>
          <a:prstGeom prst="rtTriangle">
            <a:avLst/>
          </a:prstGeom>
          <a:solidFill>
            <a:srgbClr val="EEEDFE">
              <a:alpha val="65000"/>
            </a:srgbClr>
          </a:solidFill>
          <a:ln/>
        </p:spPr>
      </p:sp>
      <p:sp>
        <p:nvSpPr>
          <p:cNvPr id="3" name="Shape 1"/>
          <p:cNvSpPr/>
          <p:nvPr/>
        </p:nvSpPr>
        <p:spPr>
          <a:xfrm>
            <a:off x="9144000" y="0"/>
            <a:ext cx="3044952" cy="2011680"/>
          </a:xfrm>
          <a:prstGeom prst="rtTriangle">
            <a:avLst/>
          </a:prstGeom>
          <a:solidFill>
            <a:srgbClr val="EEEDFE">
              <a:alpha val="50000"/>
            </a:srgbClr>
          </a:solidFill>
          <a:ln/>
        </p:spPr>
      </p:sp>
      <p:sp>
        <p:nvSpPr>
          <p:cNvPr id="7" name="Text 5"/>
          <p:cNvSpPr/>
          <p:nvPr/>
        </p:nvSpPr>
        <p:spPr>
          <a:xfrm>
            <a:off x="457200" y="1828800"/>
            <a:ext cx="10972800" cy="274320"/>
          </a:xfrm>
          <a:prstGeom prst="rect">
            <a:avLst/>
          </a:prstGeom>
          <a:noFill/>
          <a:ln/>
        </p:spPr>
        <p:txBody>
          <a:bodyPr wrap="square" rtlCol="0" anchor="ctr"/>
          <a:lstStyle/>
          <a:p>
            <a:pPr marL="0" indent="0">
              <a:buNone/>
            </a:pPr>
            <a:r>
              <a:rPr lang="en-US" sz="1100" b="1" kern="0" spc="400" dirty="0">
                <a:solidFill>
                  <a:srgbClr val="823DBC"/>
                </a:solidFill>
                <a:latin typeface="Helvetica" pitchFamily="34" charset="0"/>
                <a:ea typeface="Helvetica" pitchFamily="34" charset="-122"/>
                <a:cs typeface="Helvetica" pitchFamily="34" charset="-120"/>
              </a:rPr>
              <a:t>DOCUMENTO PREPARATORIO · USO INTERNO</a:t>
            </a:r>
            <a:endParaRPr lang="en-US" sz="1100" dirty="0"/>
          </a:p>
        </p:txBody>
      </p:sp>
      <p:sp>
        <p:nvSpPr>
          <p:cNvPr id="8" name="Text 6"/>
          <p:cNvSpPr/>
          <p:nvPr/>
        </p:nvSpPr>
        <p:spPr>
          <a:xfrm>
            <a:off x="457200" y="2194560"/>
            <a:ext cx="10972800" cy="914400"/>
          </a:xfrm>
          <a:prstGeom prst="rect">
            <a:avLst/>
          </a:prstGeom>
          <a:noFill/>
          <a:ln/>
        </p:spPr>
        <p:txBody>
          <a:bodyPr wrap="square" rtlCol="0" anchor="ctr"/>
          <a:lstStyle/>
          <a:p>
            <a:pPr marL="0" indent="0">
              <a:buNone/>
            </a:pPr>
            <a:r>
              <a:rPr lang="en-US" sz="6400" i="1" dirty="0">
                <a:solidFill>
                  <a:srgbClr val="1D1D1F"/>
                </a:solidFill>
                <a:latin typeface="Georgia" pitchFamily="34" charset="0"/>
                <a:ea typeface="Georgia" pitchFamily="34" charset="-122"/>
                <a:cs typeface="Georgia" pitchFamily="34" charset="-120"/>
              </a:rPr>
              <a:t>Asamblea de</a:t>
            </a:r>
            <a:endParaRPr lang="en-US" sz="6400" dirty="0"/>
          </a:p>
        </p:txBody>
      </p:sp>
      <p:sp>
        <p:nvSpPr>
          <p:cNvPr id="9" name="Text 7"/>
          <p:cNvSpPr/>
          <p:nvPr/>
        </p:nvSpPr>
        <p:spPr>
          <a:xfrm>
            <a:off x="457200" y="3017520"/>
            <a:ext cx="10972800" cy="914400"/>
          </a:xfrm>
          <a:prstGeom prst="rect">
            <a:avLst/>
          </a:prstGeom>
          <a:noFill/>
          <a:ln/>
        </p:spPr>
        <p:txBody>
          <a:bodyPr wrap="square" rtlCol="0" anchor="ctr"/>
          <a:lstStyle/>
          <a:p>
            <a:pPr marL="0" indent="0">
              <a:buNone/>
            </a:pPr>
            <a:r>
              <a:rPr lang="en-US" sz="6600" b="1" dirty="0">
                <a:solidFill>
                  <a:srgbClr val="4D0F96"/>
                </a:solidFill>
                <a:latin typeface="Helvetica" pitchFamily="34" charset="0"/>
                <a:ea typeface="Helvetica" pitchFamily="34" charset="-122"/>
                <a:cs typeface="Helvetica" pitchFamily="34" charset="-120"/>
              </a:rPr>
              <a:t>Aportantes 2026</a:t>
            </a:r>
            <a:endParaRPr lang="en-US" sz="6600" dirty="0"/>
          </a:p>
        </p:txBody>
      </p:sp>
      <p:sp>
        <p:nvSpPr>
          <p:cNvPr id="10" name="Shape 8"/>
          <p:cNvSpPr/>
          <p:nvPr/>
        </p:nvSpPr>
        <p:spPr>
          <a:xfrm>
            <a:off x="457200" y="3977640"/>
            <a:ext cx="3200400" cy="54864"/>
          </a:xfrm>
          <a:prstGeom prst="rect">
            <a:avLst/>
          </a:prstGeom>
          <a:solidFill>
            <a:srgbClr val="2C74FF"/>
          </a:solidFill>
          <a:ln/>
        </p:spPr>
      </p:sp>
      <p:sp>
        <p:nvSpPr>
          <p:cNvPr id="11" name="Shape 9"/>
          <p:cNvSpPr/>
          <p:nvPr/>
        </p:nvSpPr>
        <p:spPr>
          <a:xfrm>
            <a:off x="3749040" y="3977640"/>
            <a:ext cx="731520" cy="54864"/>
          </a:xfrm>
          <a:prstGeom prst="rect">
            <a:avLst/>
          </a:prstGeom>
          <a:solidFill>
            <a:srgbClr val="823DBC"/>
          </a:solidFill>
          <a:ln/>
        </p:spPr>
      </p:sp>
      <p:sp>
        <p:nvSpPr>
          <p:cNvPr id="12" name="Shape 10"/>
          <p:cNvSpPr/>
          <p:nvPr/>
        </p:nvSpPr>
        <p:spPr>
          <a:xfrm>
            <a:off x="4572000" y="3977640"/>
            <a:ext cx="228600" cy="54864"/>
          </a:xfrm>
          <a:prstGeom prst="rect">
            <a:avLst/>
          </a:prstGeom>
          <a:solidFill>
            <a:srgbClr val="4D0F96"/>
          </a:solidFill>
          <a:ln/>
        </p:spPr>
      </p:sp>
      <p:sp>
        <p:nvSpPr>
          <p:cNvPr id="13" name="Text 11"/>
          <p:cNvSpPr/>
          <p:nvPr/>
        </p:nvSpPr>
        <p:spPr>
          <a:xfrm>
            <a:off x="457200" y="4160520"/>
            <a:ext cx="10972800" cy="457200"/>
          </a:xfrm>
          <a:prstGeom prst="rect">
            <a:avLst/>
          </a:prstGeom>
          <a:noFill/>
          <a:ln/>
        </p:spPr>
        <p:txBody>
          <a:bodyPr wrap="square" rtlCol="0" anchor="ctr"/>
          <a:lstStyle/>
          <a:p>
            <a:pPr marL="0" indent="0">
              <a:buNone/>
            </a:pPr>
            <a:r>
              <a:rPr lang="en-US" sz="2200" i="1" dirty="0">
                <a:solidFill>
                  <a:srgbClr val="424245"/>
                </a:solidFill>
                <a:latin typeface="Georgia" pitchFamily="34" charset="0"/>
                <a:ea typeface="Georgia" pitchFamily="34" charset="-122"/>
                <a:cs typeface="Georgia" pitchFamily="34" charset="-120"/>
              </a:rPr>
              <a:t>Segunda Asamblea Ordinaria · Ejercicio 2025</a:t>
            </a:r>
            <a:endParaRPr lang="en-US" sz="2200" dirty="0"/>
          </a:p>
        </p:txBody>
      </p:sp>
      <p:sp>
        <p:nvSpPr>
          <p:cNvPr id="14" name="Text 12"/>
          <p:cNvSpPr/>
          <p:nvPr/>
        </p:nvSpPr>
        <p:spPr>
          <a:xfrm>
            <a:off x="457200" y="5029200"/>
            <a:ext cx="2377440" cy="228600"/>
          </a:xfrm>
          <a:prstGeom prst="rect">
            <a:avLst/>
          </a:prstGeom>
          <a:noFill/>
          <a:ln/>
        </p:spPr>
        <p:txBody>
          <a:bodyPr wrap="square" rtlCol="0" anchor="ctr"/>
          <a:lstStyle/>
          <a:p>
            <a:pPr marL="0" indent="0">
              <a:buNone/>
            </a:pPr>
            <a:r>
              <a:rPr lang="en-US" sz="900" b="1" kern="0" spc="300" dirty="0">
                <a:solidFill>
                  <a:srgbClr val="823DBC"/>
                </a:solidFill>
                <a:latin typeface="Helvetica" pitchFamily="34" charset="0"/>
                <a:ea typeface="Helvetica" pitchFamily="34" charset="-122"/>
                <a:cs typeface="Helvetica" pitchFamily="34" charset="-120"/>
              </a:rPr>
              <a:t>EJERCICIO</a:t>
            </a:r>
            <a:endParaRPr lang="en-US" sz="900" dirty="0"/>
          </a:p>
        </p:txBody>
      </p:sp>
      <p:sp>
        <p:nvSpPr>
          <p:cNvPr id="15" name="Text 13"/>
          <p:cNvSpPr/>
          <p:nvPr/>
        </p:nvSpPr>
        <p:spPr>
          <a:xfrm>
            <a:off x="457200" y="5303520"/>
            <a:ext cx="2377440" cy="502920"/>
          </a:xfrm>
          <a:prstGeom prst="rect">
            <a:avLst/>
          </a:prstGeom>
          <a:noFill/>
          <a:ln/>
        </p:spPr>
        <p:txBody>
          <a:bodyPr wrap="square" rtlCol="0" anchor="ctr"/>
          <a:lstStyle/>
          <a:p>
            <a:pPr marL="0" indent="0">
              <a:buNone/>
            </a:pPr>
            <a:r>
              <a:rPr lang="en-US" sz="3600" b="1" dirty="0">
                <a:solidFill>
                  <a:srgbClr val="4D0F96"/>
                </a:solidFill>
                <a:latin typeface="Georgia" pitchFamily="34" charset="0"/>
                <a:ea typeface="Georgia" pitchFamily="34" charset="-122"/>
                <a:cs typeface="Georgia" pitchFamily="34" charset="-120"/>
              </a:rPr>
              <a:t>2025</a:t>
            </a:r>
            <a:endParaRPr lang="en-US" sz="3600" dirty="0"/>
          </a:p>
        </p:txBody>
      </p:sp>
      <p:sp>
        <p:nvSpPr>
          <p:cNvPr id="16" name="Shape 14"/>
          <p:cNvSpPr/>
          <p:nvPr/>
        </p:nvSpPr>
        <p:spPr>
          <a:xfrm>
            <a:off x="457200" y="5852160"/>
            <a:ext cx="1188720" cy="0"/>
          </a:xfrm>
          <a:prstGeom prst="line">
            <a:avLst/>
          </a:prstGeom>
          <a:noFill/>
          <a:ln w="6350">
            <a:solidFill>
              <a:srgbClr val="4D0F96"/>
            </a:solidFill>
            <a:prstDash val="solid"/>
          </a:ln>
        </p:spPr>
      </p:sp>
      <p:sp>
        <p:nvSpPr>
          <p:cNvPr id="17" name="Text 15"/>
          <p:cNvSpPr/>
          <p:nvPr/>
        </p:nvSpPr>
        <p:spPr>
          <a:xfrm>
            <a:off x="457200" y="5943600"/>
            <a:ext cx="237744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Cierre 31·12·2025</a:t>
            </a:r>
            <a:endParaRPr lang="en-US" sz="1100" dirty="0"/>
          </a:p>
        </p:txBody>
      </p:sp>
      <p:sp>
        <p:nvSpPr>
          <p:cNvPr id="18" name="Text 16"/>
          <p:cNvSpPr/>
          <p:nvPr/>
        </p:nvSpPr>
        <p:spPr>
          <a:xfrm>
            <a:off x="3383280" y="5029200"/>
            <a:ext cx="2377440" cy="228600"/>
          </a:xfrm>
          <a:prstGeom prst="rect">
            <a:avLst/>
          </a:prstGeom>
          <a:noFill/>
          <a:ln/>
        </p:spPr>
        <p:txBody>
          <a:bodyPr wrap="square" rtlCol="0" anchor="ctr"/>
          <a:lstStyle/>
          <a:p>
            <a:pPr marL="0" indent="0">
              <a:buNone/>
            </a:pPr>
            <a:r>
              <a:rPr lang="en-US" sz="900" b="1" kern="0" spc="300" dirty="0">
                <a:solidFill>
                  <a:srgbClr val="823DBC"/>
                </a:solidFill>
                <a:latin typeface="Helvetica" pitchFamily="34" charset="0"/>
                <a:ea typeface="Helvetica" pitchFamily="34" charset="-122"/>
                <a:cs typeface="Helvetica" pitchFamily="34" charset="-120"/>
              </a:rPr>
              <a:t>ASAMBLEA</a:t>
            </a:r>
            <a:endParaRPr lang="en-US" sz="900" dirty="0"/>
          </a:p>
        </p:txBody>
      </p:sp>
      <p:sp>
        <p:nvSpPr>
          <p:cNvPr id="19" name="Text 17"/>
          <p:cNvSpPr/>
          <p:nvPr/>
        </p:nvSpPr>
        <p:spPr>
          <a:xfrm>
            <a:off x="3383280" y="5303520"/>
            <a:ext cx="2377440" cy="502920"/>
          </a:xfrm>
          <a:prstGeom prst="rect">
            <a:avLst/>
          </a:prstGeom>
          <a:noFill/>
          <a:ln/>
        </p:spPr>
        <p:txBody>
          <a:bodyPr wrap="square" rtlCol="0" anchor="ctr"/>
          <a:lstStyle/>
          <a:p>
            <a:pPr marL="0" indent="0">
              <a:buNone/>
            </a:pPr>
            <a:r>
              <a:rPr lang="en-US" sz="3600" b="1" dirty="0">
                <a:solidFill>
                  <a:srgbClr val="4D0F96"/>
                </a:solidFill>
                <a:latin typeface="Georgia" pitchFamily="34" charset="0"/>
                <a:ea typeface="Georgia" pitchFamily="34" charset="-122"/>
                <a:cs typeface="Georgia" pitchFamily="34" charset="-120"/>
              </a:rPr>
              <a:t>27·05</a:t>
            </a:r>
            <a:endParaRPr lang="en-US" sz="3600" dirty="0"/>
          </a:p>
        </p:txBody>
      </p:sp>
      <p:sp>
        <p:nvSpPr>
          <p:cNvPr id="20" name="Shape 18"/>
          <p:cNvSpPr/>
          <p:nvPr/>
        </p:nvSpPr>
        <p:spPr>
          <a:xfrm>
            <a:off x="3383280" y="5852160"/>
            <a:ext cx="1188720" cy="0"/>
          </a:xfrm>
          <a:prstGeom prst="line">
            <a:avLst/>
          </a:prstGeom>
          <a:noFill/>
          <a:ln w="6350">
            <a:solidFill>
              <a:srgbClr val="4D0F96"/>
            </a:solidFill>
            <a:prstDash val="solid"/>
          </a:ln>
        </p:spPr>
      </p:sp>
      <p:sp>
        <p:nvSpPr>
          <p:cNvPr id="21" name="Text 19"/>
          <p:cNvSpPr/>
          <p:nvPr/>
        </p:nvSpPr>
        <p:spPr>
          <a:xfrm>
            <a:off x="3383280" y="5943600"/>
            <a:ext cx="237744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Miércoles, 10:00 hrs</a:t>
            </a:r>
            <a:endParaRPr lang="en-US" sz="1100" dirty="0"/>
          </a:p>
        </p:txBody>
      </p:sp>
      <p:sp>
        <p:nvSpPr>
          <p:cNvPr id="22" name="Text 20"/>
          <p:cNvSpPr/>
          <p:nvPr/>
        </p:nvSpPr>
        <p:spPr>
          <a:xfrm>
            <a:off x="6309360" y="5029200"/>
            <a:ext cx="2377440" cy="228600"/>
          </a:xfrm>
          <a:prstGeom prst="rect">
            <a:avLst/>
          </a:prstGeom>
          <a:noFill/>
          <a:ln/>
        </p:spPr>
        <p:txBody>
          <a:bodyPr wrap="square" rtlCol="0" anchor="ctr"/>
          <a:lstStyle/>
          <a:p>
            <a:pPr marL="0" indent="0">
              <a:buNone/>
            </a:pPr>
            <a:r>
              <a:rPr lang="en-US" sz="900" b="1" kern="0" spc="300" dirty="0">
                <a:solidFill>
                  <a:srgbClr val="823DBC"/>
                </a:solidFill>
                <a:latin typeface="Helvetica" pitchFamily="34" charset="0"/>
                <a:ea typeface="Helvetica" pitchFamily="34" charset="-122"/>
                <a:cs typeface="Helvetica" pitchFamily="34" charset="-120"/>
              </a:rPr>
              <a:t>MATERIAS</a:t>
            </a:r>
            <a:endParaRPr lang="en-US" sz="900" dirty="0"/>
          </a:p>
        </p:txBody>
      </p:sp>
      <p:sp>
        <p:nvSpPr>
          <p:cNvPr id="23" name="Text 21"/>
          <p:cNvSpPr/>
          <p:nvPr/>
        </p:nvSpPr>
        <p:spPr>
          <a:xfrm>
            <a:off x="6309360" y="5303520"/>
            <a:ext cx="2377440" cy="502920"/>
          </a:xfrm>
          <a:prstGeom prst="rect">
            <a:avLst/>
          </a:prstGeom>
          <a:noFill/>
          <a:ln/>
        </p:spPr>
        <p:txBody>
          <a:bodyPr wrap="square" rtlCol="0" anchor="ctr"/>
          <a:lstStyle/>
          <a:p>
            <a:pPr marL="0" indent="0">
              <a:buNone/>
            </a:pPr>
            <a:r>
              <a:rPr lang="en-US" sz="3600" b="1" dirty="0">
                <a:solidFill>
                  <a:srgbClr val="4D0F96"/>
                </a:solidFill>
                <a:latin typeface="Georgia" pitchFamily="34" charset="0"/>
                <a:ea typeface="Georgia" pitchFamily="34" charset="-122"/>
                <a:cs typeface="Georgia" pitchFamily="34" charset="-120"/>
              </a:rPr>
              <a:t>05</a:t>
            </a:r>
            <a:endParaRPr lang="en-US" sz="3600" dirty="0"/>
          </a:p>
        </p:txBody>
      </p:sp>
      <p:sp>
        <p:nvSpPr>
          <p:cNvPr id="24" name="Shape 22"/>
          <p:cNvSpPr/>
          <p:nvPr/>
        </p:nvSpPr>
        <p:spPr>
          <a:xfrm>
            <a:off x="6309360" y="5852160"/>
            <a:ext cx="1188720" cy="0"/>
          </a:xfrm>
          <a:prstGeom prst="line">
            <a:avLst/>
          </a:prstGeom>
          <a:noFill/>
          <a:ln w="6350">
            <a:solidFill>
              <a:srgbClr val="4D0F96"/>
            </a:solidFill>
            <a:prstDash val="solid"/>
          </a:ln>
        </p:spPr>
      </p:sp>
      <p:sp>
        <p:nvSpPr>
          <p:cNvPr id="25" name="Text 23"/>
          <p:cNvSpPr/>
          <p:nvPr/>
        </p:nvSpPr>
        <p:spPr>
          <a:xfrm>
            <a:off x="6309360" y="5943600"/>
            <a:ext cx="237744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Art. 32 RI</a:t>
            </a:r>
            <a:endParaRPr lang="en-US" sz="1100" dirty="0"/>
          </a:p>
        </p:txBody>
      </p:sp>
      <p:sp>
        <p:nvSpPr>
          <p:cNvPr id="26" name="Text 24"/>
          <p:cNvSpPr/>
          <p:nvPr/>
        </p:nvSpPr>
        <p:spPr>
          <a:xfrm>
            <a:off x="9235440" y="5029200"/>
            <a:ext cx="2377440" cy="228600"/>
          </a:xfrm>
          <a:prstGeom prst="rect">
            <a:avLst/>
          </a:prstGeom>
          <a:noFill/>
          <a:ln/>
        </p:spPr>
        <p:txBody>
          <a:bodyPr wrap="square" rtlCol="0" anchor="ctr"/>
          <a:lstStyle/>
          <a:p>
            <a:pPr marL="0" indent="0">
              <a:buNone/>
            </a:pPr>
            <a:r>
              <a:rPr lang="en-US" sz="900" b="1" kern="0" spc="300" dirty="0">
                <a:solidFill>
                  <a:srgbClr val="823DBC"/>
                </a:solidFill>
                <a:latin typeface="Helvetica" pitchFamily="34" charset="0"/>
                <a:ea typeface="Helvetica" pitchFamily="34" charset="-122"/>
                <a:cs typeface="Helvetica" pitchFamily="34" charset="-120"/>
              </a:rPr>
              <a:t>OBSERVADOR</a:t>
            </a:r>
            <a:endParaRPr lang="en-US" sz="900" dirty="0"/>
          </a:p>
        </p:txBody>
      </p:sp>
      <p:sp>
        <p:nvSpPr>
          <p:cNvPr id="27" name="Text 25"/>
          <p:cNvSpPr/>
          <p:nvPr/>
        </p:nvSpPr>
        <p:spPr>
          <a:xfrm>
            <a:off x="9235440" y="5303520"/>
            <a:ext cx="2377440" cy="502920"/>
          </a:xfrm>
          <a:prstGeom prst="rect">
            <a:avLst/>
          </a:prstGeom>
          <a:noFill/>
          <a:ln/>
        </p:spPr>
        <p:txBody>
          <a:bodyPr wrap="square" rtlCol="0" anchor="ctr"/>
          <a:lstStyle/>
          <a:p>
            <a:pPr marL="0" indent="0">
              <a:buNone/>
            </a:pPr>
            <a:r>
              <a:rPr lang="en-US" sz="3000" b="1" dirty="0">
                <a:solidFill>
                  <a:srgbClr val="4D0F96"/>
                </a:solidFill>
                <a:latin typeface="Georgia" pitchFamily="34" charset="0"/>
                <a:ea typeface="Georgia" pitchFamily="34" charset="-122"/>
                <a:cs typeface="Georgia" pitchFamily="34" charset="-120"/>
              </a:rPr>
              <a:t>CORFO</a:t>
            </a:r>
            <a:endParaRPr lang="en-US" sz="3000" dirty="0"/>
          </a:p>
        </p:txBody>
      </p:sp>
      <p:sp>
        <p:nvSpPr>
          <p:cNvPr id="28" name="Shape 26"/>
          <p:cNvSpPr/>
          <p:nvPr/>
        </p:nvSpPr>
        <p:spPr>
          <a:xfrm>
            <a:off x="9235440" y="5852160"/>
            <a:ext cx="1188720" cy="0"/>
          </a:xfrm>
          <a:prstGeom prst="line">
            <a:avLst/>
          </a:prstGeom>
          <a:noFill/>
          <a:ln w="6350">
            <a:solidFill>
              <a:srgbClr val="4D0F96"/>
            </a:solidFill>
            <a:prstDash val="solid"/>
          </a:ln>
        </p:spPr>
      </p:sp>
      <p:sp>
        <p:nvSpPr>
          <p:cNvPr id="29" name="Text 27"/>
          <p:cNvSpPr/>
          <p:nvPr/>
        </p:nvSpPr>
        <p:spPr>
          <a:xfrm>
            <a:off x="9235440" y="5943600"/>
            <a:ext cx="237744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Sin voz ni voto</a:t>
            </a:r>
            <a:endParaRPr lang="en-US" sz="1100" dirty="0"/>
          </a:p>
        </p:txBody>
      </p:sp>
      <p:sp>
        <p:nvSpPr>
          <p:cNvPr id="30" name="Text 28"/>
          <p:cNvSpPr/>
          <p:nvPr/>
        </p:nvSpPr>
        <p:spPr>
          <a:xfrm>
            <a:off x="457200" y="6583680"/>
            <a:ext cx="10972800" cy="182880"/>
          </a:xfrm>
          <a:prstGeom prst="rect">
            <a:avLst/>
          </a:prstGeom>
          <a:noFill/>
          <a:ln/>
        </p:spPr>
        <p:txBody>
          <a:bodyPr wrap="square" rtlCol="0" anchor="ctr"/>
          <a:lstStyle/>
          <a:p>
            <a:pPr marL="0" indent="0" algn="l">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pic>
        <p:nvPicPr>
          <p:cNvPr id="31" name="Cehta logo"/>
          <p:cNvPicPr>
            <a:picLocks noChangeAspect="1"/>
          </p:cNvPicPr>
          <p:nvPr/>
        </p:nvPicPr>
        <p:blipFill>
          <a:blip r:embed="rId3"/>
          <a:stretch>
            <a:fillRect/>
          </a:stretch>
        </p:blipFill>
        <p:spPr>
          <a:xfrm>
            <a:off x="457200" y="329184"/>
            <a:ext cx="1305163" cy="548640"/>
          </a:xfrm>
          <a:prstGeom prst="rect">
            <a:avLst/>
          </a:prstGeom>
        </p:spPr>
      </p:pic>
      <p:pic>
        <p:nvPicPr>
          <p:cNvPr id="32" name="CORFO logo"/>
          <p:cNvPicPr>
            <a:picLocks noChangeAspect="1"/>
          </p:cNvPicPr>
          <p:nvPr/>
        </p:nvPicPr>
        <p:blipFill>
          <a:blip r:embed="rId4"/>
          <a:stretch>
            <a:fillRect/>
          </a:stretch>
        </p:blipFill>
        <p:spPr>
          <a:xfrm>
            <a:off x="10779760" y="329184"/>
            <a:ext cx="650240" cy="365760"/>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27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02 — 18</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MEETING AGENDA · Materias a tratar</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Materias a tratar</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Shape 7"/>
          <p:cNvSpPr/>
          <p:nvPr/>
        </p:nvSpPr>
        <p:spPr>
          <a:xfrm>
            <a:off x="457200" y="2011680"/>
            <a:ext cx="11274552" cy="0"/>
          </a:xfrm>
          <a:prstGeom prst="line">
            <a:avLst/>
          </a:prstGeom>
          <a:noFill/>
          <a:ln w="6350">
            <a:solidFill>
              <a:srgbClr val="D2D2D7"/>
            </a:solidFill>
            <a:prstDash val="solid"/>
          </a:ln>
        </p:spPr>
      </p:sp>
      <p:sp>
        <p:nvSpPr>
          <p:cNvPr id="10" name="Text 8"/>
          <p:cNvSpPr/>
          <p:nvPr/>
        </p:nvSpPr>
        <p:spPr>
          <a:xfrm>
            <a:off x="548640" y="2103120"/>
            <a:ext cx="640080" cy="411480"/>
          </a:xfrm>
          <a:prstGeom prst="rect">
            <a:avLst/>
          </a:prstGeom>
          <a:noFill/>
          <a:ln/>
        </p:spPr>
        <p:txBody>
          <a:bodyPr wrap="square" rtlCol="0" anchor="ctr"/>
          <a:lstStyle/>
          <a:p>
            <a:pPr marL="0" indent="0">
              <a:buNone/>
            </a:pPr>
            <a:r>
              <a:rPr lang="en-US" sz="1800" dirty="0">
                <a:solidFill>
                  <a:srgbClr val="86868B"/>
                </a:solidFill>
                <a:latin typeface="Georgia" pitchFamily="34" charset="0"/>
                <a:ea typeface="Georgia" pitchFamily="34" charset="-122"/>
                <a:cs typeface="Georgia" pitchFamily="34" charset="-120"/>
              </a:rPr>
              <a:t>01</a:t>
            </a:r>
            <a:endParaRPr lang="en-US" sz="1800" dirty="0"/>
          </a:p>
        </p:txBody>
      </p:sp>
      <p:sp>
        <p:nvSpPr>
          <p:cNvPr id="11" name="Text 9"/>
          <p:cNvSpPr/>
          <p:nvPr/>
        </p:nvSpPr>
        <p:spPr>
          <a:xfrm>
            <a:off x="1280160" y="2057400"/>
            <a:ext cx="6400800" cy="320040"/>
          </a:xfrm>
          <a:prstGeom prst="rect">
            <a:avLst/>
          </a:prstGeom>
          <a:noFill/>
          <a:ln/>
        </p:spPr>
        <p:txBody>
          <a:bodyPr wrap="square" rtlCol="0" anchor="ctr"/>
          <a:lstStyle/>
          <a:p>
            <a:pPr marL="0" indent="0">
              <a:buNone/>
            </a:pPr>
            <a:r>
              <a:rPr lang="en-US" sz="1500" b="1" dirty="0">
                <a:solidFill>
                  <a:srgbClr val="1D1D1F"/>
                </a:solidFill>
                <a:latin typeface="Helvetica" pitchFamily="34" charset="0"/>
                <a:ea typeface="Helvetica" pitchFamily="34" charset="-122"/>
                <a:cs typeface="Helvetica" pitchFamily="34" charset="-120"/>
              </a:rPr>
              <a:t>Apertura y verificación de quórum</a:t>
            </a:r>
            <a:endParaRPr lang="en-US" sz="1500" dirty="0"/>
          </a:p>
        </p:txBody>
      </p:sp>
      <p:sp>
        <p:nvSpPr>
          <p:cNvPr id="12" name="Text 10"/>
          <p:cNvSpPr/>
          <p:nvPr/>
        </p:nvSpPr>
        <p:spPr>
          <a:xfrm>
            <a:off x="1280160" y="2304288"/>
            <a:ext cx="640080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Art. 35 RI</a:t>
            </a:r>
            <a:endParaRPr lang="en-US" sz="1100" dirty="0"/>
          </a:p>
        </p:txBody>
      </p:sp>
      <p:sp>
        <p:nvSpPr>
          <p:cNvPr id="13" name="Text 11"/>
          <p:cNvSpPr/>
          <p:nvPr/>
        </p:nvSpPr>
        <p:spPr>
          <a:xfrm>
            <a:off x="10058400" y="2148840"/>
            <a:ext cx="1645920" cy="274320"/>
          </a:xfrm>
          <a:prstGeom prst="rect">
            <a:avLst/>
          </a:prstGeom>
          <a:noFill/>
          <a:ln/>
        </p:spPr>
        <p:txBody>
          <a:bodyPr wrap="square" rtlCol="0" anchor="ctr"/>
          <a:lstStyle/>
          <a:p>
            <a:pPr marL="0" indent="0" algn="r">
              <a:buNone/>
            </a:pPr>
            <a:r>
              <a:rPr lang="en-US" sz="1100" b="1" kern="0" spc="200" dirty="0">
                <a:solidFill>
                  <a:srgbClr val="823DBC"/>
                </a:solidFill>
                <a:latin typeface="Helvetica" pitchFamily="34" charset="0"/>
                <a:ea typeface="Helvetica" pitchFamily="34" charset="-122"/>
                <a:cs typeface="Helvetica" pitchFamily="34" charset="-120"/>
              </a:rPr>
              <a:t>5 min</a:t>
            </a:r>
            <a:endParaRPr lang="en-US" sz="1100" dirty="0"/>
          </a:p>
        </p:txBody>
      </p:sp>
      <p:sp>
        <p:nvSpPr>
          <p:cNvPr id="14" name="Shape 12"/>
          <p:cNvSpPr/>
          <p:nvPr/>
        </p:nvSpPr>
        <p:spPr>
          <a:xfrm>
            <a:off x="457200" y="2578608"/>
            <a:ext cx="11274552" cy="0"/>
          </a:xfrm>
          <a:prstGeom prst="line">
            <a:avLst/>
          </a:prstGeom>
          <a:noFill/>
          <a:ln w="6350">
            <a:solidFill>
              <a:srgbClr val="D2D2D7"/>
            </a:solidFill>
            <a:prstDash val="solid"/>
          </a:ln>
        </p:spPr>
      </p:sp>
      <p:sp>
        <p:nvSpPr>
          <p:cNvPr id="15" name="Text 13"/>
          <p:cNvSpPr/>
          <p:nvPr/>
        </p:nvSpPr>
        <p:spPr>
          <a:xfrm>
            <a:off x="548640" y="2670048"/>
            <a:ext cx="640080" cy="411480"/>
          </a:xfrm>
          <a:prstGeom prst="rect">
            <a:avLst/>
          </a:prstGeom>
          <a:noFill/>
          <a:ln/>
        </p:spPr>
        <p:txBody>
          <a:bodyPr wrap="square" rtlCol="0" anchor="ctr"/>
          <a:lstStyle/>
          <a:p>
            <a:pPr marL="0" indent="0">
              <a:buNone/>
            </a:pPr>
            <a:r>
              <a:rPr lang="en-US" sz="1800" dirty="0">
                <a:solidFill>
                  <a:srgbClr val="86868B"/>
                </a:solidFill>
                <a:latin typeface="Georgia" pitchFamily="34" charset="0"/>
                <a:ea typeface="Georgia" pitchFamily="34" charset="-122"/>
                <a:cs typeface="Georgia" pitchFamily="34" charset="-120"/>
              </a:rPr>
              <a:t>02</a:t>
            </a:r>
            <a:endParaRPr lang="en-US" sz="1800" dirty="0"/>
          </a:p>
        </p:txBody>
      </p:sp>
      <p:sp>
        <p:nvSpPr>
          <p:cNvPr id="16" name="Text 14"/>
          <p:cNvSpPr/>
          <p:nvPr/>
        </p:nvSpPr>
        <p:spPr>
          <a:xfrm>
            <a:off x="1280160" y="2624328"/>
            <a:ext cx="6400800" cy="320040"/>
          </a:xfrm>
          <a:prstGeom prst="rect">
            <a:avLst/>
          </a:prstGeom>
          <a:noFill/>
          <a:ln/>
        </p:spPr>
        <p:txBody>
          <a:bodyPr wrap="square" rtlCol="0" anchor="ctr"/>
          <a:lstStyle/>
          <a:p>
            <a:pPr marL="0" indent="0">
              <a:buNone/>
            </a:pPr>
            <a:r>
              <a:rPr lang="en-US" sz="1500" b="1" dirty="0">
                <a:solidFill>
                  <a:srgbClr val="1D1D1F"/>
                </a:solidFill>
                <a:latin typeface="Helvetica" pitchFamily="34" charset="0"/>
                <a:ea typeface="Helvetica" pitchFamily="34" charset="-122"/>
                <a:cs typeface="Helvetica" pitchFamily="34" charset="-120"/>
              </a:rPr>
              <a:t>Avances 2025: repaso estratégico</a:t>
            </a:r>
            <a:endParaRPr lang="en-US" sz="1500" dirty="0"/>
          </a:p>
        </p:txBody>
      </p:sp>
      <p:sp>
        <p:nvSpPr>
          <p:cNvPr id="17" name="Text 15"/>
          <p:cNvSpPr/>
          <p:nvPr/>
        </p:nvSpPr>
        <p:spPr>
          <a:xfrm>
            <a:off x="1280160" y="2871216"/>
            <a:ext cx="640080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3 pilares ejecutados</a:t>
            </a:r>
            <a:endParaRPr lang="en-US" sz="1100" dirty="0"/>
          </a:p>
        </p:txBody>
      </p:sp>
      <p:sp>
        <p:nvSpPr>
          <p:cNvPr id="18" name="Text 16"/>
          <p:cNvSpPr/>
          <p:nvPr/>
        </p:nvSpPr>
        <p:spPr>
          <a:xfrm>
            <a:off x="10058400" y="2715768"/>
            <a:ext cx="1645920" cy="274320"/>
          </a:xfrm>
          <a:prstGeom prst="rect">
            <a:avLst/>
          </a:prstGeom>
          <a:noFill/>
          <a:ln/>
        </p:spPr>
        <p:txBody>
          <a:bodyPr wrap="square" rtlCol="0" anchor="ctr"/>
          <a:lstStyle/>
          <a:p>
            <a:pPr marL="0" indent="0" algn="r">
              <a:buNone/>
            </a:pPr>
            <a:r>
              <a:rPr lang="en-US" sz="1100" b="1" kern="0" spc="200" dirty="0">
                <a:solidFill>
                  <a:srgbClr val="823DBC"/>
                </a:solidFill>
                <a:latin typeface="Helvetica" pitchFamily="34" charset="0"/>
                <a:ea typeface="Helvetica" pitchFamily="34" charset="-122"/>
                <a:cs typeface="Helvetica" pitchFamily="34" charset="-120"/>
              </a:rPr>
              <a:t>8 min</a:t>
            </a:r>
            <a:endParaRPr lang="en-US" sz="1100" dirty="0"/>
          </a:p>
        </p:txBody>
      </p:sp>
      <p:sp>
        <p:nvSpPr>
          <p:cNvPr id="19" name="Shape 17"/>
          <p:cNvSpPr/>
          <p:nvPr/>
        </p:nvSpPr>
        <p:spPr>
          <a:xfrm>
            <a:off x="457200" y="3145536"/>
            <a:ext cx="11274552" cy="0"/>
          </a:xfrm>
          <a:prstGeom prst="line">
            <a:avLst/>
          </a:prstGeom>
          <a:noFill/>
          <a:ln w="6350">
            <a:solidFill>
              <a:srgbClr val="D2D2D7"/>
            </a:solidFill>
            <a:prstDash val="solid"/>
          </a:ln>
        </p:spPr>
      </p:sp>
      <p:sp>
        <p:nvSpPr>
          <p:cNvPr id="20" name="Text 18"/>
          <p:cNvSpPr/>
          <p:nvPr/>
        </p:nvSpPr>
        <p:spPr>
          <a:xfrm>
            <a:off x="548640" y="3236976"/>
            <a:ext cx="640080" cy="411480"/>
          </a:xfrm>
          <a:prstGeom prst="rect">
            <a:avLst/>
          </a:prstGeom>
          <a:noFill/>
          <a:ln/>
        </p:spPr>
        <p:txBody>
          <a:bodyPr wrap="square" rtlCol="0" anchor="ctr"/>
          <a:lstStyle/>
          <a:p>
            <a:pPr marL="0" indent="0">
              <a:buNone/>
            </a:pPr>
            <a:r>
              <a:rPr lang="en-US" sz="1800" dirty="0">
                <a:solidFill>
                  <a:srgbClr val="86868B"/>
                </a:solidFill>
                <a:latin typeface="Georgia" pitchFamily="34" charset="0"/>
                <a:ea typeface="Georgia" pitchFamily="34" charset="-122"/>
                <a:cs typeface="Georgia" pitchFamily="34" charset="-120"/>
              </a:rPr>
              <a:t>03</a:t>
            </a:r>
            <a:endParaRPr lang="en-US" sz="1800" dirty="0"/>
          </a:p>
        </p:txBody>
      </p:sp>
      <p:sp>
        <p:nvSpPr>
          <p:cNvPr id="21" name="Text 19"/>
          <p:cNvSpPr/>
          <p:nvPr/>
        </p:nvSpPr>
        <p:spPr>
          <a:xfrm>
            <a:off x="1280160" y="3191256"/>
            <a:ext cx="6400800" cy="320040"/>
          </a:xfrm>
          <a:prstGeom prst="rect">
            <a:avLst/>
          </a:prstGeom>
          <a:noFill/>
          <a:ln/>
        </p:spPr>
        <p:txBody>
          <a:bodyPr wrap="square" rtlCol="0" anchor="ctr"/>
          <a:lstStyle/>
          <a:p>
            <a:pPr marL="0" indent="0">
              <a:buNone/>
            </a:pPr>
            <a:r>
              <a:rPr lang="en-US" sz="1500" b="1" dirty="0">
                <a:solidFill>
                  <a:srgbClr val="1D1D1F"/>
                </a:solidFill>
                <a:latin typeface="Helvetica" pitchFamily="34" charset="0"/>
                <a:ea typeface="Helvetica" pitchFamily="34" charset="-122"/>
                <a:cs typeface="Helvetica" pitchFamily="34" charset="-120"/>
              </a:rPr>
              <a:t>Informe de gestión y estados financieros</a:t>
            </a:r>
            <a:endParaRPr lang="en-US" sz="1500" dirty="0"/>
          </a:p>
        </p:txBody>
      </p:sp>
      <p:sp>
        <p:nvSpPr>
          <p:cNvPr id="22" name="Text 20"/>
          <p:cNvSpPr/>
          <p:nvPr/>
        </p:nvSpPr>
        <p:spPr>
          <a:xfrm>
            <a:off x="1280160" y="3438144"/>
            <a:ext cx="640080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Art. 32 (1) RI</a:t>
            </a:r>
            <a:endParaRPr lang="en-US" sz="1100" dirty="0"/>
          </a:p>
        </p:txBody>
      </p:sp>
      <p:sp>
        <p:nvSpPr>
          <p:cNvPr id="23" name="Text 21"/>
          <p:cNvSpPr/>
          <p:nvPr/>
        </p:nvSpPr>
        <p:spPr>
          <a:xfrm>
            <a:off x="10058400" y="3282696"/>
            <a:ext cx="1645920" cy="274320"/>
          </a:xfrm>
          <a:prstGeom prst="rect">
            <a:avLst/>
          </a:prstGeom>
          <a:noFill/>
          <a:ln/>
        </p:spPr>
        <p:txBody>
          <a:bodyPr wrap="square" rtlCol="0" anchor="ctr"/>
          <a:lstStyle/>
          <a:p>
            <a:pPr marL="0" indent="0" algn="r">
              <a:buNone/>
            </a:pPr>
            <a:r>
              <a:rPr lang="en-US" sz="1100" b="1" kern="0" spc="200" dirty="0">
                <a:solidFill>
                  <a:srgbClr val="823DBC"/>
                </a:solidFill>
                <a:latin typeface="Helvetica" pitchFamily="34" charset="0"/>
                <a:ea typeface="Helvetica" pitchFamily="34" charset="-122"/>
                <a:cs typeface="Helvetica" pitchFamily="34" charset="-120"/>
              </a:rPr>
              <a:t>6 min</a:t>
            </a:r>
            <a:endParaRPr lang="en-US" sz="1100" dirty="0"/>
          </a:p>
        </p:txBody>
      </p:sp>
      <p:sp>
        <p:nvSpPr>
          <p:cNvPr id="24" name="Shape 22"/>
          <p:cNvSpPr/>
          <p:nvPr/>
        </p:nvSpPr>
        <p:spPr>
          <a:xfrm>
            <a:off x="457200" y="3712464"/>
            <a:ext cx="11274552" cy="0"/>
          </a:xfrm>
          <a:prstGeom prst="line">
            <a:avLst/>
          </a:prstGeom>
          <a:noFill/>
          <a:ln w="6350">
            <a:solidFill>
              <a:srgbClr val="D2D2D7"/>
            </a:solidFill>
            <a:prstDash val="solid"/>
          </a:ln>
        </p:spPr>
      </p:sp>
      <p:sp>
        <p:nvSpPr>
          <p:cNvPr id="25" name="Text 23"/>
          <p:cNvSpPr/>
          <p:nvPr/>
        </p:nvSpPr>
        <p:spPr>
          <a:xfrm>
            <a:off x="548640" y="3803904"/>
            <a:ext cx="640080" cy="411480"/>
          </a:xfrm>
          <a:prstGeom prst="rect">
            <a:avLst/>
          </a:prstGeom>
          <a:noFill/>
          <a:ln/>
        </p:spPr>
        <p:txBody>
          <a:bodyPr wrap="square" rtlCol="0" anchor="ctr"/>
          <a:lstStyle/>
          <a:p>
            <a:pPr marL="0" indent="0">
              <a:buNone/>
            </a:pPr>
            <a:r>
              <a:rPr lang="en-US" sz="1800" dirty="0">
                <a:solidFill>
                  <a:srgbClr val="86868B"/>
                </a:solidFill>
                <a:latin typeface="Georgia" pitchFamily="34" charset="0"/>
                <a:ea typeface="Georgia" pitchFamily="34" charset="-122"/>
                <a:cs typeface="Georgia" pitchFamily="34" charset="-120"/>
              </a:rPr>
              <a:t>04</a:t>
            </a:r>
            <a:endParaRPr lang="en-US" sz="1800" dirty="0"/>
          </a:p>
        </p:txBody>
      </p:sp>
      <p:sp>
        <p:nvSpPr>
          <p:cNvPr id="26" name="Text 24"/>
          <p:cNvSpPr/>
          <p:nvPr/>
        </p:nvSpPr>
        <p:spPr>
          <a:xfrm>
            <a:off x="1280160" y="3758184"/>
            <a:ext cx="6400800" cy="320040"/>
          </a:xfrm>
          <a:prstGeom prst="rect">
            <a:avLst/>
          </a:prstGeom>
          <a:noFill/>
          <a:ln/>
        </p:spPr>
        <p:txBody>
          <a:bodyPr wrap="square" rtlCol="0" anchor="ctr"/>
          <a:lstStyle/>
          <a:p>
            <a:pPr marL="0" indent="0">
              <a:buNone/>
            </a:pPr>
            <a:r>
              <a:rPr lang="en-US" sz="1500" b="1" dirty="0">
                <a:solidFill>
                  <a:srgbClr val="1D1D1F"/>
                </a:solidFill>
                <a:latin typeface="Helvetica" pitchFamily="34" charset="0"/>
                <a:ea typeface="Helvetica" pitchFamily="34" charset="-122"/>
                <a:cs typeface="Helvetica" pitchFamily="34" charset="-120"/>
              </a:rPr>
              <a:t>Reporte del Comité de Vigilancia</a:t>
            </a:r>
            <a:endParaRPr lang="en-US" sz="1500" dirty="0"/>
          </a:p>
        </p:txBody>
      </p:sp>
      <p:sp>
        <p:nvSpPr>
          <p:cNvPr id="27" name="Text 25"/>
          <p:cNvSpPr/>
          <p:nvPr/>
        </p:nvSpPr>
        <p:spPr>
          <a:xfrm>
            <a:off x="1280160" y="4005072"/>
            <a:ext cx="640080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Art. 45 RI</a:t>
            </a:r>
            <a:endParaRPr lang="en-US" sz="1100" dirty="0"/>
          </a:p>
        </p:txBody>
      </p:sp>
      <p:sp>
        <p:nvSpPr>
          <p:cNvPr id="28" name="Text 26"/>
          <p:cNvSpPr/>
          <p:nvPr/>
        </p:nvSpPr>
        <p:spPr>
          <a:xfrm>
            <a:off x="10058400" y="3849624"/>
            <a:ext cx="1645920" cy="274320"/>
          </a:xfrm>
          <a:prstGeom prst="rect">
            <a:avLst/>
          </a:prstGeom>
          <a:noFill/>
          <a:ln/>
        </p:spPr>
        <p:txBody>
          <a:bodyPr wrap="square" rtlCol="0" anchor="ctr"/>
          <a:lstStyle/>
          <a:p>
            <a:pPr marL="0" indent="0" algn="r">
              <a:buNone/>
            </a:pPr>
            <a:r>
              <a:rPr lang="en-US" sz="1100" b="1" kern="0" spc="200" dirty="0">
                <a:solidFill>
                  <a:srgbClr val="823DBC"/>
                </a:solidFill>
                <a:latin typeface="Helvetica" pitchFamily="34" charset="0"/>
                <a:ea typeface="Helvetica" pitchFamily="34" charset="-122"/>
                <a:cs typeface="Helvetica" pitchFamily="34" charset="-120"/>
              </a:rPr>
              <a:t>3 min</a:t>
            </a:r>
            <a:endParaRPr lang="en-US" sz="1100" dirty="0"/>
          </a:p>
        </p:txBody>
      </p:sp>
      <p:sp>
        <p:nvSpPr>
          <p:cNvPr id="29" name="Shape 27"/>
          <p:cNvSpPr/>
          <p:nvPr/>
        </p:nvSpPr>
        <p:spPr>
          <a:xfrm>
            <a:off x="457200" y="4279392"/>
            <a:ext cx="11274552" cy="0"/>
          </a:xfrm>
          <a:prstGeom prst="line">
            <a:avLst/>
          </a:prstGeom>
          <a:noFill/>
          <a:ln w="6350">
            <a:solidFill>
              <a:srgbClr val="D2D2D7"/>
            </a:solidFill>
            <a:prstDash val="solid"/>
          </a:ln>
        </p:spPr>
      </p:sp>
      <p:sp>
        <p:nvSpPr>
          <p:cNvPr id="30" name="Text 28"/>
          <p:cNvSpPr/>
          <p:nvPr/>
        </p:nvSpPr>
        <p:spPr>
          <a:xfrm>
            <a:off x="548640" y="4370832"/>
            <a:ext cx="640080" cy="411480"/>
          </a:xfrm>
          <a:prstGeom prst="rect">
            <a:avLst/>
          </a:prstGeom>
          <a:noFill/>
          <a:ln/>
        </p:spPr>
        <p:txBody>
          <a:bodyPr wrap="square" rtlCol="0" anchor="ctr"/>
          <a:lstStyle/>
          <a:p>
            <a:pPr marL="0" indent="0">
              <a:buNone/>
            </a:pPr>
            <a:r>
              <a:rPr lang="en-US" sz="1800" dirty="0">
                <a:solidFill>
                  <a:srgbClr val="86868B"/>
                </a:solidFill>
                <a:latin typeface="Georgia" pitchFamily="34" charset="0"/>
                <a:ea typeface="Georgia" pitchFamily="34" charset="-122"/>
                <a:cs typeface="Georgia" pitchFamily="34" charset="-120"/>
              </a:rPr>
              <a:t>05</a:t>
            </a:r>
            <a:endParaRPr lang="en-US" sz="1800" dirty="0"/>
          </a:p>
        </p:txBody>
      </p:sp>
      <p:sp>
        <p:nvSpPr>
          <p:cNvPr id="31" name="Text 29"/>
          <p:cNvSpPr/>
          <p:nvPr/>
        </p:nvSpPr>
        <p:spPr>
          <a:xfrm>
            <a:off x="1280160" y="4325112"/>
            <a:ext cx="6400800" cy="320040"/>
          </a:xfrm>
          <a:prstGeom prst="rect">
            <a:avLst/>
          </a:prstGeom>
          <a:noFill/>
          <a:ln/>
        </p:spPr>
        <p:txBody>
          <a:bodyPr wrap="square" rtlCol="0" anchor="ctr"/>
          <a:lstStyle/>
          <a:p>
            <a:pPr marL="0" indent="0">
              <a:buNone/>
            </a:pPr>
            <a:r>
              <a:rPr lang="en-US" sz="1500" b="1" dirty="0">
                <a:solidFill>
                  <a:srgbClr val="1D1D1F"/>
                </a:solidFill>
                <a:latin typeface="Helvetica" pitchFamily="34" charset="0"/>
                <a:ea typeface="Helvetica" pitchFamily="34" charset="-122"/>
                <a:cs typeface="Helvetica" pitchFamily="34" charset="-120"/>
              </a:rPr>
              <a:t>Designación de auditores externos 2026</a:t>
            </a:r>
            <a:endParaRPr lang="en-US" sz="1500" dirty="0"/>
          </a:p>
        </p:txBody>
      </p:sp>
      <p:sp>
        <p:nvSpPr>
          <p:cNvPr id="32" name="Text 30"/>
          <p:cNvSpPr/>
          <p:nvPr/>
        </p:nvSpPr>
        <p:spPr>
          <a:xfrm>
            <a:off x="1280160" y="4572000"/>
            <a:ext cx="640080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Art. 32 (5) RI</a:t>
            </a:r>
            <a:endParaRPr lang="en-US" sz="1100" dirty="0"/>
          </a:p>
        </p:txBody>
      </p:sp>
      <p:sp>
        <p:nvSpPr>
          <p:cNvPr id="33" name="Text 31"/>
          <p:cNvSpPr/>
          <p:nvPr/>
        </p:nvSpPr>
        <p:spPr>
          <a:xfrm>
            <a:off x="10058400" y="4416552"/>
            <a:ext cx="1645920" cy="274320"/>
          </a:xfrm>
          <a:prstGeom prst="rect">
            <a:avLst/>
          </a:prstGeom>
          <a:noFill/>
          <a:ln/>
        </p:spPr>
        <p:txBody>
          <a:bodyPr wrap="square" rtlCol="0" anchor="ctr"/>
          <a:lstStyle/>
          <a:p>
            <a:pPr marL="0" indent="0" algn="r">
              <a:buNone/>
            </a:pPr>
            <a:r>
              <a:rPr lang="en-US" sz="1100" b="1" kern="0" spc="200" dirty="0">
                <a:solidFill>
                  <a:srgbClr val="823DBC"/>
                </a:solidFill>
                <a:latin typeface="Helvetica" pitchFamily="34" charset="0"/>
                <a:ea typeface="Helvetica" pitchFamily="34" charset="-122"/>
                <a:cs typeface="Helvetica" pitchFamily="34" charset="-120"/>
              </a:rPr>
              <a:t>4 min</a:t>
            </a:r>
            <a:endParaRPr lang="en-US" sz="1100" dirty="0"/>
          </a:p>
        </p:txBody>
      </p:sp>
      <p:sp>
        <p:nvSpPr>
          <p:cNvPr id="34" name="Shape 32"/>
          <p:cNvSpPr/>
          <p:nvPr/>
        </p:nvSpPr>
        <p:spPr>
          <a:xfrm>
            <a:off x="457200" y="4846320"/>
            <a:ext cx="11274552" cy="0"/>
          </a:xfrm>
          <a:prstGeom prst="line">
            <a:avLst/>
          </a:prstGeom>
          <a:noFill/>
          <a:ln w="6350">
            <a:solidFill>
              <a:srgbClr val="D2D2D7"/>
            </a:solidFill>
            <a:prstDash val="solid"/>
          </a:ln>
        </p:spPr>
      </p:sp>
      <p:sp>
        <p:nvSpPr>
          <p:cNvPr id="35" name="Text 33"/>
          <p:cNvSpPr/>
          <p:nvPr/>
        </p:nvSpPr>
        <p:spPr>
          <a:xfrm>
            <a:off x="548640" y="4937760"/>
            <a:ext cx="640080" cy="411480"/>
          </a:xfrm>
          <a:prstGeom prst="rect">
            <a:avLst/>
          </a:prstGeom>
          <a:noFill/>
          <a:ln/>
        </p:spPr>
        <p:txBody>
          <a:bodyPr wrap="square" rtlCol="0" anchor="ctr"/>
          <a:lstStyle/>
          <a:p>
            <a:pPr marL="0" indent="0">
              <a:buNone/>
            </a:pPr>
            <a:r>
              <a:rPr lang="en-US" sz="1800" dirty="0">
                <a:solidFill>
                  <a:srgbClr val="86868B"/>
                </a:solidFill>
                <a:latin typeface="Georgia" pitchFamily="34" charset="0"/>
                <a:ea typeface="Georgia" pitchFamily="34" charset="-122"/>
                <a:cs typeface="Georgia" pitchFamily="34" charset="-120"/>
              </a:rPr>
              <a:t>06</a:t>
            </a:r>
            <a:endParaRPr lang="en-US" sz="1800" dirty="0"/>
          </a:p>
        </p:txBody>
      </p:sp>
      <p:sp>
        <p:nvSpPr>
          <p:cNvPr id="36" name="Text 34"/>
          <p:cNvSpPr/>
          <p:nvPr/>
        </p:nvSpPr>
        <p:spPr>
          <a:xfrm>
            <a:off x="1280160" y="4892040"/>
            <a:ext cx="6400800" cy="320040"/>
          </a:xfrm>
          <a:prstGeom prst="rect">
            <a:avLst/>
          </a:prstGeom>
          <a:noFill/>
          <a:ln/>
        </p:spPr>
        <p:txBody>
          <a:bodyPr wrap="square" rtlCol="0" anchor="ctr"/>
          <a:lstStyle/>
          <a:p>
            <a:pPr marL="0" indent="0">
              <a:buNone/>
            </a:pPr>
            <a:r>
              <a:rPr lang="en-US" sz="1500" b="1" dirty="0">
                <a:solidFill>
                  <a:srgbClr val="1D1D1F"/>
                </a:solidFill>
                <a:latin typeface="Helvetica" pitchFamily="34" charset="0"/>
                <a:ea typeface="Helvetica" pitchFamily="34" charset="-122"/>
                <a:cs typeface="Helvetica" pitchFamily="34" charset="-120"/>
              </a:rPr>
              <a:t>Objetivos 2026 y búsqueda de financiamiento</a:t>
            </a:r>
            <a:endParaRPr lang="en-US" sz="1500" dirty="0"/>
          </a:p>
        </p:txBody>
      </p:sp>
      <p:sp>
        <p:nvSpPr>
          <p:cNvPr id="37" name="Text 35"/>
          <p:cNvSpPr/>
          <p:nvPr/>
        </p:nvSpPr>
        <p:spPr>
          <a:xfrm>
            <a:off x="1280160" y="5138928"/>
            <a:ext cx="640080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Plan estratégico</a:t>
            </a:r>
            <a:endParaRPr lang="en-US" sz="1100" dirty="0"/>
          </a:p>
        </p:txBody>
      </p:sp>
      <p:sp>
        <p:nvSpPr>
          <p:cNvPr id="38" name="Text 36"/>
          <p:cNvSpPr/>
          <p:nvPr/>
        </p:nvSpPr>
        <p:spPr>
          <a:xfrm>
            <a:off x="10058400" y="4983480"/>
            <a:ext cx="1645920" cy="274320"/>
          </a:xfrm>
          <a:prstGeom prst="rect">
            <a:avLst/>
          </a:prstGeom>
          <a:noFill/>
          <a:ln/>
        </p:spPr>
        <p:txBody>
          <a:bodyPr wrap="square" rtlCol="0" anchor="ctr"/>
          <a:lstStyle/>
          <a:p>
            <a:pPr marL="0" indent="0" algn="r">
              <a:buNone/>
            </a:pPr>
            <a:r>
              <a:rPr lang="en-US" sz="1100" b="1" kern="0" spc="200" dirty="0">
                <a:solidFill>
                  <a:srgbClr val="823DBC"/>
                </a:solidFill>
                <a:latin typeface="Helvetica" pitchFamily="34" charset="0"/>
                <a:ea typeface="Helvetica" pitchFamily="34" charset="-122"/>
                <a:cs typeface="Helvetica" pitchFamily="34" charset="-120"/>
              </a:rPr>
              <a:t>6 min</a:t>
            </a:r>
            <a:endParaRPr lang="en-US" sz="1100" dirty="0"/>
          </a:p>
        </p:txBody>
      </p:sp>
      <p:sp>
        <p:nvSpPr>
          <p:cNvPr id="39" name="Shape 37"/>
          <p:cNvSpPr/>
          <p:nvPr/>
        </p:nvSpPr>
        <p:spPr>
          <a:xfrm>
            <a:off x="457200" y="5413248"/>
            <a:ext cx="11274552" cy="0"/>
          </a:xfrm>
          <a:prstGeom prst="line">
            <a:avLst/>
          </a:prstGeom>
          <a:noFill/>
          <a:ln w="6350">
            <a:solidFill>
              <a:srgbClr val="D2D2D7"/>
            </a:solidFill>
            <a:prstDash val="solid"/>
          </a:ln>
        </p:spPr>
      </p:sp>
      <p:sp>
        <p:nvSpPr>
          <p:cNvPr id="40" name="Text 38"/>
          <p:cNvSpPr/>
          <p:nvPr/>
        </p:nvSpPr>
        <p:spPr>
          <a:xfrm>
            <a:off x="548640" y="5504688"/>
            <a:ext cx="640080" cy="411480"/>
          </a:xfrm>
          <a:prstGeom prst="rect">
            <a:avLst/>
          </a:prstGeom>
          <a:noFill/>
          <a:ln/>
        </p:spPr>
        <p:txBody>
          <a:bodyPr wrap="square" rtlCol="0" anchor="ctr"/>
          <a:lstStyle/>
          <a:p>
            <a:pPr marL="0" indent="0">
              <a:buNone/>
            </a:pPr>
            <a:r>
              <a:rPr lang="en-US" sz="1800" dirty="0">
                <a:solidFill>
                  <a:srgbClr val="86868B"/>
                </a:solidFill>
                <a:latin typeface="Georgia" pitchFamily="34" charset="0"/>
                <a:ea typeface="Georgia" pitchFamily="34" charset="-122"/>
                <a:cs typeface="Georgia" pitchFamily="34" charset="-120"/>
              </a:rPr>
              <a:t>07</a:t>
            </a:r>
            <a:endParaRPr lang="en-US" sz="1800" dirty="0"/>
          </a:p>
        </p:txBody>
      </p:sp>
      <p:sp>
        <p:nvSpPr>
          <p:cNvPr id="41" name="Text 39"/>
          <p:cNvSpPr/>
          <p:nvPr/>
        </p:nvSpPr>
        <p:spPr>
          <a:xfrm>
            <a:off x="1280160" y="5458968"/>
            <a:ext cx="6400800" cy="320040"/>
          </a:xfrm>
          <a:prstGeom prst="rect">
            <a:avLst/>
          </a:prstGeom>
          <a:noFill/>
          <a:ln/>
        </p:spPr>
        <p:txBody>
          <a:bodyPr wrap="square" rtlCol="0" anchor="ctr"/>
          <a:lstStyle/>
          <a:p>
            <a:pPr marL="0" indent="0">
              <a:buNone/>
            </a:pPr>
            <a:r>
              <a:rPr lang="en-US" sz="1500" b="1" dirty="0">
                <a:solidFill>
                  <a:srgbClr val="1D1D1F"/>
                </a:solidFill>
                <a:latin typeface="Helvetica" pitchFamily="34" charset="0"/>
                <a:ea typeface="Helvetica" pitchFamily="34" charset="-122"/>
                <a:cs typeface="Helvetica" pitchFamily="34" charset="-120"/>
              </a:rPr>
              <a:t>Otros asuntos · Cierre</a:t>
            </a:r>
            <a:endParaRPr lang="en-US" sz="1500" dirty="0"/>
          </a:p>
        </p:txBody>
      </p:sp>
      <p:sp>
        <p:nvSpPr>
          <p:cNvPr id="42" name="Text 40"/>
          <p:cNvSpPr/>
          <p:nvPr/>
        </p:nvSpPr>
        <p:spPr>
          <a:xfrm>
            <a:off x="1280160" y="5705856"/>
            <a:ext cx="640080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Art. 32 (6) RI</a:t>
            </a:r>
            <a:endParaRPr lang="en-US" sz="1100" dirty="0"/>
          </a:p>
        </p:txBody>
      </p:sp>
      <p:sp>
        <p:nvSpPr>
          <p:cNvPr id="43" name="Text 41"/>
          <p:cNvSpPr/>
          <p:nvPr/>
        </p:nvSpPr>
        <p:spPr>
          <a:xfrm>
            <a:off x="10058400" y="5550408"/>
            <a:ext cx="1645920" cy="274320"/>
          </a:xfrm>
          <a:prstGeom prst="rect">
            <a:avLst/>
          </a:prstGeom>
          <a:noFill/>
          <a:ln/>
        </p:spPr>
        <p:txBody>
          <a:bodyPr wrap="square" rtlCol="0" anchor="ctr"/>
          <a:lstStyle/>
          <a:p>
            <a:pPr marL="0" indent="0" algn="r">
              <a:buNone/>
            </a:pPr>
            <a:r>
              <a:rPr lang="en-US" sz="1100" b="1" kern="0" spc="200" dirty="0">
                <a:solidFill>
                  <a:srgbClr val="823DBC"/>
                </a:solidFill>
                <a:latin typeface="Helvetica" pitchFamily="34" charset="0"/>
                <a:ea typeface="Helvetica" pitchFamily="34" charset="-122"/>
                <a:cs typeface="Helvetica" pitchFamily="34" charset="-120"/>
              </a:rPr>
              <a:t>3 min</a:t>
            </a:r>
            <a:endParaRPr lang="en-US" sz="1100" dirty="0"/>
          </a:p>
        </p:txBody>
      </p:sp>
      <p:sp>
        <p:nvSpPr>
          <p:cNvPr id="44" name="Shape 42"/>
          <p:cNvSpPr/>
          <p:nvPr/>
        </p:nvSpPr>
        <p:spPr>
          <a:xfrm>
            <a:off x="457200" y="5980176"/>
            <a:ext cx="11274552" cy="0"/>
          </a:xfrm>
          <a:prstGeom prst="line">
            <a:avLst/>
          </a:prstGeom>
          <a:noFill/>
          <a:ln w="6350">
            <a:solidFill>
              <a:srgbClr val="D2D2D7"/>
            </a:solidFill>
            <a:prstDash val="solid"/>
          </a:ln>
        </p:spPr>
      </p:sp>
      <p:sp>
        <p:nvSpPr>
          <p:cNvPr id="45" name="Text 43"/>
          <p:cNvSpPr/>
          <p:nvPr/>
        </p:nvSpPr>
        <p:spPr>
          <a:xfrm>
            <a:off x="457200" y="6355080"/>
            <a:ext cx="11274552" cy="228600"/>
          </a:xfrm>
          <a:prstGeom prst="rect">
            <a:avLst/>
          </a:prstGeom>
          <a:noFill/>
          <a:ln/>
        </p:spPr>
        <p:txBody>
          <a:bodyPr wrap="square" rtlCol="0" anchor="ctr"/>
          <a:lstStyle/>
          <a:p>
            <a:pPr marL="0" indent="0" algn="r">
              <a:buNone/>
            </a:pPr>
            <a:r>
              <a:rPr lang="en-US" sz="1000" i="1" dirty="0">
                <a:solidFill>
                  <a:srgbClr val="823DBC"/>
                </a:solidFill>
                <a:latin typeface="Helvetica" pitchFamily="34" charset="0"/>
                <a:ea typeface="Helvetica" pitchFamily="34" charset="-122"/>
                <a:cs typeface="Helvetica" pitchFamily="34" charset="-120"/>
              </a:rPr>
              <a:t>Duración estimada: 35 min</a:t>
            </a:r>
            <a:endParaRPr lang="en-US" sz="1000" dirty="0"/>
          </a:p>
        </p:txBody>
      </p:sp>
      <p:sp>
        <p:nvSpPr>
          <p:cNvPr id="46" name="Shape 44"/>
          <p:cNvSpPr/>
          <p:nvPr/>
        </p:nvSpPr>
        <p:spPr>
          <a:xfrm>
            <a:off x="457200" y="6492240"/>
            <a:ext cx="11274552" cy="0"/>
          </a:xfrm>
          <a:prstGeom prst="line">
            <a:avLst/>
          </a:prstGeom>
          <a:noFill/>
          <a:ln w="6350">
            <a:solidFill>
              <a:srgbClr val="D2D2D7"/>
            </a:solidFill>
            <a:prstDash val="solid"/>
          </a:ln>
        </p:spPr>
      </p:sp>
      <p:sp>
        <p:nvSpPr>
          <p:cNvPr id="47" name="Text 45"/>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48" name="Text 46"/>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27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03 — 18</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2025 EXECUTION REPORT · Bloque 1</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Tres pilares ejecutados</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Shape 7"/>
          <p:cNvSpPr/>
          <p:nvPr/>
        </p:nvSpPr>
        <p:spPr>
          <a:xfrm>
            <a:off x="457200" y="2103120"/>
            <a:ext cx="3108960" cy="4023360"/>
          </a:xfrm>
          <a:prstGeom prst="roundRect">
            <a:avLst>
              <a:gd name="adj" fmla="val 6000"/>
            </a:avLst>
          </a:prstGeom>
          <a:solidFill>
            <a:srgbClr val="FFFFFF"/>
          </a:solidFill>
          <a:ln w="9525">
            <a:solidFill>
              <a:srgbClr val="D2D2D7"/>
            </a:solidFill>
            <a:prstDash val="solid"/>
          </a:ln>
        </p:spPr>
      </p:sp>
      <p:sp>
        <p:nvSpPr>
          <p:cNvPr id="10" name="Text 8"/>
          <p:cNvSpPr/>
          <p:nvPr/>
        </p:nvSpPr>
        <p:spPr>
          <a:xfrm>
            <a:off x="685800" y="2240280"/>
            <a:ext cx="1371600" cy="548640"/>
          </a:xfrm>
          <a:prstGeom prst="rect">
            <a:avLst/>
          </a:prstGeom>
          <a:noFill/>
          <a:ln/>
        </p:spPr>
        <p:txBody>
          <a:bodyPr wrap="square" rtlCol="0" anchor="ctr"/>
          <a:lstStyle/>
          <a:p>
            <a:pPr marL="0" indent="0">
              <a:buNone/>
            </a:pPr>
            <a:r>
              <a:rPr lang="en-US" sz="3600" b="1" dirty="0">
                <a:solidFill>
                  <a:srgbClr val="823DBC"/>
                </a:solidFill>
                <a:latin typeface="Georgia" pitchFamily="34" charset="0"/>
                <a:ea typeface="Georgia" pitchFamily="34" charset="-122"/>
                <a:cs typeface="Georgia" pitchFamily="34" charset="-120"/>
              </a:rPr>
              <a:t>01</a:t>
            </a:r>
            <a:endParaRPr lang="en-US" sz="3600" dirty="0"/>
          </a:p>
        </p:txBody>
      </p:sp>
      <p:sp>
        <p:nvSpPr>
          <p:cNvPr id="11" name="Shape 9"/>
          <p:cNvSpPr/>
          <p:nvPr/>
        </p:nvSpPr>
        <p:spPr>
          <a:xfrm>
            <a:off x="685800" y="2834640"/>
            <a:ext cx="457200" cy="0"/>
          </a:xfrm>
          <a:prstGeom prst="line">
            <a:avLst/>
          </a:prstGeom>
          <a:noFill/>
          <a:ln w="25400">
            <a:solidFill>
              <a:srgbClr val="2C74FF"/>
            </a:solidFill>
            <a:prstDash val="solid"/>
          </a:ln>
        </p:spPr>
      </p:sp>
      <p:sp>
        <p:nvSpPr>
          <p:cNvPr id="12" name="Text 10"/>
          <p:cNvSpPr/>
          <p:nvPr/>
        </p:nvSpPr>
        <p:spPr>
          <a:xfrm>
            <a:off x="685800" y="2971800"/>
            <a:ext cx="2651760" cy="1005840"/>
          </a:xfrm>
          <a:prstGeom prst="rect">
            <a:avLst/>
          </a:prstGeom>
          <a:noFill/>
          <a:ln/>
        </p:spPr>
        <p:txBody>
          <a:bodyPr wrap="square" rtlCol="0" anchor="ctr"/>
          <a:lstStyle/>
          <a:p>
            <a:pPr marL="0" indent="0">
              <a:buNone/>
            </a:pPr>
            <a:r>
              <a:rPr lang="en-US" sz="1800" b="1" dirty="0">
                <a:solidFill>
                  <a:srgbClr val="1D1D1F"/>
                </a:solidFill>
                <a:latin typeface="Helvetica" pitchFamily="34" charset="0"/>
                <a:ea typeface="Helvetica" pitchFamily="34" charset="-122"/>
                <a:cs typeface="Helvetica" pitchFamily="34" charset="-120"/>
              </a:rPr>
              <a:t>Compra de empresas con</a:t>
            </a:r>
            <a:endParaRPr lang="en-US" sz="1800" dirty="0"/>
          </a:p>
          <a:p>
            <a:pPr marL="0" indent="0">
              <a:buNone/>
            </a:pPr>
            <a:r>
              <a:rPr lang="en-US" sz="1800" b="1" dirty="0">
                <a:solidFill>
                  <a:srgbClr val="1D1D1F"/>
                </a:solidFill>
                <a:latin typeface="Helvetica" pitchFamily="34" charset="0"/>
                <a:ea typeface="Helvetica" pitchFamily="34" charset="-122"/>
                <a:cs typeface="Helvetica" pitchFamily="34" charset="-120"/>
              </a:rPr>
              <a:t>nuevas tecnologías</a:t>
            </a:r>
            <a:endParaRPr lang="en-US" sz="1800" dirty="0"/>
          </a:p>
        </p:txBody>
      </p:sp>
      <p:sp>
        <p:nvSpPr>
          <p:cNvPr id="13" name="Text 11"/>
          <p:cNvSpPr/>
          <p:nvPr/>
        </p:nvSpPr>
        <p:spPr>
          <a:xfrm>
            <a:off x="685800" y="4114800"/>
            <a:ext cx="2651760" cy="1188720"/>
          </a:xfrm>
          <a:prstGeom prst="rect">
            <a:avLst/>
          </a:prstGeom>
          <a:noFill/>
          <a:ln/>
        </p:spPr>
        <p:txBody>
          <a:bodyPr wrap="square" rtlCol="0" anchor="ctr"/>
          <a:lstStyle/>
          <a:p>
            <a:pPr marL="0" indent="0">
              <a:buNone/>
            </a:pPr>
            <a:r>
              <a:rPr lang="en-US" sz="1200" dirty="0">
                <a:solidFill>
                  <a:srgbClr val="424245"/>
                </a:solidFill>
                <a:latin typeface="Helvetica" pitchFamily="34" charset="0"/>
                <a:ea typeface="Helvetica" pitchFamily="34" charset="-122"/>
                <a:cs typeface="Helvetica" pitchFamily="34" charset="-120"/>
              </a:rPr>
              <a:t>Acuerdos de licenciamiento exclusivo para Chile y la región. Protección formal por contratos y NDAs.</a:t>
            </a:r>
            <a:endParaRPr lang="en-US" sz="1200" dirty="0"/>
          </a:p>
          <a:p>
            <a:pPr marL="0" indent="0">
              <a:buNone/>
            </a:pPr>
            <a:endParaRPr lang="en-US" sz="600" dirty="0"/>
          </a:p>
          <a:p>
            <a:pPr marL="0" indent="0">
              <a:buNone/>
            </a:pPr>
            <a:r>
              <a:rPr lang="en-US" sz="1100" b="1" dirty="0">
                <a:solidFill>
                  <a:srgbClr val="4D0F96"/>
                </a:solidFill>
                <a:latin typeface="Helvetica" pitchFamily="34" charset="0"/>
                <a:ea typeface="Helvetica" pitchFamily="34" charset="-122"/>
                <a:cs typeface="Helvetica" pitchFamily="34" charset="-120"/>
              </a:rPr>
              <a:t>4 portfolio companies con licencia exclusiva</a:t>
            </a:r>
            <a:endParaRPr lang="en-US" sz="1100" dirty="0"/>
          </a:p>
        </p:txBody>
      </p:sp>
      <p:sp>
        <p:nvSpPr>
          <p:cNvPr id="14" name="Shape 12"/>
          <p:cNvSpPr/>
          <p:nvPr/>
        </p:nvSpPr>
        <p:spPr>
          <a:xfrm>
            <a:off x="685800" y="5440680"/>
            <a:ext cx="2651760" cy="0"/>
          </a:xfrm>
          <a:prstGeom prst="line">
            <a:avLst/>
          </a:prstGeom>
          <a:noFill/>
          <a:ln w="6350">
            <a:solidFill>
              <a:srgbClr val="D2D2D7"/>
            </a:solidFill>
            <a:prstDash val="solid"/>
          </a:ln>
        </p:spPr>
      </p:sp>
      <p:sp>
        <p:nvSpPr>
          <p:cNvPr id="15" name="Text 13"/>
          <p:cNvSpPr/>
          <p:nvPr/>
        </p:nvSpPr>
        <p:spPr>
          <a:xfrm>
            <a:off x="685800" y="5532120"/>
            <a:ext cx="2651760" cy="182880"/>
          </a:xfrm>
          <a:prstGeom prst="rect">
            <a:avLst/>
          </a:prstGeom>
          <a:noFill/>
          <a:ln/>
        </p:spPr>
        <p:txBody>
          <a:bodyPr wrap="square" rtlCol="0" anchor="ctr"/>
          <a:lstStyle/>
          <a:p>
            <a:pPr marL="0" indent="0">
              <a:buNone/>
            </a:pPr>
            <a:r>
              <a:rPr lang="en-US" sz="800" b="1" kern="0" spc="300" dirty="0">
                <a:solidFill>
                  <a:srgbClr val="823DBC"/>
                </a:solidFill>
                <a:latin typeface="Helvetica" pitchFamily="34" charset="0"/>
                <a:ea typeface="Helvetica" pitchFamily="34" charset="-122"/>
                <a:cs typeface="Helvetica" pitchFamily="34" charset="-120"/>
              </a:rPr>
              <a:t>ESTADO</a:t>
            </a:r>
            <a:endParaRPr lang="en-US" sz="800" dirty="0"/>
          </a:p>
        </p:txBody>
      </p:sp>
      <p:sp>
        <p:nvSpPr>
          <p:cNvPr id="16" name="Text 14"/>
          <p:cNvSpPr/>
          <p:nvPr/>
        </p:nvSpPr>
        <p:spPr>
          <a:xfrm>
            <a:off x="685800" y="5742432"/>
            <a:ext cx="2651760" cy="274320"/>
          </a:xfrm>
          <a:prstGeom prst="rect">
            <a:avLst/>
          </a:prstGeom>
          <a:noFill/>
          <a:ln/>
        </p:spPr>
        <p:txBody>
          <a:bodyPr wrap="square" rtlCol="0" anchor="ctr"/>
          <a:lstStyle/>
          <a:p>
            <a:pPr marL="0" indent="0">
              <a:buNone/>
            </a:pPr>
            <a:r>
              <a:rPr lang="en-US" sz="1300" b="1" dirty="0">
                <a:solidFill>
                  <a:srgbClr val="4D0F96"/>
                </a:solidFill>
                <a:latin typeface="Helvetica" pitchFamily="34" charset="0"/>
                <a:ea typeface="Helvetica" pitchFamily="34" charset="-122"/>
                <a:cs typeface="Helvetica" pitchFamily="34" charset="-120"/>
              </a:rPr>
              <a:t>Acuerdo firmado</a:t>
            </a:r>
            <a:endParaRPr lang="en-US" sz="1300" dirty="0"/>
          </a:p>
        </p:txBody>
      </p:sp>
      <p:sp>
        <p:nvSpPr>
          <p:cNvPr id="17" name="Shape 15"/>
          <p:cNvSpPr/>
          <p:nvPr/>
        </p:nvSpPr>
        <p:spPr>
          <a:xfrm>
            <a:off x="4526280" y="2103120"/>
            <a:ext cx="3108960" cy="4023360"/>
          </a:xfrm>
          <a:prstGeom prst="roundRect">
            <a:avLst>
              <a:gd name="adj" fmla="val 6000"/>
            </a:avLst>
          </a:prstGeom>
          <a:solidFill>
            <a:srgbClr val="FFFFFF"/>
          </a:solidFill>
          <a:ln w="9525">
            <a:solidFill>
              <a:srgbClr val="D2D2D7"/>
            </a:solidFill>
            <a:prstDash val="solid"/>
          </a:ln>
        </p:spPr>
      </p:sp>
      <p:sp>
        <p:nvSpPr>
          <p:cNvPr id="18" name="Text 16"/>
          <p:cNvSpPr/>
          <p:nvPr/>
        </p:nvSpPr>
        <p:spPr>
          <a:xfrm>
            <a:off x="4754880" y="2240280"/>
            <a:ext cx="1371600" cy="548640"/>
          </a:xfrm>
          <a:prstGeom prst="rect">
            <a:avLst/>
          </a:prstGeom>
          <a:noFill/>
          <a:ln/>
        </p:spPr>
        <p:txBody>
          <a:bodyPr wrap="square" rtlCol="0" anchor="ctr"/>
          <a:lstStyle/>
          <a:p>
            <a:pPr marL="0" indent="0">
              <a:buNone/>
            </a:pPr>
            <a:r>
              <a:rPr lang="en-US" sz="3600" b="1" dirty="0">
                <a:solidFill>
                  <a:srgbClr val="823DBC"/>
                </a:solidFill>
                <a:latin typeface="Georgia" pitchFamily="34" charset="0"/>
                <a:ea typeface="Georgia" pitchFamily="34" charset="-122"/>
                <a:cs typeface="Georgia" pitchFamily="34" charset="-120"/>
              </a:rPr>
              <a:t>02</a:t>
            </a:r>
            <a:endParaRPr lang="en-US" sz="3600" dirty="0"/>
          </a:p>
        </p:txBody>
      </p:sp>
      <p:sp>
        <p:nvSpPr>
          <p:cNvPr id="19" name="Shape 17"/>
          <p:cNvSpPr/>
          <p:nvPr/>
        </p:nvSpPr>
        <p:spPr>
          <a:xfrm>
            <a:off x="4754880" y="2834640"/>
            <a:ext cx="457200" cy="0"/>
          </a:xfrm>
          <a:prstGeom prst="line">
            <a:avLst/>
          </a:prstGeom>
          <a:noFill/>
          <a:ln w="25400">
            <a:solidFill>
              <a:srgbClr val="2C74FF"/>
            </a:solidFill>
            <a:prstDash val="solid"/>
          </a:ln>
        </p:spPr>
      </p:sp>
      <p:sp>
        <p:nvSpPr>
          <p:cNvPr id="20" name="Text 18"/>
          <p:cNvSpPr/>
          <p:nvPr/>
        </p:nvSpPr>
        <p:spPr>
          <a:xfrm>
            <a:off x="4754880" y="2971800"/>
            <a:ext cx="2651760" cy="1005840"/>
          </a:xfrm>
          <a:prstGeom prst="rect">
            <a:avLst/>
          </a:prstGeom>
          <a:noFill/>
          <a:ln/>
        </p:spPr>
        <p:txBody>
          <a:bodyPr wrap="square" rtlCol="0" anchor="ctr"/>
          <a:lstStyle/>
          <a:p>
            <a:pPr marL="0" indent="0">
              <a:buNone/>
            </a:pPr>
            <a:r>
              <a:rPr lang="en-US" sz="1800" b="1" dirty="0">
                <a:solidFill>
                  <a:srgbClr val="1D1D1F"/>
                </a:solidFill>
                <a:latin typeface="Helvetica" pitchFamily="34" charset="0"/>
                <a:ea typeface="Helvetica" pitchFamily="34" charset="-122"/>
                <a:cs typeface="Helvetica" pitchFamily="34" charset="-120"/>
              </a:rPr>
              <a:t>Obtención de</a:t>
            </a:r>
            <a:endParaRPr lang="en-US" sz="1800" dirty="0"/>
          </a:p>
          <a:p>
            <a:pPr marL="0" indent="0">
              <a:buNone/>
            </a:pPr>
            <a:r>
              <a:rPr lang="en-US" sz="1800" b="1" dirty="0">
                <a:solidFill>
                  <a:srgbClr val="1D1D1F"/>
                </a:solidFill>
                <a:latin typeface="Helvetica" pitchFamily="34" charset="0"/>
                <a:ea typeface="Helvetica" pitchFamily="34" charset="-122"/>
                <a:cs typeface="Helvetica" pitchFamily="34" charset="-120"/>
              </a:rPr>
              <a:t>subsidios y financiamiento</a:t>
            </a:r>
            <a:endParaRPr lang="en-US" sz="1800" dirty="0"/>
          </a:p>
        </p:txBody>
      </p:sp>
      <p:sp>
        <p:nvSpPr>
          <p:cNvPr id="21" name="Text 19"/>
          <p:cNvSpPr/>
          <p:nvPr/>
        </p:nvSpPr>
        <p:spPr>
          <a:xfrm>
            <a:off x="4754880" y="4114800"/>
            <a:ext cx="2651760" cy="1188720"/>
          </a:xfrm>
          <a:prstGeom prst="rect">
            <a:avLst/>
          </a:prstGeom>
          <a:noFill/>
          <a:ln/>
        </p:spPr>
        <p:txBody>
          <a:bodyPr wrap="square" rtlCol="0" anchor="ctr"/>
          <a:lstStyle/>
          <a:p>
            <a:pPr marL="0" indent="0">
              <a:buNone/>
            </a:pPr>
            <a:r>
              <a:rPr lang="en-US" sz="1200" dirty="0">
                <a:solidFill>
                  <a:srgbClr val="424245"/>
                </a:solidFill>
                <a:latin typeface="Helvetica" pitchFamily="34" charset="0"/>
                <a:ea typeface="Helvetica" pitchFamily="34" charset="-122"/>
                <a:cs typeface="Helvetica" pitchFamily="34" charset="-120"/>
              </a:rPr>
              <a:t>Captación de programas estatales chilenos. Apalancamiento de recursos no dilutivos.</a:t>
            </a:r>
            <a:endParaRPr lang="en-US" sz="1200" dirty="0"/>
          </a:p>
          <a:p>
            <a:pPr marL="0" indent="0">
              <a:buNone/>
            </a:pPr>
            <a:endParaRPr lang="en-US" sz="600" dirty="0"/>
          </a:p>
          <a:p>
            <a:pPr marL="0" indent="0">
              <a:buNone/>
            </a:pPr>
            <a:r>
              <a:rPr lang="en-US" sz="1100" b="1" dirty="0">
                <a:solidFill>
                  <a:srgbClr val="4D0F96"/>
                </a:solidFill>
                <a:latin typeface="Helvetica" pitchFamily="34" charset="0"/>
                <a:ea typeface="Helvetica" pitchFamily="34" charset="-122"/>
                <a:cs typeface="Helvetica" pitchFamily="34" charset="-120"/>
              </a:rPr>
              <a:t>2 subsidios adjudicados · 1 en postulación</a:t>
            </a:r>
            <a:endParaRPr lang="en-US" sz="1100" dirty="0"/>
          </a:p>
        </p:txBody>
      </p:sp>
      <p:sp>
        <p:nvSpPr>
          <p:cNvPr id="22" name="Shape 20"/>
          <p:cNvSpPr/>
          <p:nvPr/>
        </p:nvSpPr>
        <p:spPr>
          <a:xfrm>
            <a:off x="4754880" y="5440680"/>
            <a:ext cx="2651760" cy="0"/>
          </a:xfrm>
          <a:prstGeom prst="line">
            <a:avLst/>
          </a:prstGeom>
          <a:noFill/>
          <a:ln w="6350">
            <a:solidFill>
              <a:srgbClr val="D2D2D7"/>
            </a:solidFill>
            <a:prstDash val="solid"/>
          </a:ln>
        </p:spPr>
      </p:sp>
      <p:sp>
        <p:nvSpPr>
          <p:cNvPr id="23" name="Text 21"/>
          <p:cNvSpPr/>
          <p:nvPr/>
        </p:nvSpPr>
        <p:spPr>
          <a:xfrm>
            <a:off x="4754880" y="5532120"/>
            <a:ext cx="2651760" cy="182880"/>
          </a:xfrm>
          <a:prstGeom prst="rect">
            <a:avLst/>
          </a:prstGeom>
          <a:noFill/>
          <a:ln/>
        </p:spPr>
        <p:txBody>
          <a:bodyPr wrap="square" rtlCol="0" anchor="ctr"/>
          <a:lstStyle/>
          <a:p>
            <a:pPr marL="0" indent="0">
              <a:buNone/>
            </a:pPr>
            <a:r>
              <a:rPr lang="en-US" sz="800" b="1" kern="0" spc="300" dirty="0">
                <a:solidFill>
                  <a:srgbClr val="823DBC"/>
                </a:solidFill>
                <a:latin typeface="Helvetica" pitchFamily="34" charset="0"/>
                <a:ea typeface="Helvetica" pitchFamily="34" charset="-122"/>
                <a:cs typeface="Helvetica" pitchFamily="34" charset="-120"/>
              </a:rPr>
              <a:t>ESTADO</a:t>
            </a:r>
            <a:endParaRPr lang="en-US" sz="800" dirty="0"/>
          </a:p>
        </p:txBody>
      </p:sp>
      <p:sp>
        <p:nvSpPr>
          <p:cNvPr id="24" name="Text 22"/>
          <p:cNvSpPr/>
          <p:nvPr/>
        </p:nvSpPr>
        <p:spPr>
          <a:xfrm>
            <a:off x="4754880" y="5742432"/>
            <a:ext cx="2651760" cy="274320"/>
          </a:xfrm>
          <a:prstGeom prst="rect">
            <a:avLst/>
          </a:prstGeom>
          <a:noFill/>
          <a:ln/>
        </p:spPr>
        <p:txBody>
          <a:bodyPr wrap="square" rtlCol="0" anchor="ctr"/>
          <a:lstStyle/>
          <a:p>
            <a:pPr marL="0" indent="0">
              <a:buNone/>
            </a:pPr>
            <a:r>
              <a:rPr lang="en-US" sz="1300" b="1" dirty="0">
                <a:solidFill>
                  <a:srgbClr val="4D0F96"/>
                </a:solidFill>
                <a:latin typeface="Helvetica" pitchFamily="34" charset="0"/>
                <a:ea typeface="Helvetica" pitchFamily="34" charset="-122"/>
                <a:cs typeface="Helvetica" pitchFamily="34" charset="-120"/>
              </a:rPr>
              <a:t>CORFO · SERVIU</a:t>
            </a:r>
            <a:endParaRPr lang="en-US" sz="1300" dirty="0"/>
          </a:p>
        </p:txBody>
      </p:sp>
      <p:sp>
        <p:nvSpPr>
          <p:cNvPr id="25" name="Shape 23"/>
          <p:cNvSpPr/>
          <p:nvPr/>
        </p:nvSpPr>
        <p:spPr>
          <a:xfrm>
            <a:off x="8595360" y="2103120"/>
            <a:ext cx="3108960" cy="4023360"/>
          </a:xfrm>
          <a:prstGeom prst="roundRect">
            <a:avLst>
              <a:gd name="adj" fmla="val 6000"/>
            </a:avLst>
          </a:prstGeom>
          <a:solidFill>
            <a:srgbClr val="FFFFFF"/>
          </a:solidFill>
          <a:ln w="9525">
            <a:solidFill>
              <a:srgbClr val="D2D2D7"/>
            </a:solidFill>
            <a:prstDash val="solid"/>
          </a:ln>
        </p:spPr>
      </p:sp>
      <p:sp>
        <p:nvSpPr>
          <p:cNvPr id="26" name="Text 24"/>
          <p:cNvSpPr/>
          <p:nvPr/>
        </p:nvSpPr>
        <p:spPr>
          <a:xfrm>
            <a:off x="8823960" y="2240280"/>
            <a:ext cx="1371600" cy="548640"/>
          </a:xfrm>
          <a:prstGeom prst="rect">
            <a:avLst/>
          </a:prstGeom>
          <a:noFill/>
          <a:ln/>
        </p:spPr>
        <p:txBody>
          <a:bodyPr wrap="square" rtlCol="0" anchor="ctr"/>
          <a:lstStyle/>
          <a:p>
            <a:pPr marL="0" indent="0">
              <a:buNone/>
            </a:pPr>
            <a:r>
              <a:rPr lang="en-US" sz="3600" b="1" dirty="0">
                <a:solidFill>
                  <a:srgbClr val="823DBC"/>
                </a:solidFill>
                <a:latin typeface="Georgia" pitchFamily="34" charset="0"/>
                <a:ea typeface="Georgia" pitchFamily="34" charset="-122"/>
                <a:cs typeface="Georgia" pitchFamily="34" charset="-120"/>
              </a:rPr>
              <a:t>03</a:t>
            </a:r>
            <a:endParaRPr lang="en-US" sz="3600" dirty="0"/>
          </a:p>
        </p:txBody>
      </p:sp>
      <p:sp>
        <p:nvSpPr>
          <p:cNvPr id="27" name="Shape 25"/>
          <p:cNvSpPr/>
          <p:nvPr/>
        </p:nvSpPr>
        <p:spPr>
          <a:xfrm>
            <a:off x="8823960" y="2834640"/>
            <a:ext cx="457200" cy="0"/>
          </a:xfrm>
          <a:prstGeom prst="line">
            <a:avLst/>
          </a:prstGeom>
          <a:noFill/>
          <a:ln w="25400">
            <a:solidFill>
              <a:srgbClr val="2C74FF"/>
            </a:solidFill>
            <a:prstDash val="solid"/>
          </a:ln>
        </p:spPr>
      </p:sp>
      <p:sp>
        <p:nvSpPr>
          <p:cNvPr id="28" name="Text 26"/>
          <p:cNvSpPr/>
          <p:nvPr/>
        </p:nvSpPr>
        <p:spPr>
          <a:xfrm>
            <a:off x="8823960" y="2971800"/>
            <a:ext cx="2651760" cy="1005840"/>
          </a:xfrm>
          <a:prstGeom prst="rect">
            <a:avLst/>
          </a:prstGeom>
          <a:noFill/>
          <a:ln/>
        </p:spPr>
        <p:txBody>
          <a:bodyPr wrap="square" rtlCol="0" anchor="ctr"/>
          <a:lstStyle/>
          <a:p>
            <a:pPr marL="0" indent="0">
              <a:buNone/>
            </a:pPr>
            <a:r>
              <a:rPr lang="en-US" sz="1800" b="1" dirty="0">
                <a:solidFill>
                  <a:srgbClr val="1D1D1F"/>
                </a:solidFill>
                <a:latin typeface="Helvetica" pitchFamily="34" charset="0"/>
                <a:ea typeface="Helvetica" pitchFamily="34" charset="-122"/>
                <a:cs typeface="Helvetica" pitchFamily="34" charset="-120"/>
              </a:rPr>
              <a:t>Proyectos</a:t>
            </a:r>
            <a:endParaRPr lang="en-US" sz="1800" dirty="0"/>
          </a:p>
          <a:p>
            <a:pPr marL="0" indent="0">
              <a:buNone/>
            </a:pPr>
            <a:r>
              <a:rPr lang="en-US" sz="1800" b="1" dirty="0">
                <a:solidFill>
                  <a:srgbClr val="1D1D1F"/>
                </a:solidFill>
                <a:latin typeface="Helvetica" pitchFamily="34" charset="0"/>
                <a:ea typeface="Helvetica" pitchFamily="34" charset="-122"/>
                <a:cs typeface="Helvetica" pitchFamily="34" charset="-120"/>
              </a:rPr>
              <a:t>Ready-to-Build</a:t>
            </a:r>
            <a:endParaRPr lang="en-US" sz="1800" dirty="0"/>
          </a:p>
        </p:txBody>
      </p:sp>
      <p:sp>
        <p:nvSpPr>
          <p:cNvPr id="29" name="Text 27"/>
          <p:cNvSpPr/>
          <p:nvPr/>
        </p:nvSpPr>
        <p:spPr>
          <a:xfrm>
            <a:off x="8823960" y="4114800"/>
            <a:ext cx="2651760" cy="1188720"/>
          </a:xfrm>
          <a:prstGeom prst="rect">
            <a:avLst/>
          </a:prstGeom>
          <a:noFill/>
          <a:ln/>
        </p:spPr>
        <p:txBody>
          <a:bodyPr wrap="square" rtlCol="0" anchor="ctr"/>
          <a:lstStyle/>
          <a:p>
            <a:pPr marL="0" indent="0">
              <a:buNone/>
            </a:pPr>
            <a:r>
              <a:rPr lang="en-US" sz="1200" dirty="0">
                <a:solidFill>
                  <a:srgbClr val="424245"/>
                </a:solidFill>
                <a:latin typeface="Helvetica" pitchFamily="34" charset="0"/>
                <a:ea typeface="Helvetica" pitchFamily="34" charset="-122"/>
                <a:cs typeface="Helvetica" pitchFamily="34" charset="-120"/>
              </a:rPr>
              <a:t>Ingeniería de detalle, permisos sectoriales y aseguramiento de terrenos en avance.</a:t>
            </a:r>
            <a:endParaRPr lang="en-US" sz="1200" dirty="0"/>
          </a:p>
          <a:p>
            <a:pPr marL="0" indent="0">
              <a:buNone/>
            </a:pPr>
            <a:endParaRPr lang="en-US" sz="600" dirty="0"/>
          </a:p>
          <a:p>
            <a:pPr marL="0" indent="0">
              <a:buNone/>
            </a:pPr>
            <a:r>
              <a:rPr lang="en-US" sz="1100" b="1" dirty="0">
                <a:solidFill>
                  <a:srgbClr val="4D0F96"/>
                </a:solidFill>
                <a:latin typeface="Helvetica" pitchFamily="34" charset="0"/>
                <a:ea typeface="Helvetica" pitchFamily="34" charset="-122"/>
                <a:cs typeface="Helvetica" pitchFamily="34" charset="-120"/>
              </a:rPr>
              <a:t>6 proyectos en pipeline · 150+ MW</a:t>
            </a:r>
            <a:endParaRPr lang="en-US" sz="1100" dirty="0"/>
          </a:p>
        </p:txBody>
      </p:sp>
      <p:sp>
        <p:nvSpPr>
          <p:cNvPr id="30" name="Shape 28"/>
          <p:cNvSpPr/>
          <p:nvPr/>
        </p:nvSpPr>
        <p:spPr>
          <a:xfrm>
            <a:off x="8823960" y="5440680"/>
            <a:ext cx="2651760" cy="0"/>
          </a:xfrm>
          <a:prstGeom prst="line">
            <a:avLst/>
          </a:prstGeom>
          <a:noFill/>
          <a:ln w="6350">
            <a:solidFill>
              <a:srgbClr val="D2D2D7"/>
            </a:solidFill>
            <a:prstDash val="solid"/>
          </a:ln>
        </p:spPr>
      </p:sp>
      <p:sp>
        <p:nvSpPr>
          <p:cNvPr id="31" name="Text 29"/>
          <p:cNvSpPr/>
          <p:nvPr/>
        </p:nvSpPr>
        <p:spPr>
          <a:xfrm>
            <a:off x="8823960" y="5532120"/>
            <a:ext cx="2651760" cy="182880"/>
          </a:xfrm>
          <a:prstGeom prst="rect">
            <a:avLst/>
          </a:prstGeom>
          <a:noFill/>
          <a:ln/>
        </p:spPr>
        <p:txBody>
          <a:bodyPr wrap="square" rtlCol="0" anchor="ctr"/>
          <a:lstStyle/>
          <a:p>
            <a:pPr marL="0" indent="0">
              <a:buNone/>
            </a:pPr>
            <a:r>
              <a:rPr lang="en-US" sz="800" b="1" kern="0" spc="300" dirty="0">
                <a:solidFill>
                  <a:srgbClr val="823DBC"/>
                </a:solidFill>
                <a:latin typeface="Helvetica" pitchFamily="34" charset="0"/>
                <a:ea typeface="Helvetica" pitchFamily="34" charset="-122"/>
                <a:cs typeface="Helvetica" pitchFamily="34" charset="-120"/>
              </a:rPr>
              <a:t>ESTADO</a:t>
            </a:r>
            <a:endParaRPr lang="en-US" sz="800" dirty="0"/>
          </a:p>
        </p:txBody>
      </p:sp>
      <p:sp>
        <p:nvSpPr>
          <p:cNvPr id="32" name="Text 30"/>
          <p:cNvSpPr/>
          <p:nvPr/>
        </p:nvSpPr>
        <p:spPr>
          <a:xfrm>
            <a:off x="8823960" y="5742432"/>
            <a:ext cx="2651760" cy="274320"/>
          </a:xfrm>
          <a:prstGeom prst="rect">
            <a:avLst/>
          </a:prstGeom>
          <a:noFill/>
          <a:ln/>
        </p:spPr>
        <p:txBody>
          <a:bodyPr wrap="square" rtlCol="0" anchor="ctr"/>
          <a:lstStyle/>
          <a:p>
            <a:pPr marL="0" indent="0">
              <a:buNone/>
            </a:pPr>
            <a:r>
              <a:rPr lang="en-US" sz="1300" b="1" dirty="0">
                <a:solidFill>
                  <a:srgbClr val="4D0F96"/>
                </a:solidFill>
                <a:latin typeface="Helvetica" pitchFamily="34" charset="0"/>
                <a:ea typeface="Helvetica" pitchFamily="34" charset="-122"/>
                <a:cs typeface="Helvetica" pitchFamily="34" charset="-120"/>
              </a:rPr>
              <a:t>Hitos cumplidos</a:t>
            </a:r>
            <a:endParaRPr lang="en-US" sz="1300" dirty="0"/>
          </a:p>
        </p:txBody>
      </p:sp>
      <p:sp>
        <p:nvSpPr>
          <p:cNvPr id="33" name="Shape 31"/>
          <p:cNvSpPr/>
          <p:nvPr/>
        </p:nvSpPr>
        <p:spPr>
          <a:xfrm>
            <a:off x="457200" y="6492240"/>
            <a:ext cx="11274552" cy="0"/>
          </a:xfrm>
          <a:prstGeom prst="line">
            <a:avLst/>
          </a:prstGeom>
          <a:noFill/>
          <a:ln w="6350">
            <a:solidFill>
              <a:srgbClr val="D2D2D7"/>
            </a:solidFill>
            <a:prstDash val="solid"/>
          </a:ln>
        </p:spPr>
      </p:sp>
      <p:sp>
        <p:nvSpPr>
          <p:cNvPr id="34" name="Text 32"/>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35" name="Text 33"/>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27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04 — 18</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PILLAR 1 · Avances 2025</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Exclusividad de la tecnología sueca</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Text 7"/>
          <p:cNvSpPr/>
          <p:nvPr/>
        </p:nvSpPr>
        <p:spPr>
          <a:xfrm>
            <a:off x="457200" y="2103120"/>
            <a:ext cx="6400800" cy="365760"/>
          </a:xfrm>
          <a:prstGeom prst="rect">
            <a:avLst/>
          </a:prstGeom>
          <a:noFill/>
          <a:ln/>
        </p:spPr>
        <p:txBody>
          <a:bodyPr wrap="square" rtlCol="0" anchor="ctr"/>
          <a:lstStyle/>
          <a:p>
            <a:pPr marL="0" indent="0">
              <a:buNone/>
            </a:pPr>
            <a:r>
              <a:rPr lang="en-US" sz="1600" b="1" dirty="0">
                <a:solidFill>
                  <a:srgbClr val="4D0F96"/>
                </a:solidFill>
                <a:latin typeface="Helvetica" pitchFamily="34" charset="0"/>
                <a:ea typeface="Helvetica" pitchFamily="34" charset="-122"/>
                <a:cs typeface="Helvetica" pitchFamily="34" charset="-120"/>
              </a:rPr>
              <a:t>Logros 2025</a:t>
            </a:r>
            <a:endParaRPr lang="en-US" sz="1600" dirty="0"/>
          </a:p>
        </p:txBody>
      </p:sp>
      <p:sp>
        <p:nvSpPr>
          <p:cNvPr id="10" name="Shape 8"/>
          <p:cNvSpPr/>
          <p:nvPr/>
        </p:nvSpPr>
        <p:spPr>
          <a:xfrm>
            <a:off x="457200" y="2651760"/>
            <a:ext cx="164592" cy="164592"/>
          </a:xfrm>
          <a:prstGeom prst="ellipse">
            <a:avLst/>
          </a:prstGeom>
          <a:solidFill>
            <a:srgbClr val="4D0F96"/>
          </a:solidFill>
          <a:ln/>
        </p:spPr>
      </p:sp>
      <p:sp>
        <p:nvSpPr>
          <p:cNvPr id="11" name="Text 9"/>
          <p:cNvSpPr/>
          <p:nvPr/>
        </p:nvSpPr>
        <p:spPr>
          <a:xfrm>
            <a:off x="777240" y="2560320"/>
            <a:ext cx="59436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Acuerdo de exclusividad territorial</a:t>
            </a:r>
            <a:endParaRPr lang="en-US" sz="1400" dirty="0"/>
          </a:p>
        </p:txBody>
      </p:sp>
      <p:sp>
        <p:nvSpPr>
          <p:cNvPr id="12" name="Text 10"/>
          <p:cNvSpPr/>
          <p:nvPr/>
        </p:nvSpPr>
        <p:spPr>
          <a:xfrm>
            <a:off x="777240" y="2852928"/>
            <a:ext cx="5943600" cy="50292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Licenciamiento de tecnología sueca para Chile y mercado latinoamericano formalizado.</a:t>
            </a:r>
            <a:endParaRPr lang="en-US" sz="1100" dirty="0"/>
          </a:p>
        </p:txBody>
      </p:sp>
      <p:sp>
        <p:nvSpPr>
          <p:cNvPr id="13" name="Shape 11"/>
          <p:cNvSpPr/>
          <p:nvPr/>
        </p:nvSpPr>
        <p:spPr>
          <a:xfrm>
            <a:off x="457200" y="3429000"/>
            <a:ext cx="164592" cy="164592"/>
          </a:xfrm>
          <a:prstGeom prst="ellipse">
            <a:avLst/>
          </a:prstGeom>
          <a:solidFill>
            <a:srgbClr val="4D0F96"/>
          </a:solidFill>
          <a:ln/>
        </p:spPr>
      </p:sp>
      <p:sp>
        <p:nvSpPr>
          <p:cNvPr id="14" name="Text 12"/>
          <p:cNvSpPr/>
          <p:nvPr/>
        </p:nvSpPr>
        <p:spPr>
          <a:xfrm>
            <a:off x="777240" y="3337560"/>
            <a:ext cx="59436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Protección legal estructurada</a:t>
            </a:r>
            <a:endParaRPr lang="en-US" sz="1400" dirty="0"/>
          </a:p>
        </p:txBody>
      </p:sp>
      <p:sp>
        <p:nvSpPr>
          <p:cNvPr id="15" name="Text 13"/>
          <p:cNvSpPr/>
          <p:nvPr/>
        </p:nvSpPr>
        <p:spPr>
          <a:xfrm>
            <a:off x="777240" y="3630168"/>
            <a:ext cx="5943600" cy="50292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Marco contractual con NDAs y cláusulas de no competencia en favor del Fondo.</a:t>
            </a:r>
            <a:endParaRPr lang="en-US" sz="1100" dirty="0"/>
          </a:p>
        </p:txBody>
      </p:sp>
      <p:sp>
        <p:nvSpPr>
          <p:cNvPr id="16" name="Shape 14"/>
          <p:cNvSpPr/>
          <p:nvPr/>
        </p:nvSpPr>
        <p:spPr>
          <a:xfrm>
            <a:off x="457200" y="4206240"/>
            <a:ext cx="164592" cy="164592"/>
          </a:xfrm>
          <a:prstGeom prst="ellipse">
            <a:avLst/>
          </a:prstGeom>
          <a:solidFill>
            <a:srgbClr val="4D0F96"/>
          </a:solidFill>
          <a:ln/>
        </p:spPr>
      </p:sp>
      <p:sp>
        <p:nvSpPr>
          <p:cNvPr id="17" name="Text 15"/>
          <p:cNvSpPr/>
          <p:nvPr/>
        </p:nvSpPr>
        <p:spPr>
          <a:xfrm>
            <a:off x="777240" y="4114800"/>
            <a:ext cx="59436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Transferencia técnica iniciada</a:t>
            </a:r>
            <a:endParaRPr lang="en-US" sz="1400" dirty="0"/>
          </a:p>
        </p:txBody>
      </p:sp>
      <p:sp>
        <p:nvSpPr>
          <p:cNvPr id="18" name="Text 16"/>
          <p:cNvSpPr/>
          <p:nvPr/>
        </p:nvSpPr>
        <p:spPr>
          <a:xfrm>
            <a:off x="777240" y="4407408"/>
            <a:ext cx="5943600" cy="50292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Equipos de portfolio companies capacitados; adaptación a normativa chilena en curso.</a:t>
            </a:r>
            <a:endParaRPr lang="en-US" sz="1100" dirty="0"/>
          </a:p>
        </p:txBody>
      </p:sp>
      <p:sp>
        <p:nvSpPr>
          <p:cNvPr id="19" name="Shape 17"/>
          <p:cNvSpPr/>
          <p:nvPr/>
        </p:nvSpPr>
        <p:spPr>
          <a:xfrm>
            <a:off x="457200" y="4983480"/>
            <a:ext cx="164592" cy="164592"/>
          </a:xfrm>
          <a:prstGeom prst="ellipse">
            <a:avLst/>
          </a:prstGeom>
          <a:solidFill>
            <a:srgbClr val="4D0F96"/>
          </a:solidFill>
          <a:ln/>
        </p:spPr>
      </p:sp>
      <p:sp>
        <p:nvSpPr>
          <p:cNvPr id="20" name="Text 18"/>
          <p:cNvSpPr/>
          <p:nvPr/>
        </p:nvSpPr>
        <p:spPr>
          <a:xfrm>
            <a:off x="777240" y="4892040"/>
            <a:ext cx="59436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Soporte continuo asegurado</a:t>
            </a:r>
            <a:endParaRPr lang="en-US" sz="1400" dirty="0"/>
          </a:p>
        </p:txBody>
      </p:sp>
      <p:sp>
        <p:nvSpPr>
          <p:cNvPr id="21" name="Text 19"/>
          <p:cNvSpPr/>
          <p:nvPr/>
        </p:nvSpPr>
        <p:spPr>
          <a:xfrm>
            <a:off x="777240" y="5184648"/>
            <a:ext cx="5943600" cy="50292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Acceso a actualizaciones y back-office del titular tecnológico original.</a:t>
            </a:r>
            <a:endParaRPr lang="en-US" sz="1100" dirty="0"/>
          </a:p>
        </p:txBody>
      </p:sp>
      <p:sp>
        <p:nvSpPr>
          <p:cNvPr id="22" name="Shape 20"/>
          <p:cNvSpPr/>
          <p:nvPr/>
        </p:nvSpPr>
        <p:spPr>
          <a:xfrm>
            <a:off x="7589520" y="2103120"/>
            <a:ext cx="4114800" cy="4023360"/>
          </a:xfrm>
          <a:prstGeom prst="roundRect">
            <a:avLst>
              <a:gd name="adj" fmla="val 6000"/>
            </a:avLst>
          </a:prstGeom>
          <a:solidFill>
            <a:srgbClr val="4D0F96"/>
          </a:solidFill>
          <a:ln/>
        </p:spPr>
      </p:sp>
      <p:sp>
        <p:nvSpPr>
          <p:cNvPr id="23" name="Text 21"/>
          <p:cNvSpPr/>
          <p:nvPr/>
        </p:nvSpPr>
        <p:spPr>
          <a:xfrm>
            <a:off x="7818120" y="2331720"/>
            <a:ext cx="3657600" cy="274320"/>
          </a:xfrm>
          <a:prstGeom prst="rect">
            <a:avLst/>
          </a:prstGeom>
          <a:noFill/>
          <a:ln/>
        </p:spPr>
        <p:txBody>
          <a:bodyPr wrap="square" rtlCol="0" anchor="ctr"/>
          <a:lstStyle/>
          <a:p>
            <a:pPr marL="0" indent="0">
              <a:buNone/>
            </a:pPr>
            <a:r>
              <a:rPr lang="en-US" sz="1000" b="1" kern="0" spc="300" dirty="0">
                <a:solidFill>
                  <a:srgbClr val="C4B5FD"/>
                </a:solidFill>
                <a:latin typeface="Helvetica" pitchFamily="34" charset="0"/>
                <a:ea typeface="Helvetica" pitchFamily="34" charset="-122"/>
                <a:cs typeface="Helvetica" pitchFamily="34" charset="-120"/>
              </a:rPr>
              <a:t>VENTAJA COMPETITIVA</a:t>
            </a:r>
            <a:endParaRPr lang="en-US" sz="1000" dirty="0"/>
          </a:p>
        </p:txBody>
      </p:sp>
      <p:sp>
        <p:nvSpPr>
          <p:cNvPr id="24" name="Text 22"/>
          <p:cNvSpPr/>
          <p:nvPr/>
        </p:nvSpPr>
        <p:spPr>
          <a:xfrm>
            <a:off x="7818120" y="2697480"/>
            <a:ext cx="3657600" cy="1188720"/>
          </a:xfrm>
          <a:prstGeom prst="rect">
            <a:avLst/>
          </a:prstGeom>
          <a:noFill/>
          <a:ln/>
        </p:spPr>
        <p:txBody>
          <a:bodyPr wrap="square" rtlCol="0" anchor="ctr"/>
          <a:lstStyle/>
          <a:p>
            <a:pPr marL="0" indent="0">
              <a:buNone/>
            </a:pPr>
            <a:r>
              <a:rPr lang="en-US" sz="2400" b="1" dirty="0">
                <a:solidFill>
                  <a:srgbClr val="FFFFFF"/>
                </a:solidFill>
                <a:latin typeface="Helvetica" pitchFamily="34" charset="0"/>
                <a:ea typeface="Helvetica" pitchFamily="34" charset="-122"/>
                <a:cs typeface="Helvetica" pitchFamily="34" charset="-120"/>
              </a:rPr>
              <a:t>Posicionamiento</a:t>
            </a:r>
            <a:endParaRPr lang="en-US" sz="2400" dirty="0"/>
          </a:p>
          <a:p>
            <a:pPr marL="0" indent="0">
              <a:buNone/>
            </a:pPr>
            <a:r>
              <a:rPr lang="en-US" sz="2400" b="1" dirty="0">
                <a:solidFill>
                  <a:srgbClr val="FFFFFF"/>
                </a:solidFill>
                <a:latin typeface="Helvetica" pitchFamily="34" charset="0"/>
                <a:ea typeface="Helvetica" pitchFamily="34" charset="-122"/>
                <a:cs typeface="Helvetica" pitchFamily="34" charset="-120"/>
              </a:rPr>
              <a:t>único en LATAM</a:t>
            </a:r>
            <a:endParaRPr lang="en-US" sz="2400" dirty="0"/>
          </a:p>
        </p:txBody>
      </p:sp>
      <p:sp>
        <p:nvSpPr>
          <p:cNvPr id="25" name="Shape 23"/>
          <p:cNvSpPr/>
          <p:nvPr/>
        </p:nvSpPr>
        <p:spPr>
          <a:xfrm>
            <a:off x="7818120" y="4023360"/>
            <a:ext cx="731520" cy="0"/>
          </a:xfrm>
          <a:prstGeom prst="line">
            <a:avLst/>
          </a:prstGeom>
          <a:noFill/>
          <a:ln w="25400">
            <a:solidFill>
              <a:srgbClr val="823DBC"/>
            </a:solidFill>
            <a:prstDash val="solid"/>
          </a:ln>
        </p:spPr>
      </p:sp>
      <p:sp>
        <p:nvSpPr>
          <p:cNvPr id="26" name="Text 24"/>
          <p:cNvSpPr/>
          <p:nvPr/>
        </p:nvSpPr>
        <p:spPr>
          <a:xfrm>
            <a:off x="7818120" y="4206240"/>
            <a:ext cx="3657600" cy="1828800"/>
          </a:xfrm>
          <a:prstGeom prst="rect">
            <a:avLst/>
          </a:prstGeom>
          <a:noFill/>
          <a:ln/>
        </p:spPr>
        <p:txBody>
          <a:bodyPr wrap="square" rtlCol="0" anchor="ctr"/>
          <a:lstStyle/>
          <a:p>
            <a:pPr marL="0" indent="0">
              <a:buNone/>
            </a:pPr>
            <a:r>
              <a:rPr lang="en-US" sz="1200" dirty="0">
                <a:solidFill>
                  <a:srgbClr val="FFFFFF"/>
                </a:solidFill>
                <a:latin typeface="Helvetica" pitchFamily="34" charset="0"/>
                <a:ea typeface="Helvetica" pitchFamily="34" charset="-122"/>
                <a:cs typeface="Helvetica" pitchFamily="34" charset="-120"/>
              </a:rPr>
              <a:t>La exclusividad territorial convierte a las portfolio companies en referentes únicos en sus segmentos, creando una barrera defensiva frente a competidores que intenten replicar el modelo.</a:t>
            </a:r>
            <a:endParaRPr lang="en-US" sz="1200" dirty="0"/>
          </a:p>
        </p:txBody>
      </p:sp>
      <p:sp>
        <p:nvSpPr>
          <p:cNvPr id="27" name="Shape 25"/>
          <p:cNvSpPr/>
          <p:nvPr/>
        </p:nvSpPr>
        <p:spPr>
          <a:xfrm>
            <a:off x="457200" y="6492240"/>
            <a:ext cx="11274552" cy="0"/>
          </a:xfrm>
          <a:prstGeom prst="line">
            <a:avLst/>
          </a:prstGeom>
          <a:noFill/>
          <a:ln w="6350">
            <a:solidFill>
              <a:srgbClr val="D2D2D7"/>
            </a:solidFill>
            <a:prstDash val="solid"/>
          </a:ln>
        </p:spPr>
      </p:sp>
      <p:sp>
        <p:nvSpPr>
          <p:cNvPr id="28" name="Text 26"/>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29" name="Text 27"/>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push dir="l"/>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27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05 — 18</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PILLAR 2 · Avances 2025</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Obtención de subsidios estatales y financiamiento</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Text 7"/>
          <p:cNvSpPr/>
          <p:nvPr/>
        </p:nvSpPr>
        <p:spPr>
          <a:xfrm>
            <a:off x="457200" y="2103120"/>
            <a:ext cx="10972800" cy="365760"/>
          </a:xfrm>
          <a:prstGeom prst="rect">
            <a:avLst/>
          </a:prstGeom>
          <a:noFill/>
          <a:ln/>
        </p:spPr>
        <p:txBody>
          <a:bodyPr wrap="square" rtlCol="0" anchor="ctr"/>
          <a:lstStyle/>
          <a:p>
            <a:pPr marL="0" indent="0">
              <a:buNone/>
            </a:pPr>
            <a:r>
              <a:rPr lang="en-US" sz="1600" b="1" dirty="0">
                <a:solidFill>
                  <a:srgbClr val="4D0F96"/>
                </a:solidFill>
                <a:latin typeface="Helvetica" pitchFamily="34" charset="0"/>
                <a:ea typeface="Helvetica" pitchFamily="34" charset="-122"/>
                <a:cs typeface="Helvetica" pitchFamily="34" charset="-120"/>
              </a:rPr>
              <a:t>Articulación con el Estado</a:t>
            </a:r>
            <a:endParaRPr lang="en-US" sz="1600" dirty="0"/>
          </a:p>
        </p:txBody>
      </p:sp>
      <p:sp>
        <p:nvSpPr>
          <p:cNvPr id="100" name="Shape 100"/>
          <p:cNvSpPr/>
          <p:nvPr/>
        </p:nvSpPr>
        <p:spPr>
          <a:xfrm>
            <a:off x="457200" y="2606040"/>
            <a:ext cx="5577840" cy="1645920"/>
          </a:xfrm>
          <a:prstGeom prst="roundRect">
            <a:avLst>
              <a:gd name="adj" fmla="val 3333"/>
            </a:avLst>
          </a:prstGeom>
          <a:solidFill>
            <a:srgbClr val="F5F3FE"/>
          </a:solidFill>
          <a:ln/>
        </p:spPr>
      </p:sp>
      <p:sp>
        <p:nvSpPr>
          <p:cNvPr id="101" name="Shape 101"/>
          <p:cNvSpPr/>
          <p:nvPr/>
        </p:nvSpPr>
        <p:spPr>
          <a:xfrm>
            <a:off x="457200" y="2606040"/>
            <a:ext cx="45720" cy="1645920"/>
          </a:xfrm>
          <a:prstGeom prst="rect">
            <a:avLst/>
          </a:prstGeom>
          <a:solidFill>
            <a:srgbClr val="4D0F96"/>
          </a:solidFill>
          <a:ln/>
        </p:spPr>
      </p:sp>
      <p:sp>
        <p:nvSpPr>
          <p:cNvPr id="102" name="Text 102"/>
          <p:cNvSpPr/>
          <p:nvPr/>
        </p:nvSpPr>
        <p:spPr>
          <a:xfrm>
            <a:off x="731520" y="2743200"/>
            <a:ext cx="5029200" cy="228600"/>
          </a:xfrm>
          <a:prstGeom prst="rect">
            <a:avLst/>
          </a:prstGeom>
          <a:noFill/>
          <a:ln/>
        </p:spPr>
        <p:txBody>
          <a:bodyPr wrap="square" rtlCol="0" anchor="t"/>
          <a:lstStyle/>
          <a:p>
            <a:pPr marL="0" indent="0">
              <a:buNone/>
            </a:pPr>
            <a:r>
              <a:rPr lang="en-US" sz="1000" b="1" spc="400" dirty="0">
                <a:solidFill>
                  <a:srgbClr val="4D0F96"/>
                </a:solidFill>
                <a:latin typeface="Helvetica" pitchFamily="34" charset="0"/>
                <a:ea typeface="Helvetica" pitchFamily="34" charset="-122"/>
                <a:cs typeface="Helvetica" pitchFamily="34" charset="-120"/>
              </a:rPr>
              <a:t>CORFO</a:t>
            </a:r>
            <a:endParaRPr lang="en-US" sz="1000" dirty="0"/>
          </a:p>
        </p:txBody>
      </p:sp>
      <p:sp>
        <p:nvSpPr>
          <p:cNvPr id="103" name="Text 103"/>
          <p:cNvSpPr/>
          <p:nvPr/>
        </p:nvSpPr>
        <p:spPr>
          <a:xfrm>
            <a:off x="731520" y="2971800"/>
            <a:ext cx="5029200" cy="411480"/>
          </a:xfrm>
          <a:prstGeom prst="rect">
            <a:avLst/>
          </a:prstGeom>
          <a:noFill/>
          <a:ln/>
        </p:spPr>
        <p:txBody>
          <a:bodyPr wrap="square" rtlCol="0" anchor="t"/>
          <a:lstStyle/>
          <a:p>
            <a:pPr marL="0" indent="0">
              <a:buNone/>
            </a:pPr>
            <a:r>
              <a:rPr lang="en-US" sz="2200" b="1" dirty="0">
                <a:solidFill>
                  <a:srgbClr val="1D1D1F"/>
                </a:solidFill>
                <a:latin typeface="Helvetica" pitchFamily="34" charset="0"/>
                <a:ea typeface="Helvetica" pitchFamily="34" charset="-122"/>
                <a:cs typeface="Helvetica" pitchFamily="34" charset="-120"/>
              </a:rPr>
              <a:t>Programas Tecnológicos</a:t>
            </a:r>
            <a:endParaRPr lang="en-US" sz="2200" dirty="0"/>
          </a:p>
        </p:txBody>
      </p:sp>
      <p:sp>
        <p:nvSpPr>
          <p:cNvPr id="110" name="Shape 110"/>
          <p:cNvSpPr/>
          <p:nvPr/>
        </p:nvSpPr>
        <p:spPr>
          <a:xfrm>
            <a:off x="731520" y="3474720"/>
            <a:ext cx="2560320" cy="320040"/>
          </a:xfrm>
          <a:prstGeom prst="roundRect">
            <a:avLst>
              <a:gd name="adj" fmla="val 50000"/>
            </a:avLst>
          </a:prstGeom>
          <a:solidFill>
            <a:srgbClr val="D1FAE5"/>
          </a:solidFill>
          <a:ln/>
        </p:spPr>
      </p:sp>
      <p:sp>
        <p:nvSpPr>
          <p:cNvPr id="111" name="Text 111"/>
          <p:cNvSpPr/>
          <p:nvPr/>
        </p:nvSpPr>
        <p:spPr>
          <a:xfrm>
            <a:off x="731520" y="3474720"/>
            <a:ext cx="2560320" cy="320040"/>
          </a:xfrm>
          <a:prstGeom prst="rect">
            <a:avLst/>
          </a:prstGeom>
          <a:noFill/>
          <a:ln/>
        </p:spPr>
        <p:txBody>
          <a:bodyPr wrap="square" rtlCol="0" anchor="ctr"/>
          <a:lstStyle/>
          <a:p>
            <a:pPr marL="0" indent="0" algn="ctr">
              <a:buNone/>
            </a:pPr>
            <a:r>
              <a:rPr lang="en-US" sz="900" b="1" spc="200" dirty="0">
                <a:solidFill>
                  <a:srgbClr val="065F46"/>
                </a:solidFill>
                <a:latin typeface="Helvetica" pitchFamily="34" charset="0"/>
                <a:ea typeface="Helvetica" pitchFamily="34" charset="-122"/>
                <a:cs typeface="Helvetica" pitchFamily="34" charset="-120"/>
              </a:rPr>
              <a:t>2 SUBSIDIOS ADJUDICADOS</a:t>
            </a:r>
            <a:endParaRPr lang="en-US" sz="900" dirty="0"/>
          </a:p>
        </p:txBody>
      </p:sp>
      <p:sp>
        <p:nvSpPr>
          <p:cNvPr id="120" name="Shape 120"/>
          <p:cNvSpPr/>
          <p:nvPr/>
        </p:nvSpPr>
        <p:spPr>
          <a:xfrm>
            <a:off x="731520" y="3840480"/>
            <a:ext cx="2446020" cy="274320"/>
          </a:xfrm>
          <a:prstGeom prst="roundRect">
            <a:avLst>
              <a:gd name="adj" fmla="val 3333"/>
            </a:avLst>
          </a:prstGeom>
          <a:solidFill>
            <a:srgbClr val="FFFFFF"/>
          </a:solidFill>
          <a:ln w="6350">
            <a:solidFill>
              <a:srgbClr val="DCD6F2"/>
            </a:solidFill>
            <a:prstDash val="solid"/>
          </a:ln>
        </p:spPr>
      </p:sp>
      <p:sp>
        <p:nvSpPr>
          <p:cNvPr id="121" name="Shape 121"/>
          <p:cNvSpPr/>
          <p:nvPr/>
        </p:nvSpPr>
        <p:spPr>
          <a:xfrm>
            <a:off x="868680" y="3922776"/>
            <a:ext cx="109728" cy="109728"/>
          </a:xfrm>
          <a:prstGeom prst="ellipse">
            <a:avLst/>
          </a:prstGeom>
          <a:solidFill>
            <a:srgbClr val="10A37F"/>
          </a:solidFill>
          <a:ln/>
        </p:spPr>
      </p:sp>
      <p:sp>
        <p:nvSpPr>
          <p:cNvPr id="122" name="Text 122"/>
          <p:cNvSpPr/>
          <p:nvPr/>
        </p:nvSpPr>
        <p:spPr>
          <a:xfrm>
            <a:off x="1069848" y="3840480"/>
            <a:ext cx="1970532"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Trongkai</a:t>
            </a:r>
            <a:endParaRPr lang="en-US" sz="1300" dirty="0"/>
          </a:p>
        </p:txBody>
      </p:sp>
      <p:sp>
        <p:nvSpPr>
          <p:cNvPr id="130" name="Shape 130"/>
          <p:cNvSpPr/>
          <p:nvPr/>
        </p:nvSpPr>
        <p:spPr>
          <a:xfrm>
            <a:off x="3314700" y="3840480"/>
            <a:ext cx="2446020" cy="274320"/>
          </a:xfrm>
          <a:prstGeom prst="roundRect">
            <a:avLst>
              <a:gd name="adj" fmla="val 3333"/>
            </a:avLst>
          </a:prstGeom>
          <a:solidFill>
            <a:srgbClr val="FFFFFF"/>
          </a:solidFill>
          <a:ln w="6350">
            <a:solidFill>
              <a:srgbClr val="DCD6F2"/>
            </a:solidFill>
            <a:prstDash val="solid"/>
          </a:ln>
        </p:spPr>
      </p:sp>
      <p:sp>
        <p:nvSpPr>
          <p:cNvPr id="131" name="Shape 131"/>
          <p:cNvSpPr/>
          <p:nvPr/>
        </p:nvSpPr>
        <p:spPr>
          <a:xfrm>
            <a:off x="3451860" y="3922776"/>
            <a:ext cx="109728" cy="109728"/>
          </a:xfrm>
          <a:prstGeom prst="ellipse">
            <a:avLst/>
          </a:prstGeom>
          <a:solidFill>
            <a:srgbClr val="10A37F"/>
          </a:solidFill>
          <a:ln/>
        </p:spPr>
      </p:sp>
      <p:sp>
        <p:nvSpPr>
          <p:cNvPr id="132" name="Text 132"/>
          <p:cNvSpPr/>
          <p:nvPr/>
        </p:nvSpPr>
        <p:spPr>
          <a:xfrm>
            <a:off x="3653028" y="3840480"/>
            <a:ext cx="1970532"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Revtech</a:t>
            </a:r>
            <a:endParaRPr lang="en-US" sz="1300" dirty="0"/>
          </a:p>
        </p:txBody>
      </p:sp>
      <p:sp>
        <p:nvSpPr>
          <p:cNvPr id="200" name="Shape 200"/>
          <p:cNvSpPr/>
          <p:nvPr/>
        </p:nvSpPr>
        <p:spPr>
          <a:xfrm>
            <a:off x="6217920" y="2606040"/>
            <a:ext cx="5577840" cy="1645920"/>
          </a:xfrm>
          <a:prstGeom prst="roundRect">
            <a:avLst>
              <a:gd name="adj" fmla="val 3333"/>
            </a:avLst>
          </a:prstGeom>
          <a:solidFill>
            <a:srgbClr val="FAFAFB"/>
          </a:solidFill>
          <a:ln/>
        </p:spPr>
      </p:sp>
      <p:sp>
        <p:nvSpPr>
          <p:cNvPr id="201" name="Shape 201"/>
          <p:cNvSpPr/>
          <p:nvPr/>
        </p:nvSpPr>
        <p:spPr>
          <a:xfrm>
            <a:off x="6217920" y="2606040"/>
            <a:ext cx="45720" cy="1645920"/>
          </a:xfrm>
          <a:prstGeom prst="rect">
            <a:avLst/>
          </a:prstGeom>
          <a:solidFill>
            <a:srgbClr val="D97706"/>
          </a:solidFill>
          <a:ln/>
        </p:spPr>
      </p:sp>
      <p:sp>
        <p:nvSpPr>
          <p:cNvPr id="202" name="Text 202"/>
          <p:cNvSpPr/>
          <p:nvPr/>
        </p:nvSpPr>
        <p:spPr>
          <a:xfrm>
            <a:off x="6492240" y="2743200"/>
            <a:ext cx="5029200" cy="228600"/>
          </a:xfrm>
          <a:prstGeom prst="rect">
            <a:avLst/>
          </a:prstGeom>
          <a:noFill/>
          <a:ln/>
        </p:spPr>
        <p:txBody>
          <a:bodyPr wrap="square" rtlCol="0" anchor="t"/>
          <a:lstStyle/>
          <a:p>
            <a:pPr marL="0" indent="0">
              <a:buNone/>
            </a:pPr>
            <a:r>
              <a:rPr lang="en-US" sz="1000" b="1" spc="400" dirty="0">
                <a:solidFill>
                  <a:srgbClr val="4D0F96"/>
                </a:solidFill>
                <a:latin typeface="Helvetica" pitchFamily="34" charset="0"/>
                <a:ea typeface="Helvetica" pitchFamily="34" charset="-122"/>
                <a:cs typeface="Helvetica" pitchFamily="34" charset="-120"/>
              </a:rPr>
              <a:t>SERVIU</a:t>
            </a:r>
            <a:endParaRPr lang="en-US" sz="1000" dirty="0"/>
          </a:p>
        </p:txBody>
      </p:sp>
      <p:sp>
        <p:nvSpPr>
          <p:cNvPr id="203" name="Text 203"/>
          <p:cNvSpPr/>
          <p:nvPr/>
        </p:nvSpPr>
        <p:spPr>
          <a:xfrm>
            <a:off x="6492240" y="2971800"/>
            <a:ext cx="5029200" cy="411480"/>
          </a:xfrm>
          <a:prstGeom prst="rect">
            <a:avLst/>
          </a:prstGeom>
          <a:noFill/>
          <a:ln/>
        </p:spPr>
        <p:txBody>
          <a:bodyPr wrap="square" rtlCol="0" anchor="t"/>
          <a:lstStyle/>
          <a:p>
            <a:pPr marL="0" indent="0">
              <a:buNone/>
            </a:pPr>
            <a:r>
              <a:rPr lang="en-US" sz="2200" b="1" dirty="0">
                <a:solidFill>
                  <a:srgbClr val="1D1D1F"/>
                </a:solidFill>
                <a:latin typeface="Helvetica" pitchFamily="34" charset="0"/>
                <a:ea typeface="Helvetica" pitchFamily="34" charset="-122"/>
                <a:cs typeface="Helvetica" pitchFamily="34" charset="-120"/>
              </a:rPr>
              <a:t>Viviendas Sociales</a:t>
            </a:r>
            <a:endParaRPr lang="en-US" sz="2200" dirty="0"/>
          </a:p>
        </p:txBody>
      </p:sp>
      <p:sp>
        <p:nvSpPr>
          <p:cNvPr id="210" name="Shape 210"/>
          <p:cNvSpPr/>
          <p:nvPr/>
        </p:nvSpPr>
        <p:spPr>
          <a:xfrm>
            <a:off x="6492240" y="3474720"/>
            <a:ext cx="2560320" cy="320040"/>
          </a:xfrm>
          <a:prstGeom prst="roundRect">
            <a:avLst>
              <a:gd name="adj" fmla="val 50000"/>
            </a:avLst>
          </a:prstGeom>
          <a:solidFill>
            <a:srgbClr val="FEF3C7"/>
          </a:solidFill>
          <a:ln/>
        </p:spPr>
      </p:sp>
      <p:sp>
        <p:nvSpPr>
          <p:cNvPr id="211" name="Text 211"/>
          <p:cNvSpPr/>
          <p:nvPr/>
        </p:nvSpPr>
        <p:spPr>
          <a:xfrm>
            <a:off x="6492240" y="3474720"/>
            <a:ext cx="2560320" cy="320040"/>
          </a:xfrm>
          <a:prstGeom prst="rect">
            <a:avLst/>
          </a:prstGeom>
          <a:noFill/>
          <a:ln/>
        </p:spPr>
        <p:txBody>
          <a:bodyPr wrap="square" rtlCol="0" anchor="ctr"/>
          <a:lstStyle/>
          <a:p>
            <a:pPr marL="0" indent="0" algn="ctr">
              <a:buNone/>
            </a:pPr>
            <a:r>
              <a:rPr lang="en-US" sz="900" b="1" spc="200" dirty="0">
                <a:solidFill>
                  <a:srgbClr val="92400E"/>
                </a:solidFill>
                <a:latin typeface="Helvetica" pitchFamily="34" charset="0"/>
                <a:ea typeface="Helvetica" pitchFamily="34" charset="-122"/>
                <a:cs typeface="Helvetica" pitchFamily="34" charset="-120"/>
              </a:rPr>
              <a:t>EN POSTULACIÓN</a:t>
            </a:r>
            <a:endParaRPr lang="en-US" sz="900" dirty="0"/>
          </a:p>
        </p:txBody>
      </p:sp>
      <p:sp>
        <p:nvSpPr>
          <p:cNvPr id="220" name="Shape 220"/>
          <p:cNvSpPr/>
          <p:nvPr/>
        </p:nvSpPr>
        <p:spPr>
          <a:xfrm>
            <a:off x="6492240" y="3840480"/>
            <a:ext cx="5029200" cy="274320"/>
          </a:xfrm>
          <a:prstGeom prst="roundRect">
            <a:avLst>
              <a:gd name="adj" fmla="val 3333"/>
            </a:avLst>
          </a:prstGeom>
          <a:solidFill>
            <a:srgbClr val="FFFFFF"/>
          </a:solidFill>
          <a:ln w="6350">
            <a:solidFill>
              <a:srgbClr val="DCD6F2"/>
            </a:solidFill>
            <a:prstDash val="solid"/>
          </a:ln>
        </p:spPr>
      </p:sp>
      <p:sp>
        <p:nvSpPr>
          <p:cNvPr id="221" name="Shape 221"/>
          <p:cNvSpPr/>
          <p:nvPr/>
        </p:nvSpPr>
        <p:spPr>
          <a:xfrm>
            <a:off x="6629400" y="3922776"/>
            <a:ext cx="109728" cy="109728"/>
          </a:xfrm>
          <a:prstGeom prst="ellipse">
            <a:avLst/>
          </a:prstGeom>
          <a:solidFill>
            <a:srgbClr val="D97706"/>
          </a:solidFill>
          <a:ln/>
        </p:spPr>
      </p:sp>
      <p:sp>
        <p:nvSpPr>
          <p:cNvPr id="222" name="Text 222"/>
          <p:cNvSpPr/>
          <p:nvPr/>
        </p:nvSpPr>
        <p:spPr>
          <a:xfrm>
            <a:off x="6830568" y="3840480"/>
            <a:ext cx="4553712"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DTE</a:t>
            </a:r>
            <a:endParaRPr lang="en-US" sz="1300" dirty="0"/>
          </a:p>
        </p:txBody>
      </p:sp>
      <p:sp>
        <p:nvSpPr>
          <p:cNvPr id="26" name="Shape 24"/>
          <p:cNvSpPr/>
          <p:nvPr/>
        </p:nvSpPr>
        <p:spPr>
          <a:xfrm>
            <a:off x="457200" y="4297680"/>
            <a:ext cx="11274552" cy="0"/>
          </a:xfrm>
          <a:prstGeom prst="line">
            <a:avLst/>
          </a:prstGeom>
          <a:noFill/>
          <a:ln w="6350">
            <a:solidFill>
              <a:srgbClr val="D2D2D7"/>
            </a:solidFill>
            <a:prstDash val="solid"/>
          </a:ln>
        </p:spPr>
      </p:sp>
      <p:sp>
        <p:nvSpPr>
          <p:cNvPr id="27" name="Text 25"/>
          <p:cNvSpPr/>
          <p:nvPr/>
        </p:nvSpPr>
        <p:spPr>
          <a:xfrm>
            <a:off x="457200" y="4480560"/>
            <a:ext cx="10972800" cy="365760"/>
          </a:xfrm>
          <a:prstGeom prst="rect">
            <a:avLst/>
          </a:prstGeom>
          <a:noFill/>
          <a:ln/>
        </p:spPr>
        <p:txBody>
          <a:bodyPr wrap="square" rtlCol="0" anchor="ctr"/>
          <a:lstStyle/>
          <a:p>
            <a:pPr marL="0" indent="0">
              <a:buNone/>
            </a:pPr>
            <a:r>
              <a:rPr lang="en-US" sz="1600" b="1" dirty="0">
                <a:solidFill>
                  <a:srgbClr val="4D0F96"/>
                </a:solidFill>
                <a:latin typeface="Helvetica" pitchFamily="34" charset="0"/>
                <a:ea typeface="Helvetica" pitchFamily="34" charset="-122"/>
                <a:cs typeface="Helvetica" pitchFamily="34" charset="-120"/>
              </a:rPr>
              <a:t>Impacto en la estructura financiera del Fondo</a:t>
            </a:r>
            <a:endParaRPr lang="en-US" sz="1600" dirty="0"/>
          </a:p>
        </p:txBody>
      </p:sp>
      <p:sp>
        <p:nvSpPr>
          <p:cNvPr id="28" name="Shape 26"/>
          <p:cNvSpPr/>
          <p:nvPr/>
        </p:nvSpPr>
        <p:spPr>
          <a:xfrm>
            <a:off x="457200" y="4983480"/>
            <a:ext cx="137160" cy="137160"/>
          </a:xfrm>
          <a:prstGeom prst="ellipse">
            <a:avLst/>
          </a:prstGeom>
          <a:solidFill>
            <a:srgbClr val="2C74FF"/>
          </a:solidFill>
          <a:ln/>
        </p:spPr>
      </p:sp>
      <p:sp>
        <p:nvSpPr>
          <p:cNvPr id="29" name="Text 27"/>
          <p:cNvSpPr/>
          <p:nvPr/>
        </p:nvSpPr>
        <p:spPr>
          <a:xfrm>
            <a:off x="731520" y="4892040"/>
            <a:ext cx="3474720" cy="36576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Reducción del costo de capital</a:t>
            </a:r>
            <a:endParaRPr lang="en-US" sz="1300" dirty="0"/>
          </a:p>
        </p:txBody>
      </p:sp>
      <p:sp>
        <p:nvSpPr>
          <p:cNvPr id="30" name="Text 28"/>
          <p:cNvSpPr/>
          <p:nvPr/>
        </p:nvSpPr>
        <p:spPr>
          <a:xfrm>
            <a:off x="731520" y="5257800"/>
            <a:ext cx="3474720" cy="109728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Recursos no dilutivos que no comprometen participación accionaria del Fondo.</a:t>
            </a:r>
            <a:endParaRPr lang="en-US" sz="1100" dirty="0"/>
          </a:p>
        </p:txBody>
      </p:sp>
      <p:sp>
        <p:nvSpPr>
          <p:cNvPr id="31" name="Shape 29"/>
          <p:cNvSpPr/>
          <p:nvPr/>
        </p:nvSpPr>
        <p:spPr>
          <a:xfrm>
            <a:off x="4297680" y="4983480"/>
            <a:ext cx="137160" cy="137160"/>
          </a:xfrm>
          <a:prstGeom prst="ellipse">
            <a:avLst/>
          </a:prstGeom>
          <a:solidFill>
            <a:srgbClr val="2C74FF"/>
          </a:solidFill>
          <a:ln/>
        </p:spPr>
      </p:sp>
      <p:sp>
        <p:nvSpPr>
          <p:cNvPr id="32" name="Text 30"/>
          <p:cNvSpPr/>
          <p:nvPr/>
        </p:nvSpPr>
        <p:spPr>
          <a:xfrm>
            <a:off x="4572000" y="4892040"/>
            <a:ext cx="3474720" cy="36576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Aceleración de hitos técnicos</a:t>
            </a:r>
            <a:endParaRPr lang="en-US" sz="1300" dirty="0"/>
          </a:p>
        </p:txBody>
      </p:sp>
      <p:sp>
        <p:nvSpPr>
          <p:cNvPr id="33" name="Text 31"/>
          <p:cNvSpPr/>
          <p:nvPr/>
        </p:nvSpPr>
        <p:spPr>
          <a:xfrm>
            <a:off x="4572000" y="5257800"/>
            <a:ext cx="3474720" cy="109728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Liberación de liquidez para hitos críticos: ingeniería, permisos, pilotos.</a:t>
            </a:r>
            <a:endParaRPr lang="en-US" sz="1100" dirty="0"/>
          </a:p>
        </p:txBody>
      </p:sp>
      <p:sp>
        <p:nvSpPr>
          <p:cNvPr id="34" name="Shape 32"/>
          <p:cNvSpPr/>
          <p:nvPr/>
        </p:nvSpPr>
        <p:spPr>
          <a:xfrm>
            <a:off x="8138160" y="4983480"/>
            <a:ext cx="137160" cy="137160"/>
          </a:xfrm>
          <a:prstGeom prst="ellipse">
            <a:avLst/>
          </a:prstGeom>
          <a:solidFill>
            <a:srgbClr val="2C74FF"/>
          </a:solidFill>
          <a:ln/>
        </p:spPr>
      </p:sp>
      <p:sp>
        <p:nvSpPr>
          <p:cNvPr id="35" name="Text 33"/>
          <p:cNvSpPr/>
          <p:nvPr/>
        </p:nvSpPr>
        <p:spPr>
          <a:xfrm>
            <a:off x="8412480" y="4892040"/>
            <a:ext cx="3474720" cy="36576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Co-validación institucional</a:t>
            </a:r>
            <a:endParaRPr lang="en-US" sz="1300" dirty="0"/>
          </a:p>
        </p:txBody>
      </p:sp>
      <p:sp>
        <p:nvSpPr>
          <p:cNvPr id="36" name="Text 34"/>
          <p:cNvSpPr/>
          <p:nvPr/>
        </p:nvSpPr>
        <p:spPr>
          <a:xfrm>
            <a:off x="8412480" y="5257800"/>
            <a:ext cx="3474720" cy="109728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La adjudicación pública valida técnicamente los proyectos ante terceros.</a:t>
            </a:r>
            <a:endParaRPr lang="en-US" sz="1100" dirty="0"/>
          </a:p>
        </p:txBody>
      </p:sp>
      <p:sp>
        <p:nvSpPr>
          <p:cNvPr id="37" name="Shape 35"/>
          <p:cNvSpPr/>
          <p:nvPr/>
        </p:nvSpPr>
        <p:spPr>
          <a:xfrm>
            <a:off x="457200" y="6492240"/>
            <a:ext cx="11274552" cy="0"/>
          </a:xfrm>
          <a:prstGeom prst="line">
            <a:avLst/>
          </a:prstGeom>
          <a:noFill/>
          <a:ln w="6350">
            <a:solidFill>
              <a:srgbClr val="D2D2D7"/>
            </a:solidFill>
            <a:prstDash val="solid"/>
          </a:ln>
        </p:spPr>
      </p:sp>
      <p:sp>
        <p:nvSpPr>
          <p:cNvPr id="38" name="Text 36"/>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39" name="Text 37"/>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push dir="l"/>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27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06 — 18</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PILLAR 3 · Avances 2025</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Avance hacia Ready-to-Build</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Text 7"/>
          <p:cNvSpPr/>
          <p:nvPr/>
        </p:nvSpPr>
        <p:spPr>
          <a:xfrm>
            <a:off x="457200" y="2103120"/>
            <a:ext cx="10972800" cy="320040"/>
          </a:xfrm>
          <a:prstGeom prst="rect">
            <a:avLst/>
          </a:prstGeom>
          <a:noFill/>
          <a:ln/>
        </p:spPr>
        <p:txBody>
          <a:bodyPr wrap="square" rtlCol="0" anchor="ctr"/>
          <a:lstStyle/>
          <a:p>
            <a:pPr marL="0" indent="0">
              <a:buNone/>
            </a:pPr>
            <a:r>
              <a:rPr lang="en-US" sz="1500" b="1" dirty="0">
                <a:solidFill>
                  <a:srgbClr val="4D0F96"/>
                </a:solidFill>
                <a:latin typeface="Helvetica" pitchFamily="34" charset="0"/>
                <a:ea typeface="Helvetica" pitchFamily="34" charset="-122"/>
                <a:cs typeface="Helvetica" pitchFamily="34" charset="-120"/>
              </a:rPr>
              <a:t>¿Qué significa Ready-to-Build?</a:t>
            </a:r>
            <a:endParaRPr lang="en-US" sz="1500" dirty="0"/>
          </a:p>
        </p:txBody>
      </p:sp>
      <p:sp>
        <p:nvSpPr>
          <p:cNvPr id="10" name="Text 8"/>
          <p:cNvSpPr/>
          <p:nvPr/>
        </p:nvSpPr>
        <p:spPr>
          <a:xfrm>
            <a:off x="457200" y="2468880"/>
            <a:ext cx="11274552" cy="640080"/>
          </a:xfrm>
          <a:prstGeom prst="rect">
            <a:avLst/>
          </a:prstGeom>
          <a:noFill/>
          <a:ln/>
        </p:spPr>
        <p:txBody>
          <a:bodyPr wrap="square" rtlCol="0" anchor="ctr"/>
          <a:lstStyle/>
          <a:p>
            <a:pPr marL="0" indent="0">
              <a:buNone/>
            </a:pPr>
            <a:r>
              <a:rPr lang="en-US" sz="1300" i="1" dirty="0">
                <a:solidFill>
                  <a:srgbClr val="424245"/>
                </a:solidFill>
                <a:latin typeface="Georgia" pitchFamily="34" charset="0"/>
                <a:ea typeface="Georgia" pitchFamily="34" charset="-122"/>
                <a:cs typeface="Georgia" pitchFamily="34" charset="-120"/>
              </a:rPr>
              <a:t>Estado en que un proyecto cuenta con ingeniería de detalle aprobada, permisos ambientales y sectoriales obtenidos, terrenos asegurados y contratos clave firmados. Marca el punto de máximo valor antes de la construcción.</a:t>
            </a:r>
            <a:endParaRPr lang="en-US" sz="1300" dirty="0"/>
          </a:p>
        </p:txBody>
      </p:sp>
      <p:sp>
        <p:nvSpPr>
          <p:cNvPr id="11" name="Shape 9"/>
          <p:cNvSpPr/>
          <p:nvPr/>
        </p:nvSpPr>
        <p:spPr>
          <a:xfrm>
            <a:off x="457200" y="3291840"/>
            <a:ext cx="2560320" cy="1371600"/>
          </a:xfrm>
          <a:prstGeom prst="roundRect">
            <a:avLst>
              <a:gd name="adj" fmla="val 6000"/>
            </a:avLst>
          </a:prstGeom>
          <a:solidFill>
            <a:srgbClr val="EEEDFE"/>
          </a:solidFill>
          <a:ln/>
        </p:spPr>
      </p:sp>
      <p:sp>
        <p:nvSpPr>
          <p:cNvPr id="12" name="Text 10"/>
          <p:cNvSpPr/>
          <p:nvPr/>
        </p:nvSpPr>
        <p:spPr>
          <a:xfrm>
            <a:off x="640080" y="3383280"/>
            <a:ext cx="548640" cy="457200"/>
          </a:xfrm>
          <a:prstGeom prst="rect">
            <a:avLst/>
          </a:prstGeom>
          <a:noFill/>
          <a:ln/>
        </p:spPr>
        <p:txBody>
          <a:bodyPr wrap="square" rtlCol="0" anchor="ctr"/>
          <a:lstStyle/>
          <a:p>
            <a:pPr marL="0" indent="0">
              <a:buNone/>
            </a:pPr>
            <a:r>
              <a:rPr lang="en-US" sz="2400" b="1" dirty="0">
                <a:solidFill>
                  <a:srgbClr val="4D0F96"/>
                </a:solidFill>
                <a:latin typeface="Georgia" pitchFamily="34" charset="0"/>
                <a:ea typeface="Georgia" pitchFamily="34" charset="-122"/>
                <a:cs typeface="Georgia" pitchFamily="34" charset="-120"/>
              </a:rPr>
              <a:t>1</a:t>
            </a:r>
            <a:endParaRPr lang="en-US" sz="2400" dirty="0"/>
          </a:p>
        </p:txBody>
      </p:sp>
      <p:sp>
        <p:nvSpPr>
          <p:cNvPr id="13" name="Text 11"/>
          <p:cNvSpPr/>
          <p:nvPr/>
        </p:nvSpPr>
        <p:spPr>
          <a:xfrm>
            <a:off x="640080" y="3794760"/>
            <a:ext cx="22860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Ingeniería</a:t>
            </a:r>
            <a:endParaRPr lang="en-US" sz="1400" dirty="0"/>
          </a:p>
        </p:txBody>
      </p:sp>
      <p:sp>
        <p:nvSpPr>
          <p:cNvPr id="14" name="Text 12"/>
          <p:cNvSpPr/>
          <p:nvPr/>
        </p:nvSpPr>
        <p:spPr>
          <a:xfrm>
            <a:off x="640080" y="4114800"/>
            <a:ext cx="2286000" cy="50292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Estudios técnicos</a:t>
            </a:r>
            <a:endParaRPr lang="en-US" sz="1000" dirty="0"/>
          </a:p>
          <a:p>
            <a:pPr marL="0" indent="0">
              <a:buNone/>
            </a:pPr>
            <a:r>
              <a:rPr lang="en-US" sz="1000" dirty="0">
                <a:solidFill>
                  <a:srgbClr val="424245"/>
                </a:solidFill>
                <a:latin typeface="Helvetica" pitchFamily="34" charset="0"/>
                <a:ea typeface="Helvetica" pitchFamily="34" charset="-122"/>
                <a:cs typeface="Helvetica" pitchFamily="34" charset="-120"/>
              </a:rPr>
              <a:t>y diseño de detalle</a:t>
            </a:r>
            <a:endParaRPr lang="en-US" sz="1000" dirty="0"/>
          </a:p>
        </p:txBody>
      </p:sp>
      <p:sp>
        <p:nvSpPr>
          <p:cNvPr id="15" name="Text 13"/>
          <p:cNvSpPr/>
          <p:nvPr/>
        </p:nvSpPr>
        <p:spPr>
          <a:xfrm>
            <a:off x="3063240" y="3749040"/>
            <a:ext cx="274320" cy="457200"/>
          </a:xfrm>
          <a:prstGeom prst="rect">
            <a:avLst/>
          </a:prstGeom>
          <a:noFill/>
          <a:ln/>
        </p:spPr>
        <p:txBody>
          <a:bodyPr wrap="square" rtlCol="0" anchor="ctr"/>
          <a:lstStyle/>
          <a:p>
            <a:pPr marL="0" indent="0">
              <a:buNone/>
            </a:pPr>
            <a:r>
              <a:rPr lang="en-US" sz="2200" b="1" dirty="0">
                <a:solidFill>
                  <a:srgbClr val="823DBC"/>
                </a:solidFill>
                <a:latin typeface="Helvetica" pitchFamily="34" charset="0"/>
                <a:ea typeface="Helvetica" pitchFamily="34" charset="-122"/>
                <a:cs typeface="Helvetica" pitchFamily="34" charset="-120"/>
              </a:rPr>
              <a:t>→</a:t>
            </a:r>
            <a:endParaRPr lang="en-US" sz="2200" dirty="0"/>
          </a:p>
        </p:txBody>
      </p:sp>
      <p:sp>
        <p:nvSpPr>
          <p:cNvPr id="16" name="Shape 14"/>
          <p:cNvSpPr/>
          <p:nvPr/>
        </p:nvSpPr>
        <p:spPr>
          <a:xfrm>
            <a:off x="3383280" y="3291840"/>
            <a:ext cx="2560320" cy="1371600"/>
          </a:xfrm>
          <a:prstGeom prst="roundRect">
            <a:avLst>
              <a:gd name="adj" fmla="val 6000"/>
            </a:avLst>
          </a:prstGeom>
          <a:solidFill>
            <a:srgbClr val="EEEDFE"/>
          </a:solidFill>
          <a:ln/>
        </p:spPr>
      </p:sp>
      <p:sp>
        <p:nvSpPr>
          <p:cNvPr id="17" name="Text 15"/>
          <p:cNvSpPr/>
          <p:nvPr/>
        </p:nvSpPr>
        <p:spPr>
          <a:xfrm>
            <a:off x="3566160" y="3383280"/>
            <a:ext cx="548640" cy="457200"/>
          </a:xfrm>
          <a:prstGeom prst="rect">
            <a:avLst/>
          </a:prstGeom>
          <a:noFill/>
          <a:ln/>
        </p:spPr>
        <p:txBody>
          <a:bodyPr wrap="square" rtlCol="0" anchor="ctr"/>
          <a:lstStyle/>
          <a:p>
            <a:pPr marL="0" indent="0">
              <a:buNone/>
            </a:pPr>
            <a:r>
              <a:rPr lang="en-US" sz="2400" b="1" dirty="0">
                <a:solidFill>
                  <a:srgbClr val="4D0F96"/>
                </a:solidFill>
                <a:latin typeface="Georgia" pitchFamily="34" charset="0"/>
                <a:ea typeface="Georgia" pitchFamily="34" charset="-122"/>
                <a:cs typeface="Georgia" pitchFamily="34" charset="-120"/>
              </a:rPr>
              <a:t>2</a:t>
            </a:r>
            <a:endParaRPr lang="en-US" sz="2400" dirty="0"/>
          </a:p>
        </p:txBody>
      </p:sp>
      <p:sp>
        <p:nvSpPr>
          <p:cNvPr id="18" name="Text 16"/>
          <p:cNvSpPr/>
          <p:nvPr/>
        </p:nvSpPr>
        <p:spPr>
          <a:xfrm>
            <a:off x="3566160" y="3794760"/>
            <a:ext cx="22860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Permisos</a:t>
            </a:r>
            <a:endParaRPr lang="en-US" sz="1400" dirty="0"/>
          </a:p>
        </p:txBody>
      </p:sp>
      <p:sp>
        <p:nvSpPr>
          <p:cNvPr id="19" name="Text 17"/>
          <p:cNvSpPr/>
          <p:nvPr/>
        </p:nvSpPr>
        <p:spPr>
          <a:xfrm>
            <a:off x="3566160" y="4114800"/>
            <a:ext cx="2286000" cy="50292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Ambientales,</a:t>
            </a:r>
            <a:endParaRPr lang="en-US" sz="1000" dirty="0"/>
          </a:p>
          <a:p>
            <a:pPr marL="0" indent="0">
              <a:buNone/>
            </a:pPr>
            <a:r>
              <a:rPr lang="en-US" sz="1000" dirty="0">
                <a:solidFill>
                  <a:srgbClr val="424245"/>
                </a:solidFill>
                <a:latin typeface="Helvetica" pitchFamily="34" charset="0"/>
                <a:ea typeface="Helvetica" pitchFamily="34" charset="-122"/>
                <a:cs typeface="Helvetica" pitchFamily="34" charset="-120"/>
              </a:rPr>
              <a:t>sectoriales, eléctricos</a:t>
            </a:r>
            <a:endParaRPr lang="en-US" sz="1000" dirty="0"/>
          </a:p>
        </p:txBody>
      </p:sp>
      <p:sp>
        <p:nvSpPr>
          <p:cNvPr id="20" name="Text 18"/>
          <p:cNvSpPr/>
          <p:nvPr/>
        </p:nvSpPr>
        <p:spPr>
          <a:xfrm>
            <a:off x="5989320" y="3749040"/>
            <a:ext cx="274320" cy="457200"/>
          </a:xfrm>
          <a:prstGeom prst="rect">
            <a:avLst/>
          </a:prstGeom>
          <a:noFill/>
          <a:ln/>
        </p:spPr>
        <p:txBody>
          <a:bodyPr wrap="square" rtlCol="0" anchor="ctr"/>
          <a:lstStyle/>
          <a:p>
            <a:pPr marL="0" indent="0">
              <a:buNone/>
            </a:pPr>
            <a:r>
              <a:rPr lang="en-US" sz="2200" b="1" dirty="0">
                <a:solidFill>
                  <a:srgbClr val="823DBC"/>
                </a:solidFill>
                <a:latin typeface="Helvetica" pitchFamily="34" charset="0"/>
                <a:ea typeface="Helvetica" pitchFamily="34" charset="-122"/>
                <a:cs typeface="Helvetica" pitchFamily="34" charset="-120"/>
              </a:rPr>
              <a:t>→</a:t>
            </a:r>
            <a:endParaRPr lang="en-US" sz="2200" dirty="0"/>
          </a:p>
        </p:txBody>
      </p:sp>
      <p:sp>
        <p:nvSpPr>
          <p:cNvPr id="21" name="Shape 19"/>
          <p:cNvSpPr/>
          <p:nvPr/>
        </p:nvSpPr>
        <p:spPr>
          <a:xfrm>
            <a:off x="6309360" y="3291840"/>
            <a:ext cx="2560320" cy="1371600"/>
          </a:xfrm>
          <a:prstGeom prst="roundRect">
            <a:avLst>
              <a:gd name="adj" fmla="val 6000"/>
            </a:avLst>
          </a:prstGeom>
          <a:solidFill>
            <a:srgbClr val="EEEDFE"/>
          </a:solidFill>
          <a:ln/>
        </p:spPr>
      </p:sp>
      <p:sp>
        <p:nvSpPr>
          <p:cNvPr id="22" name="Text 20"/>
          <p:cNvSpPr/>
          <p:nvPr/>
        </p:nvSpPr>
        <p:spPr>
          <a:xfrm>
            <a:off x="6492240" y="3383280"/>
            <a:ext cx="548640" cy="457200"/>
          </a:xfrm>
          <a:prstGeom prst="rect">
            <a:avLst/>
          </a:prstGeom>
          <a:noFill/>
          <a:ln/>
        </p:spPr>
        <p:txBody>
          <a:bodyPr wrap="square" rtlCol="0" anchor="ctr"/>
          <a:lstStyle/>
          <a:p>
            <a:pPr marL="0" indent="0">
              <a:buNone/>
            </a:pPr>
            <a:r>
              <a:rPr lang="en-US" sz="2400" b="1" dirty="0">
                <a:solidFill>
                  <a:srgbClr val="4D0F96"/>
                </a:solidFill>
                <a:latin typeface="Georgia" pitchFamily="34" charset="0"/>
                <a:ea typeface="Georgia" pitchFamily="34" charset="-122"/>
                <a:cs typeface="Georgia" pitchFamily="34" charset="-120"/>
              </a:rPr>
              <a:t>3</a:t>
            </a:r>
            <a:endParaRPr lang="en-US" sz="2400" dirty="0"/>
          </a:p>
        </p:txBody>
      </p:sp>
      <p:sp>
        <p:nvSpPr>
          <p:cNvPr id="23" name="Text 21"/>
          <p:cNvSpPr/>
          <p:nvPr/>
        </p:nvSpPr>
        <p:spPr>
          <a:xfrm>
            <a:off x="6492240" y="3794760"/>
            <a:ext cx="22860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Terrenos</a:t>
            </a:r>
            <a:endParaRPr lang="en-US" sz="1400" dirty="0"/>
          </a:p>
        </p:txBody>
      </p:sp>
      <p:sp>
        <p:nvSpPr>
          <p:cNvPr id="24" name="Text 22"/>
          <p:cNvSpPr/>
          <p:nvPr/>
        </p:nvSpPr>
        <p:spPr>
          <a:xfrm>
            <a:off x="6492240" y="4114800"/>
            <a:ext cx="2286000" cy="50292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Promesas firmadas,</a:t>
            </a:r>
            <a:endParaRPr lang="en-US" sz="1000" dirty="0"/>
          </a:p>
          <a:p>
            <a:pPr marL="0" indent="0">
              <a:buNone/>
            </a:pPr>
            <a:r>
              <a:rPr lang="en-US" sz="1000" dirty="0">
                <a:solidFill>
                  <a:srgbClr val="424245"/>
                </a:solidFill>
                <a:latin typeface="Helvetica" pitchFamily="34" charset="0"/>
                <a:ea typeface="Helvetica" pitchFamily="34" charset="-122"/>
                <a:cs typeface="Helvetica" pitchFamily="34" charset="-120"/>
              </a:rPr>
              <a:t>servidumbres</a:t>
            </a:r>
            <a:endParaRPr lang="en-US" sz="1000" dirty="0"/>
          </a:p>
        </p:txBody>
      </p:sp>
      <p:sp>
        <p:nvSpPr>
          <p:cNvPr id="25" name="Text 23"/>
          <p:cNvSpPr/>
          <p:nvPr/>
        </p:nvSpPr>
        <p:spPr>
          <a:xfrm>
            <a:off x="8915400" y="3749040"/>
            <a:ext cx="274320" cy="457200"/>
          </a:xfrm>
          <a:prstGeom prst="rect">
            <a:avLst/>
          </a:prstGeom>
          <a:noFill/>
          <a:ln/>
        </p:spPr>
        <p:txBody>
          <a:bodyPr wrap="square" rtlCol="0" anchor="ctr"/>
          <a:lstStyle/>
          <a:p>
            <a:pPr marL="0" indent="0">
              <a:buNone/>
            </a:pPr>
            <a:r>
              <a:rPr lang="en-US" sz="2200" b="1" dirty="0">
                <a:solidFill>
                  <a:srgbClr val="823DBC"/>
                </a:solidFill>
                <a:latin typeface="Helvetica" pitchFamily="34" charset="0"/>
                <a:ea typeface="Helvetica" pitchFamily="34" charset="-122"/>
                <a:cs typeface="Helvetica" pitchFamily="34" charset="-120"/>
              </a:rPr>
              <a:t>→</a:t>
            </a:r>
            <a:endParaRPr lang="en-US" sz="2200" dirty="0"/>
          </a:p>
        </p:txBody>
      </p:sp>
      <p:sp>
        <p:nvSpPr>
          <p:cNvPr id="26" name="Shape 24"/>
          <p:cNvSpPr/>
          <p:nvPr/>
        </p:nvSpPr>
        <p:spPr>
          <a:xfrm>
            <a:off x="9235440" y="3291840"/>
            <a:ext cx="2560320" cy="1371600"/>
          </a:xfrm>
          <a:prstGeom prst="roundRect">
            <a:avLst>
              <a:gd name="adj" fmla="val 6000"/>
            </a:avLst>
          </a:prstGeom>
          <a:solidFill>
            <a:srgbClr val="4D0F96"/>
          </a:solidFill>
          <a:ln/>
        </p:spPr>
      </p:sp>
      <p:sp>
        <p:nvSpPr>
          <p:cNvPr id="27" name="Text 25"/>
          <p:cNvSpPr/>
          <p:nvPr/>
        </p:nvSpPr>
        <p:spPr>
          <a:xfrm>
            <a:off x="9418320" y="3383280"/>
            <a:ext cx="548640" cy="457200"/>
          </a:xfrm>
          <a:prstGeom prst="rect">
            <a:avLst/>
          </a:prstGeom>
          <a:noFill/>
          <a:ln/>
        </p:spPr>
        <p:txBody>
          <a:bodyPr wrap="square"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4</a:t>
            </a:r>
            <a:endParaRPr lang="en-US" sz="2400" dirty="0"/>
          </a:p>
        </p:txBody>
      </p:sp>
      <p:sp>
        <p:nvSpPr>
          <p:cNvPr id="28" name="Text 26"/>
          <p:cNvSpPr/>
          <p:nvPr/>
        </p:nvSpPr>
        <p:spPr>
          <a:xfrm>
            <a:off x="9418320" y="3794760"/>
            <a:ext cx="2286000" cy="320040"/>
          </a:xfrm>
          <a:prstGeom prst="rect">
            <a:avLst/>
          </a:prstGeom>
          <a:noFill/>
          <a:ln/>
        </p:spPr>
        <p:txBody>
          <a:bodyPr wrap="square" rtlCol="0" anchor="ctr"/>
          <a:lstStyle/>
          <a:p>
            <a:pPr marL="0" indent="0">
              <a:buNone/>
            </a:pPr>
            <a:r>
              <a:rPr lang="en-US" sz="1400" b="1" dirty="0">
                <a:solidFill>
                  <a:srgbClr val="FFFFFF"/>
                </a:solidFill>
                <a:latin typeface="Helvetica" pitchFamily="34" charset="0"/>
                <a:ea typeface="Helvetica" pitchFamily="34" charset="-122"/>
                <a:cs typeface="Helvetica" pitchFamily="34" charset="-120"/>
              </a:rPr>
              <a:t>Contratos</a:t>
            </a:r>
            <a:endParaRPr lang="en-US" sz="1400" dirty="0"/>
          </a:p>
        </p:txBody>
      </p:sp>
      <p:sp>
        <p:nvSpPr>
          <p:cNvPr id="29" name="Text 27"/>
          <p:cNvSpPr/>
          <p:nvPr/>
        </p:nvSpPr>
        <p:spPr>
          <a:xfrm>
            <a:off x="9418320" y="4114800"/>
            <a:ext cx="2286000" cy="502920"/>
          </a:xfrm>
          <a:prstGeom prst="rect">
            <a:avLst/>
          </a:prstGeom>
          <a:noFill/>
          <a:ln/>
        </p:spPr>
        <p:txBody>
          <a:bodyPr wrap="square" rtlCol="0" anchor="ctr"/>
          <a:lstStyle/>
          <a:p>
            <a:pPr marL="0" indent="0">
              <a:buNone/>
            </a:pPr>
            <a:r>
              <a:rPr lang="en-US" sz="1000" dirty="0">
                <a:solidFill>
                  <a:srgbClr val="C4B5FD"/>
                </a:solidFill>
                <a:latin typeface="Helvetica" pitchFamily="34" charset="0"/>
                <a:ea typeface="Helvetica" pitchFamily="34" charset="-122"/>
                <a:cs typeface="Helvetica" pitchFamily="34" charset="-120"/>
              </a:rPr>
              <a:t>PPAs, EPC,</a:t>
            </a:r>
            <a:endParaRPr lang="en-US" sz="1000" dirty="0"/>
          </a:p>
          <a:p>
            <a:pPr marL="0" indent="0">
              <a:buNone/>
            </a:pPr>
            <a:r>
              <a:rPr lang="en-US" sz="1000" dirty="0">
                <a:solidFill>
                  <a:srgbClr val="C4B5FD"/>
                </a:solidFill>
                <a:latin typeface="Helvetica" pitchFamily="34" charset="0"/>
                <a:ea typeface="Helvetica" pitchFamily="34" charset="-122"/>
                <a:cs typeface="Helvetica" pitchFamily="34" charset="-120"/>
              </a:rPr>
              <a:t>financiamiento</a:t>
            </a:r>
            <a:endParaRPr lang="en-US" sz="1000" dirty="0"/>
          </a:p>
        </p:txBody>
      </p:sp>
      <p:sp>
        <p:nvSpPr>
          <p:cNvPr id="30" name="Text 28"/>
          <p:cNvSpPr/>
          <p:nvPr/>
        </p:nvSpPr>
        <p:spPr>
          <a:xfrm>
            <a:off x="457200" y="5029200"/>
            <a:ext cx="10972800" cy="320040"/>
          </a:xfrm>
          <a:prstGeom prst="rect">
            <a:avLst/>
          </a:prstGeom>
          <a:noFill/>
          <a:ln/>
        </p:spPr>
        <p:txBody>
          <a:bodyPr wrap="square" rtlCol="0" anchor="ctr"/>
          <a:lstStyle/>
          <a:p>
            <a:pPr marL="0" indent="0">
              <a:buNone/>
            </a:pPr>
            <a:r>
              <a:rPr lang="en-US" sz="1400" b="1" dirty="0">
                <a:solidFill>
                  <a:srgbClr val="4D0F96"/>
                </a:solidFill>
                <a:latin typeface="Helvetica" pitchFamily="34" charset="0"/>
                <a:ea typeface="Helvetica" pitchFamily="34" charset="-122"/>
                <a:cs typeface="Helvetica" pitchFamily="34" charset="-120"/>
              </a:rPr>
              <a:t>Aplicación prioritaria en portfolio companies</a:t>
            </a:r>
            <a:endParaRPr lang="en-US" sz="1400" dirty="0"/>
          </a:p>
        </p:txBody>
      </p:sp>
      <p:sp>
        <p:nvSpPr>
          <p:cNvPr id="31" name="Shape 29"/>
          <p:cNvSpPr/>
          <p:nvPr/>
        </p:nvSpPr>
        <p:spPr>
          <a:xfrm>
            <a:off x="502920" y="5513832"/>
            <a:ext cx="137160" cy="137160"/>
          </a:xfrm>
          <a:prstGeom prst="ellipse">
            <a:avLst/>
          </a:prstGeom>
          <a:solidFill>
            <a:srgbClr val="C8A951"/>
          </a:solidFill>
          <a:ln/>
        </p:spPr>
      </p:sp>
      <p:sp>
        <p:nvSpPr>
          <p:cNvPr id="32" name="Text 30"/>
          <p:cNvSpPr/>
          <p:nvPr/>
        </p:nvSpPr>
        <p:spPr>
          <a:xfrm>
            <a:off x="777240" y="5440680"/>
            <a:ext cx="2743200"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Evoque Energy</a:t>
            </a:r>
            <a:endParaRPr lang="en-US" sz="1300" dirty="0"/>
          </a:p>
        </p:txBody>
      </p:sp>
      <p:sp>
        <p:nvSpPr>
          <p:cNvPr id="33" name="Text 31"/>
          <p:cNvSpPr/>
          <p:nvPr/>
        </p:nvSpPr>
        <p:spPr>
          <a:xfrm>
            <a:off x="3566160" y="5440680"/>
            <a:ext cx="8229600" cy="274320"/>
          </a:xfrm>
          <a:prstGeom prst="rect">
            <a:avLst/>
          </a:prstGeom>
          <a:noFill/>
          <a:ln/>
        </p:spPr>
        <p:txBody>
          <a:bodyPr wrap="square" rtlCol="0" anchor="ctr"/>
          <a:lstStyle/>
          <a:p>
            <a:pPr marL="0" indent="0">
              <a:buNone/>
            </a:pPr>
            <a:r>
              <a:rPr lang="en-US" sz="1200" dirty="0">
                <a:solidFill>
                  <a:srgbClr val="424245"/>
                </a:solidFill>
                <a:latin typeface="Helvetica" pitchFamily="34" charset="0"/>
                <a:ea typeface="Helvetica" pitchFamily="34" charset="-122"/>
                <a:cs typeface="Helvetica" pitchFamily="34" charset="-120"/>
              </a:rPr>
              <a:t>Proyectos de valorización CaCO₃ (Chiloé, Linares, Pto. Natales)</a:t>
            </a:r>
            <a:endParaRPr lang="en-US" sz="1200" dirty="0"/>
          </a:p>
          <a:p>
            <a:pPr marL="0" indent="0">
              <a:buNone/>
            </a:pPr>
            <a:r>
              <a:rPr lang="en-US" sz="1100" b="1" dirty="0">
                <a:solidFill>
                  <a:srgbClr val="4D0F96"/>
                </a:solidFill>
                <a:latin typeface="Helvetica" pitchFamily="34" charset="0"/>
                <a:ea typeface="Helvetica" pitchFamily="34" charset="-122"/>
                <a:cs typeface="Helvetica" pitchFamily="34" charset="-120"/>
              </a:rPr>
              <a:t>36.978 t/año CaCO₃ · 16.270 t CO₂ mitigadas</a:t>
            </a:r>
            <a:endParaRPr lang="en-US" sz="1100" dirty="0"/>
          </a:p>
        </p:txBody>
      </p:sp>
      <p:sp>
        <p:nvSpPr>
          <p:cNvPr id="34" name="Shape 32"/>
          <p:cNvSpPr/>
          <p:nvPr/>
        </p:nvSpPr>
        <p:spPr>
          <a:xfrm>
            <a:off x="502920" y="5971032"/>
            <a:ext cx="137160" cy="137160"/>
          </a:xfrm>
          <a:prstGeom prst="ellipse">
            <a:avLst/>
          </a:prstGeom>
          <a:solidFill>
            <a:srgbClr val="C8A951"/>
          </a:solidFill>
          <a:ln/>
        </p:spPr>
      </p:sp>
      <p:sp>
        <p:nvSpPr>
          <p:cNvPr id="35" name="Text 33"/>
          <p:cNvSpPr/>
          <p:nvPr/>
        </p:nvSpPr>
        <p:spPr>
          <a:xfrm>
            <a:off x="777240" y="5897880"/>
            <a:ext cx="2743200"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Rho Generación</a:t>
            </a:r>
            <a:endParaRPr lang="en-US" sz="1300" dirty="0"/>
          </a:p>
        </p:txBody>
      </p:sp>
      <p:sp>
        <p:nvSpPr>
          <p:cNvPr id="36" name="Text 34"/>
          <p:cNvSpPr/>
          <p:nvPr/>
        </p:nvSpPr>
        <p:spPr>
          <a:xfrm>
            <a:off x="3566160" y="5897880"/>
            <a:ext cx="8229600" cy="274320"/>
          </a:xfrm>
          <a:prstGeom prst="rect">
            <a:avLst/>
          </a:prstGeom>
          <a:noFill/>
          <a:ln/>
        </p:spPr>
        <p:txBody>
          <a:bodyPr wrap="square" rtlCol="0" anchor="ctr"/>
          <a:lstStyle/>
          <a:p>
            <a:pPr marL="0" indent="0">
              <a:buNone/>
            </a:pPr>
            <a:r>
              <a:rPr lang="en-US" sz="1200" dirty="0">
                <a:solidFill>
                  <a:srgbClr val="424245"/>
                </a:solidFill>
                <a:latin typeface="Helvetica" pitchFamily="34" charset="0"/>
                <a:ea typeface="Helvetica" pitchFamily="34" charset="-122"/>
                <a:cs typeface="Helvetica" pitchFamily="34" charset="-120"/>
              </a:rPr>
              <a:t>6 proyectos energéticos +150 MW (PV, BESS y PMGD)</a:t>
            </a:r>
            <a:endParaRPr lang="en-US" sz="1200" dirty="0"/>
          </a:p>
          <a:p>
            <a:pPr marL="0" indent="0">
              <a:buNone/>
            </a:pPr>
            <a:r>
              <a:rPr lang="en-US" sz="1100" b="1" dirty="0">
                <a:solidFill>
                  <a:srgbClr val="4D0F96"/>
                </a:solidFill>
                <a:latin typeface="Helvetica" pitchFamily="34" charset="0"/>
                <a:ea typeface="Helvetica" pitchFamily="34" charset="-122"/>
                <a:cs typeface="Helvetica" pitchFamily="34" charset="-120"/>
              </a:rPr>
              <a:t>360 MWh almacenamiento total</a:t>
            </a:r>
            <a:endParaRPr lang="en-US" sz="1100" dirty="0"/>
          </a:p>
        </p:txBody>
      </p:sp>
      <p:sp>
        <p:nvSpPr>
          <p:cNvPr id="37" name="Shape 35"/>
          <p:cNvSpPr/>
          <p:nvPr/>
        </p:nvSpPr>
        <p:spPr>
          <a:xfrm>
            <a:off x="457200" y="6492240"/>
            <a:ext cx="11274552" cy="0"/>
          </a:xfrm>
          <a:prstGeom prst="line">
            <a:avLst/>
          </a:prstGeom>
          <a:noFill/>
          <a:ln w="6350">
            <a:solidFill>
              <a:srgbClr val="D2D2D7"/>
            </a:solidFill>
            <a:prstDash val="solid"/>
          </a:ln>
        </p:spPr>
      </p:sp>
      <p:sp>
        <p:nvSpPr>
          <p:cNvPr id="38" name="Text 36"/>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39" name="Text 37"/>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push dir="l"/>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opLine"/>
          <p:cNvSpPr/>
          <p:nvPr/>
        </p:nvSpPr>
        <p:spPr>
          <a:xfrm>
            <a:off x="457200" y="320040"/>
            <a:ext cx="11274552" cy="0"/>
          </a:xfrm>
          <a:prstGeom prst="line">
            <a:avLst/>
          </a:prstGeom>
          <a:noFill/>
          <a:ln w="6350">
            <a:solidFill>
              <a:srgbClr val="D2D2D7"/>
            </a:solidFill>
            <a:prstDash val="solid"/>
          </a:ln>
        </p:spPr>
      </p:sp>
      <p:sp>
        <p:nvSpPr>
          <p:cNvPr id="3" name="HeaderL"/>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a:rPr>
              <a:t>CEHTA CAPITAL</a:t>
            </a:r>
          </a:p>
        </p:txBody>
      </p:sp>
      <p:sp>
        <p:nvSpPr>
          <p:cNvPr id="4" name="HeaderC"/>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a:rPr>
              <a:t>ASAMBLEA ORDINARIA · 27 DE MAYO, 2026</a:t>
            </a:r>
          </a:p>
        </p:txBody>
      </p:sp>
      <p:sp>
        <p:nvSpPr>
          <p:cNvPr id="5" name="HeaderR"/>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a:rPr>
              <a:t>08 — 18</a:t>
            </a:r>
          </a:p>
        </p:txBody>
      </p:sp>
      <p:sp>
        <p:nvSpPr>
          <p:cNvPr id="10" name="Kicker"/>
          <p:cNvSpPr/>
          <p:nvPr/>
        </p:nvSpPr>
        <p:spPr>
          <a:xfrm>
            <a:off x="457200" y="2400000"/>
            <a:ext cx="11274552" cy="320040"/>
          </a:xfrm>
          <a:prstGeom prst="rect">
            <a:avLst/>
          </a:prstGeom>
          <a:noFill/>
          <a:ln/>
        </p:spPr>
        <p:txBody>
          <a:bodyPr wrap="square" rtlCol="0" anchor="ctr"/>
          <a:lstStyle/>
          <a:p>
            <a:pPr marL="0" indent="0" algn="ctr">
              <a:buNone/>
            </a:pPr>
            <a:r>
              <a:rPr lang="en-US" sz="1300" b="1" kern="0" spc="400" dirty="0">
                <a:solidFill>
                  <a:srgbClr val="823DBC"/>
                </a:solidFill>
                <a:latin typeface="Helvetica"/>
              </a:rPr>
              <a:t>SECCIÓN 2 · ART. 32 (1) RI</a:t>
            </a:r>
          </a:p>
        </p:txBody>
      </p:sp>
      <p:sp>
        <p:nvSpPr>
          <p:cNvPr id="11" name="Title"/>
          <p:cNvSpPr/>
          <p:nvPr/>
        </p:nvSpPr>
        <p:spPr>
          <a:xfrm>
            <a:off x="457200" y="2800000"/>
            <a:ext cx="11274552" cy="900000"/>
          </a:xfrm>
          <a:prstGeom prst="rect">
            <a:avLst/>
          </a:prstGeom>
          <a:noFill/>
          <a:ln/>
        </p:spPr>
        <p:txBody>
          <a:bodyPr wrap="square" rtlCol="0" anchor="t"/>
          <a:lstStyle/>
          <a:p>
            <a:pPr marL="0" indent="0" algn="ctr">
              <a:buNone/>
            </a:pPr>
            <a:r>
              <a:rPr lang="en-US" sz="6000" b="1" kern="0" spc="-50" dirty="0">
                <a:solidFill>
                  <a:srgbClr val="1D1D1F"/>
                </a:solidFill>
                <a:latin typeface="Helvetica"/>
              </a:rPr>
              <a:t>Estados Financieros 2025</a:t>
            </a:r>
          </a:p>
        </p:txBody>
      </p:sp>
      <p:sp>
        <p:nvSpPr>
          <p:cNvPr id="12" name="Subtitle"/>
          <p:cNvSpPr/>
          <p:nvPr/>
        </p:nvSpPr>
        <p:spPr>
          <a:xfrm>
            <a:off x="457200" y="3850000"/>
            <a:ext cx="11274552" cy="400000"/>
          </a:xfrm>
          <a:prstGeom prst="rect">
            <a:avLst/>
          </a:prstGeom>
          <a:noFill/>
          <a:ln/>
        </p:spPr>
        <p:txBody>
          <a:bodyPr wrap="square" rtlCol="0" anchor="t"/>
          <a:lstStyle/>
          <a:p>
            <a:pPr marL="0" indent="0" algn="ctr">
              <a:buNone/>
            </a:pPr>
            <a:r>
              <a:rPr lang="en-US" sz="1800" i="1" kern="0" dirty="0">
                <a:solidFill>
                  <a:srgbClr val="424245"/>
                </a:solidFill>
                <a:latin typeface="Georgia"/>
              </a:rPr>
              <a:t>Auditados por Nattero Auditores Consultores  ·  Opinión sin modificaciones</a:t>
            </a:r>
          </a:p>
        </p:txBody>
      </p:sp>
      <p:sp>
        <p:nvSpPr>
          <p:cNvPr id="13" name="Components"/>
          <p:cNvSpPr/>
          <p:nvPr/>
        </p:nvSpPr>
        <p:spPr>
          <a:xfrm>
            <a:off x="457200" y="4500000"/>
            <a:ext cx="11274552" cy="320000"/>
          </a:xfrm>
          <a:prstGeom prst="rect">
            <a:avLst/>
          </a:prstGeom>
          <a:noFill/>
          <a:ln/>
        </p:spPr>
        <p:txBody>
          <a:bodyPr wrap="square" rtlCol="0" anchor="t"/>
          <a:lstStyle/>
          <a:p>
            <a:pPr marL="0" indent="0" algn="ctr">
              <a:buNone/>
            </a:pPr>
            <a:r>
              <a:rPr lang="en-US" sz="1100" kern="0" spc="100" dirty="0">
                <a:solidFill>
                  <a:srgbClr val="86868B"/>
                </a:solidFill>
                <a:latin typeface="Helvetica"/>
              </a:rPr>
              <a:t>Situación Financiera  ·  Resultados Integrales  ·  Flujo de Efectivo  ·  Notas explicativas  ·  Dictamen del auditor</a:t>
            </a:r>
          </a:p>
        </p:txBody>
      </p:sp>
      <p:sp>
        <p:nvSpPr>
          <p:cNvPr id="100" name="BotLine"/>
          <p:cNvSpPr/>
          <p:nvPr/>
        </p:nvSpPr>
        <p:spPr>
          <a:xfrm>
            <a:off x="457200" y="6492240"/>
            <a:ext cx="11274552" cy="0"/>
          </a:xfrm>
          <a:prstGeom prst="line">
            <a:avLst/>
          </a:prstGeom>
          <a:noFill/>
          <a:ln w="6350">
            <a:solidFill>
              <a:srgbClr val="D2D2D7"/>
            </a:solidFill>
            <a:prstDash val="solid"/>
          </a:ln>
        </p:spPr>
      </p:sp>
      <p:sp>
        <p:nvSpPr>
          <p:cNvPr id="101" name="FooterL"/>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a:rPr>
              <a:t>FIP CEHTA ESG · RUT 77.751.766-K</a:t>
            </a:r>
          </a:p>
        </p:txBody>
      </p:sp>
      <p:sp>
        <p:nvSpPr>
          <p:cNvPr id="102" name="FooterR"/>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a:rPr>
              <a:t>EEFF auditados · Nattero Auditores · 30 abr 2026</a:t>
            </a: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opLine"/>
          <p:cNvSpPr/>
          <p:nvPr/>
        </p:nvSpPr>
        <p:spPr>
          <a:xfrm>
            <a:off x="457200" y="320040"/>
            <a:ext cx="11274552" cy="0"/>
          </a:xfrm>
          <a:prstGeom prst="line">
            <a:avLst/>
          </a:prstGeom>
          <a:noFill/>
          <a:ln w="6350">
            <a:solidFill>
              <a:srgbClr val="D2D2D7"/>
            </a:solidFill>
            <a:prstDash val="solid"/>
          </a:ln>
        </p:spPr>
      </p:sp>
      <p:sp>
        <p:nvSpPr>
          <p:cNvPr id="3" name="HeaderL"/>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a:rPr>
              <a:t>CEHTA CAPITAL</a:t>
            </a:r>
          </a:p>
        </p:txBody>
      </p:sp>
      <p:sp>
        <p:nvSpPr>
          <p:cNvPr id="4" name="HeaderC"/>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a:rPr>
              <a:t>ASAMBLEA ORDINARIA · 27 DE MAYO, 2026</a:t>
            </a:r>
          </a:p>
        </p:txBody>
      </p:sp>
      <p:sp>
        <p:nvSpPr>
          <p:cNvPr id="5" name="HeaderR"/>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a:rPr>
              <a:t>09 — 18</a:t>
            </a:r>
          </a:p>
        </p:txBody>
      </p:sp>
      <p:sp>
        <p:nvSpPr>
          <p:cNvPr id="10" name="Kicker"/>
          <p:cNvSpPr/>
          <p:nvPr/>
        </p:nvSpPr>
        <p:spPr>
          <a:xfrm>
            <a:off x="457200" y="640080"/>
            <a:ext cx="11274552" cy="320040"/>
          </a:xfrm>
          <a:prstGeom prst="rect">
            <a:avLst/>
          </a:prstGeom>
          <a:noFill/>
          <a:ln/>
        </p:spPr>
        <p:txBody>
          <a:bodyPr wrap="square" rtlCol="0" anchor="ctr"/>
          <a:lstStyle/>
          <a:p>
            <a:pPr marL="0" indent="0">
              <a:buNone/>
            </a:pPr>
            <a:r>
              <a:rPr lang="en-US" sz="1100" b="1" kern="0" spc="400" dirty="0">
                <a:solidFill>
                  <a:srgbClr val="823DBC"/>
                </a:solidFill>
                <a:latin typeface="Helvetica"/>
              </a:rPr>
              <a:t>FINANCIAL STATEMENTS · Art. 32 (1) RI</a:t>
            </a:r>
          </a:p>
        </p:txBody>
      </p:sp>
      <p:sp>
        <p:nvSpPr>
          <p:cNvPr id="11" name="Title"/>
          <p:cNvSpPr/>
          <p:nvPr/>
        </p:nvSpPr>
        <p:spPr>
          <a:xfrm>
            <a:off x="457200" y="960120"/>
            <a:ext cx="11274552" cy="640080"/>
          </a:xfrm>
          <a:prstGeom prst="rect">
            <a:avLst/>
          </a:prstGeom>
          <a:noFill/>
          <a:ln/>
        </p:spPr>
        <p:txBody>
          <a:bodyPr wrap="square" rtlCol="0" anchor="t"/>
          <a:lstStyle/>
          <a:p>
            <a:pPr marL="0" indent="0">
              <a:buNone/>
            </a:pPr>
            <a:r>
              <a:rPr lang="en-US" sz="4200" b="1" kern="0" spc="-50" dirty="0">
                <a:solidFill>
                  <a:srgbClr val="1D1D1F"/>
                </a:solidFill>
                <a:latin typeface="Helvetica"/>
              </a:rPr>
              <a:t>Estado de Situación Financiera</a:t>
            </a:r>
          </a:p>
        </p:txBody>
      </p:sp>
      <p:sp>
        <p:nvSpPr>
          <p:cNvPr id="12" name="Subtitle"/>
          <p:cNvSpPr/>
          <p:nvPr/>
        </p:nvSpPr>
        <p:spPr>
          <a:xfrm>
            <a:off x="457200" y="1660080"/>
            <a:ext cx="11274552" cy="300000"/>
          </a:xfrm>
          <a:prstGeom prst="rect">
            <a:avLst/>
          </a:prstGeom>
          <a:noFill/>
          <a:ln/>
        </p:spPr>
        <p:txBody>
          <a:bodyPr wrap="square" rtlCol="0" anchor="t"/>
          <a:lstStyle/>
          <a:p>
            <a:pPr marL="0" indent="0">
              <a:buNone/>
            </a:pPr>
            <a:r>
              <a:rPr lang="en-US" sz="1500" i="1" kern="0" dirty="0">
                <a:solidFill>
                  <a:srgbClr val="424245"/>
                </a:solidFill>
                <a:latin typeface="Georgia"/>
              </a:rPr>
              <a:t>Al 31 de diciembre de 2025 y 2024 · cifras en miles de pesos (M$)</a:t>
            </a:r>
          </a:p>
        </p:txBody>
      </p:sp>
      <p:sp>
        <p:nvSpPr>
          <p:cNvPr id="20" name="KPI1Bg"/>
          <p:cNvSpPr/>
          <p:nvPr/>
        </p:nvSpPr>
        <p:spPr>
          <a:xfrm>
            <a:off x="457200" y="2057400"/>
            <a:ext cx="2743200" cy="850000"/>
          </a:xfrm>
          <a:prstGeom prst="roundRect">
            <a:avLst>
              <a:gd name="adj" fmla="val 8000"/>
            </a:avLst>
          </a:prstGeom>
          <a:solidFill>
            <a:srgbClr val="F2EAFB"/>
          </a:solidFill>
          <a:ln/>
        </p:spPr>
        <p:txBody>
          <a:bodyPr/>
          <a:lstStyle/>
          <a:p>
            <a:endParaRPr lang="en-US"/>
          </a:p>
        </p:txBody>
      </p:sp>
      <p:sp>
        <p:nvSpPr>
          <p:cNvPr id="21" name="KPI1Num"/>
          <p:cNvSpPr/>
          <p:nvPr/>
        </p:nvSpPr>
        <p:spPr>
          <a:xfrm>
            <a:off x="640080" y="2148840"/>
            <a:ext cx="2377440" cy="450000"/>
          </a:xfrm>
          <a:prstGeom prst="rect">
            <a:avLst/>
          </a:prstGeom>
          <a:noFill/>
          <a:ln/>
        </p:spPr>
        <p:txBody>
          <a:bodyPr wrap="square" rtlCol="0" anchor="t"/>
          <a:lstStyle/>
          <a:p>
            <a:pPr marL="0" indent="0">
              <a:buNone/>
            </a:pPr>
            <a:r>
              <a:rPr lang="en-US" sz="3200" b="1" kern="0" spc="-50" dirty="0">
                <a:solidFill>
                  <a:srgbClr val="6B2DA8"/>
                </a:solidFill>
                <a:latin typeface="Helvetica"/>
              </a:rPr>
              <a:t>1.682.320</a:t>
            </a:r>
          </a:p>
        </p:txBody>
      </p:sp>
      <p:sp>
        <p:nvSpPr>
          <p:cNvPr id="22" name="KPI1Lbl"/>
          <p:cNvSpPr/>
          <p:nvPr/>
        </p:nvSpPr>
        <p:spPr>
          <a:xfrm>
            <a:off x="640080" y="2620645"/>
            <a:ext cx="2377440" cy="266700"/>
          </a:xfrm>
          <a:prstGeom prst="rect">
            <a:avLst/>
          </a:prstGeom>
          <a:noFill/>
          <a:ln/>
        </p:spPr>
        <p:txBody>
          <a:bodyPr wrap="square" rtlCol="0" anchor="t"/>
          <a:lstStyle/>
          <a:p>
            <a:pPr marL="0" indent="0">
              <a:buNone/>
            </a:pPr>
            <a:r>
              <a:rPr lang="en-US" sz="1100" b="1" dirty="0">
                <a:solidFill>
                  <a:srgbClr val="1D1D1F"/>
                </a:solidFill>
                <a:latin typeface="Helvetica"/>
              </a:rPr>
              <a:t>Total activos M$</a:t>
            </a:r>
          </a:p>
          <a:p>
            <a:pPr marL="0" indent="0">
              <a:buNone/>
            </a:pPr>
            <a:r>
              <a:rPr lang="en-US" sz="900" dirty="0">
                <a:solidFill>
                  <a:srgbClr val="86868B"/>
                </a:solidFill>
                <a:latin typeface="Helvetica"/>
              </a:rPr>
              <a:t>2024: 626.397 · +168,6%</a:t>
            </a:r>
          </a:p>
        </p:txBody>
      </p:sp>
      <p:sp>
        <p:nvSpPr>
          <p:cNvPr id="23" name="KPI2Bg"/>
          <p:cNvSpPr/>
          <p:nvPr/>
        </p:nvSpPr>
        <p:spPr>
          <a:xfrm>
            <a:off x="3291840" y="2057400"/>
            <a:ext cx="2743200" cy="850000"/>
          </a:xfrm>
          <a:prstGeom prst="roundRect">
            <a:avLst>
              <a:gd name="adj" fmla="val 8000"/>
            </a:avLst>
          </a:prstGeom>
          <a:solidFill>
            <a:srgbClr val="F2EAFB"/>
          </a:solidFill>
          <a:ln/>
        </p:spPr>
        <p:txBody>
          <a:bodyPr/>
          <a:lstStyle/>
          <a:p>
            <a:endParaRPr lang="en-US"/>
          </a:p>
        </p:txBody>
      </p:sp>
      <p:sp>
        <p:nvSpPr>
          <p:cNvPr id="24" name="KPI2Num"/>
          <p:cNvSpPr/>
          <p:nvPr/>
        </p:nvSpPr>
        <p:spPr>
          <a:xfrm>
            <a:off x="3474720" y="2148840"/>
            <a:ext cx="2377440" cy="450000"/>
          </a:xfrm>
          <a:prstGeom prst="rect">
            <a:avLst/>
          </a:prstGeom>
          <a:noFill/>
          <a:ln/>
        </p:spPr>
        <p:txBody>
          <a:bodyPr wrap="square" rtlCol="0" anchor="t"/>
          <a:lstStyle/>
          <a:p>
            <a:pPr marL="0" indent="0">
              <a:buNone/>
            </a:pPr>
            <a:r>
              <a:rPr lang="en-US" sz="3200" b="1" kern="0" spc="-50" dirty="0">
                <a:solidFill>
                  <a:srgbClr val="6B2DA8"/>
                </a:solidFill>
                <a:latin typeface="Helvetica"/>
              </a:rPr>
              <a:t>1.452.220</a:t>
            </a:r>
          </a:p>
        </p:txBody>
      </p:sp>
      <p:sp>
        <p:nvSpPr>
          <p:cNvPr id="25" name="KPI2Lbl"/>
          <p:cNvSpPr/>
          <p:nvPr/>
        </p:nvSpPr>
        <p:spPr>
          <a:xfrm>
            <a:off x="3474720" y="2620645"/>
            <a:ext cx="2377440" cy="266700"/>
          </a:xfrm>
          <a:prstGeom prst="rect">
            <a:avLst/>
          </a:prstGeom>
          <a:noFill/>
          <a:ln/>
        </p:spPr>
        <p:txBody>
          <a:bodyPr wrap="square" rtlCol="0" anchor="t"/>
          <a:lstStyle/>
          <a:p>
            <a:pPr marL="0" indent="0">
              <a:buNone/>
            </a:pPr>
            <a:r>
              <a:rPr lang="en-US" sz="1100" b="1" dirty="0">
                <a:solidFill>
                  <a:srgbClr val="1D1D1F"/>
                </a:solidFill>
                <a:latin typeface="Helvetica"/>
              </a:rPr>
              <a:t>Inversiones M.P. M$</a:t>
            </a:r>
          </a:p>
          <a:p>
            <a:pPr marL="0" indent="0">
              <a:buNone/>
            </a:pPr>
            <a:r>
              <a:rPr lang="en-US" sz="900" dirty="0">
                <a:solidFill>
                  <a:srgbClr val="86868B"/>
                </a:solidFill>
                <a:latin typeface="Helvetica"/>
              </a:rPr>
              <a:t>6 portfolio companies · Nota 8</a:t>
            </a:r>
          </a:p>
        </p:txBody>
      </p:sp>
      <p:sp>
        <p:nvSpPr>
          <p:cNvPr id="26" name="KPI3Bg"/>
          <p:cNvSpPr/>
          <p:nvPr/>
        </p:nvSpPr>
        <p:spPr>
          <a:xfrm>
            <a:off x="6126480" y="2057400"/>
            <a:ext cx="2743200" cy="850000"/>
          </a:xfrm>
          <a:prstGeom prst="roundRect">
            <a:avLst>
              <a:gd name="adj" fmla="val 8000"/>
            </a:avLst>
          </a:prstGeom>
          <a:solidFill>
            <a:srgbClr val="EAF3FB"/>
          </a:solidFill>
          <a:ln/>
        </p:spPr>
        <p:txBody>
          <a:bodyPr/>
          <a:lstStyle/>
          <a:p>
            <a:endParaRPr lang="en-US"/>
          </a:p>
        </p:txBody>
      </p:sp>
      <p:sp>
        <p:nvSpPr>
          <p:cNvPr id="27" name="KPI3Num"/>
          <p:cNvSpPr/>
          <p:nvPr/>
        </p:nvSpPr>
        <p:spPr>
          <a:xfrm>
            <a:off x="6309360" y="2148840"/>
            <a:ext cx="2377440" cy="450000"/>
          </a:xfrm>
          <a:prstGeom prst="rect">
            <a:avLst/>
          </a:prstGeom>
          <a:noFill/>
          <a:ln/>
        </p:spPr>
        <p:txBody>
          <a:bodyPr wrap="square" rtlCol="0" anchor="t"/>
          <a:lstStyle/>
          <a:p>
            <a:pPr marL="0" indent="0">
              <a:buNone/>
            </a:pPr>
            <a:r>
              <a:rPr lang="en-US" sz="3200" b="1" kern="0" spc="-50" dirty="0">
                <a:solidFill>
                  <a:srgbClr val="2B5C8A"/>
                </a:solidFill>
                <a:latin typeface="Helvetica"/>
              </a:rPr>
              <a:t>2.230.844</a:t>
            </a:r>
          </a:p>
        </p:txBody>
      </p:sp>
      <p:sp>
        <p:nvSpPr>
          <p:cNvPr id="28" name="KPI3Lbl"/>
          <p:cNvSpPr/>
          <p:nvPr/>
        </p:nvSpPr>
        <p:spPr>
          <a:xfrm>
            <a:off x="6309360" y="2620645"/>
            <a:ext cx="2377440" cy="266700"/>
          </a:xfrm>
          <a:prstGeom prst="rect">
            <a:avLst/>
          </a:prstGeom>
          <a:noFill/>
          <a:ln/>
        </p:spPr>
        <p:txBody>
          <a:bodyPr wrap="square" rtlCol="0" anchor="t"/>
          <a:lstStyle/>
          <a:p>
            <a:pPr marL="0" indent="0">
              <a:buNone/>
            </a:pPr>
            <a:r>
              <a:rPr lang="en-US" sz="1100" b="1" dirty="0">
                <a:solidFill>
                  <a:srgbClr val="1D1D1F"/>
                </a:solidFill>
                <a:latin typeface="Helvetica"/>
              </a:rPr>
              <a:t>Pasivos no corrientes M$</a:t>
            </a:r>
          </a:p>
          <a:p>
            <a:pPr marL="0" indent="0">
              <a:buNone/>
            </a:pPr>
            <a:r>
              <a:rPr lang="en-US" sz="900" dirty="0">
                <a:solidFill>
                  <a:srgbClr val="86868B"/>
                </a:solidFill>
                <a:latin typeface="Helvetica"/>
              </a:rPr>
              <a:t>Línea CORFO · 55.201 UF utilizadas</a:t>
            </a:r>
          </a:p>
        </p:txBody>
      </p:sp>
      <p:sp>
        <p:nvSpPr>
          <p:cNvPr id="29" name="KPI4Bg"/>
          <p:cNvSpPr/>
          <p:nvPr/>
        </p:nvSpPr>
        <p:spPr>
          <a:xfrm>
            <a:off x="8961120" y="2057400"/>
            <a:ext cx="2770632" cy="850000"/>
          </a:xfrm>
          <a:prstGeom prst="roundRect">
            <a:avLst>
              <a:gd name="adj" fmla="val 8000"/>
            </a:avLst>
          </a:prstGeom>
          <a:solidFill>
            <a:srgbClr val="F5F5F7"/>
          </a:solidFill>
          <a:ln/>
        </p:spPr>
        <p:txBody>
          <a:bodyPr/>
          <a:lstStyle/>
          <a:p>
            <a:endParaRPr lang="en-US"/>
          </a:p>
        </p:txBody>
      </p:sp>
      <p:sp>
        <p:nvSpPr>
          <p:cNvPr id="30" name="KPI4Num"/>
          <p:cNvSpPr/>
          <p:nvPr/>
        </p:nvSpPr>
        <p:spPr>
          <a:xfrm>
            <a:off x="9144000" y="2148840"/>
            <a:ext cx="2404872" cy="450000"/>
          </a:xfrm>
          <a:prstGeom prst="rect">
            <a:avLst/>
          </a:prstGeom>
          <a:noFill/>
          <a:ln/>
        </p:spPr>
        <p:txBody>
          <a:bodyPr wrap="square" rtlCol="0" anchor="t"/>
          <a:lstStyle/>
          <a:p>
            <a:pPr marL="0" indent="0">
              <a:buNone/>
            </a:pPr>
            <a:r>
              <a:rPr lang="en-US" sz="3200" b="1" kern="0" spc="-50" dirty="0">
                <a:solidFill>
                  <a:srgbClr val="1D1D1F"/>
                </a:solidFill>
                <a:latin typeface="Helvetica"/>
              </a:rPr>
              <a:t>(548.524)</a:t>
            </a:r>
          </a:p>
        </p:txBody>
      </p:sp>
      <p:sp>
        <p:nvSpPr>
          <p:cNvPr id="31" name="KPI4Lbl"/>
          <p:cNvSpPr/>
          <p:nvPr/>
        </p:nvSpPr>
        <p:spPr>
          <a:xfrm>
            <a:off x="9144000" y="2620645"/>
            <a:ext cx="2404872" cy="266700"/>
          </a:xfrm>
          <a:prstGeom prst="rect">
            <a:avLst/>
          </a:prstGeom>
          <a:noFill/>
          <a:ln/>
        </p:spPr>
        <p:txBody>
          <a:bodyPr wrap="square" rtlCol="0" anchor="t"/>
          <a:lstStyle/>
          <a:p>
            <a:pPr marL="0" indent="0">
              <a:buNone/>
            </a:pPr>
            <a:r>
              <a:rPr lang="en-US" sz="1100" b="1" dirty="0">
                <a:solidFill>
                  <a:srgbClr val="1D1D1F"/>
                </a:solidFill>
                <a:latin typeface="Helvetica"/>
              </a:rPr>
              <a:t>Patrimonio M$</a:t>
            </a:r>
          </a:p>
          <a:p>
            <a:pPr marL="0" indent="0">
              <a:buNone/>
            </a:pPr>
            <a:r>
              <a:rPr lang="en-US" sz="900" dirty="0">
                <a:solidFill>
                  <a:srgbClr val="86868B"/>
                </a:solidFill>
                <a:latin typeface="Helvetica"/>
              </a:rPr>
              <a:t>Etapa de desarrollo · sin liquidaciones</a:t>
            </a:r>
          </a:p>
        </p:txBody>
      </p:sp>
      <p:sp>
        <p:nvSpPr>
          <p:cNvPr id="40" name="ActivosTitle"/>
          <p:cNvSpPr/>
          <p:nvPr/>
        </p:nvSpPr>
        <p:spPr>
          <a:xfrm>
            <a:off x="457200" y="3200400"/>
            <a:ext cx="5395560" cy="320040"/>
          </a:xfrm>
          <a:prstGeom prst="rect">
            <a:avLst/>
          </a:prstGeom>
          <a:noFill/>
          <a:ln/>
        </p:spPr>
        <p:txBody>
          <a:bodyPr wrap="square" rtlCol="0" anchor="ctr"/>
          <a:lstStyle/>
          <a:p>
            <a:pPr marL="0" indent="0">
              <a:buNone/>
            </a:pPr>
            <a:r>
              <a:rPr lang="en-US" sz="1300" b="1" kern="0" spc="200" dirty="0">
                <a:solidFill>
                  <a:srgbClr val="823DBC"/>
                </a:solidFill>
                <a:latin typeface="Helvetica"/>
              </a:rPr>
              <a:t>ACTIVOS</a:t>
            </a:r>
          </a:p>
        </p:txBody>
      </p:sp>
      <p:sp>
        <p:nvSpPr>
          <p:cNvPr id="41" name="ActYr25"/>
          <p:cNvSpPr/>
          <p:nvPr/>
        </p:nvSpPr>
        <p:spPr>
          <a:xfrm>
            <a:off x="3886200" y="3520440"/>
            <a:ext cx="850000" cy="240000"/>
          </a:xfrm>
          <a:prstGeom prst="rect">
            <a:avLst/>
          </a:prstGeom>
          <a:noFill/>
          <a:ln/>
        </p:spPr>
        <p:txBody>
          <a:bodyPr wrap="square" rtlCol="0" anchor="ctr"/>
          <a:lstStyle/>
          <a:p>
            <a:pPr marL="0" indent="0" algn="r">
              <a:buNone/>
            </a:pPr>
            <a:r>
              <a:rPr lang="en-US" sz="1000" b="1" dirty="0">
                <a:solidFill>
                  <a:srgbClr val="86868B"/>
                </a:solidFill>
                <a:latin typeface="Helvetica"/>
              </a:rPr>
              <a:t>2025</a:t>
            </a:r>
          </a:p>
        </p:txBody>
      </p:sp>
      <p:sp>
        <p:nvSpPr>
          <p:cNvPr id="42" name="ActYr24"/>
          <p:cNvSpPr/>
          <p:nvPr/>
        </p:nvSpPr>
        <p:spPr>
          <a:xfrm>
            <a:off x="4937760" y="3520440"/>
            <a:ext cx="850000" cy="240000"/>
          </a:xfrm>
          <a:prstGeom prst="rect">
            <a:avLst/>
          </a:prstGeom>
          <a:noFill/>
          <a:ln/>
        </p:spPr>
        <p:txBody>
          <a:bodyPr wrap="square" rtlCol="0" anchor="ctr"/>
          <a:lstStyle/>
          <a:p>
            <a:pPr marL="0" indent="0" algn="r">
              <a:buNone/>
            </a:pPr>
            <a:r>
              <a:rPr lang="en-US" sz="1000" b="1" dirty="0">
                <a:solidFill>
                  <a:srgbClr val="86868B"/>
                </a:solidFill>
                <a:latin typeface="Helvetica"/>
              </a:rPr>
              <a:t>2024</a:t>
            </a:r>
          </a:p>
        </p:txBody>
      </p:sp>
      <p:sp>
        <p:nvSpPr>
          <p:cNvPr id="43" name="ActLbl"/>
          <p:cNvSpPr/>
          <p:nvPr/>
        </p:nvSpPr>
        <p:spPr>
          <a:xfrm>
            <a:off x="457200" y="3780000"/>
            <a:ext cx="3429000" cy="2400000"/>
          </a:xfrm>
          <a:prstGeom prst="rect">
            <a:avLst/>
          </a:prstGeom>
          <a:noFill/>
          <a:ln/>
        </p:spPr>
        <p:txBody>
          <a:bodyPr wrap="square" rtlCol="0" anchor="t"/>
          <a:lstStyle/>
          <a:p>
            <a:pPr marL="0" indent="0">
              <a:lnSpc>
                <a:spcPts val="2200"/>
              </a:lnSpc>
              <a:buNone/>
            </a:pPr>
            <a:r>
              <a:rPr lang="en-US" sz="1100" b="1" dirty="0">
                <a:solidFill>
                  <a:srgbClr val="1D1D1F"/>
                </a:solidFill>
                <a:latin typeface="Helvetica"/>
              </a:rPr>
              <a:t>Activos corrientes</a:t>
            </a:r>
          </a:p>
          <a:p>
            <a:pPr marL="0" indent="0">
              <a:lnSpc>
                <a:spcPts val="2000"/>
              </a:lnSpc>
              <a:buNone/>
            </a:pPr>
            <a:r>
              <a:rPr lang="en-US" sz="1050" dirty="0">
                <a:solidFill>
                  <a:srgbClr val="424245"/>
                </a:solidFill>
                <a:latin typeface="Helvetica"/>
              </a:rPr>
              <a:t>Efectivo y equivalentes</a:t>
            </a:r>
          </a:p>
          <a:p>
            <a:pPr marL="0" indent="0">
              <a:lnSpc>
                <a:spcPts val="2000"/>
              </a:lnSpc>
              <a:buNone/>
            </a:pPr>
            <a:r>
              <a:rPr lang="en-US" sz="1050" dirty="0">
                <a:solidFill>
                  <a:srgbClr val="424245"/>
                </a:solidFill>
                <a:latin typeface="Helvetica"/>
              </a:rPr>
              <a:t>Cuentas por cobrar operacionales</a:t>
            </a:r>
          </a:p>
          <a:p>
            <a:pPr marL="0" indent="0">
              <a:lnSpc>
                <a:spcPts val="2000"/>
              </a:lnSpc>
              <a:buNone/>
            </a:pPr>
            <a:r>
              <a:rPr lang="en-US" sz="1050" dirty="0">
                <a:solidFill>
                  <a:srgbClr val="424245"/>
                </a:solidFill>
                <a:latin typeface="Helvetica"/>
              </a:rPr>
              <a:t>Cuentas por cobrar relacionadas</a:t>
            </a:r>
          </a:p>
          <a:p>
            <a:pPr marL="0" indent="0">
              <a:lnSpc>
                <a:spcPts val="2400"/>
              </a:lnSpc>
              <a:buNone/>
            </a:pPr>
            <a:r>
              <a:rPr lang="en-US" sz="1100" b="1" dirty="0">
                <a:solidFill>
                  <a:srgbClr val="1D1D1F"/>
                </a:solidFill>
                <a:latin typeface="Helvetica"/>
              </a:rPr>
              <a:t>Total activos corrientes</a:t>
            </a:r>
          </a:p>
          <a:p>
            <a:pPr marL="0" indent="0">
              <a:lnSpc>
                <a:spcPts val="2400"/>
              </a:lnSpc>
              <a:buNone/>
            </a:pPr>
            <a:r>
              <a:rPr lang="en-US" sz="1100" b="1" dirty="0">
                <a:solidFill>
                  <a:srgbClr val="1D1D1F"/>
                </a:solidFill>
                <a:latin typeface="Helvetica"/>
              </a:rPr>
              <a:t>Activos no corrientes</a:t>
            </a:r>
          </a:p>
          <a:p>
            <a:pPr marL="0" indent="0">
              <a:lnSpc>
                <a:spcPts val="2000"/>
              </a:lnSpc>
              <a:buNone/>
            </a:pPr>
            <a:r>
              <a:rPr lang="en-US" sz="1050" dirty="0">
                <a:solidFill>
                  <a:srgbClr val="424245"/>
                </a:solidFill>
                <a:latin typeface="Helvetica"/>
              </a:rPr>
              <a:t>Inversiones método participación</a:t>
            </a:r>
          </a:p>
          <a:p>
            <a:pPr marL="0" indent="0">
              <a:lnSpc>
                <a:spcPts val="2400"/>
              </a:lnSpc>
              <a:buNone/>
            </a:pPr>
            <a:r>
              <a:rPr lang="en-US" sz="1150" b="1" dirty="0">
                <a:solidFill>
                  <a:srgbClr val="6B2DA8"/>
                </a:solidFill>
                <a:latin typeface="Helvetica"/>
              </a:rPr>
              <a:t>TOTAL ACTIVOS</a:t>
            </a:r>
          </a:p>
        </p:txBody>
      </p:sp>
      <p:sp>
        <p:nvSpPr>
          <p:cNvPr id="44" name="ActC25"/>
          <p:cNvSpPr/>
          <p:nvPr/>
        </p:nvSpPr>
        <p:spPr>
          <a:xfrm>
            <a:off x="3886200" y="3780000"/>
            <a:ext cx="1000000" cy="2400000"/>
          </a:xfrm>
          <a:prstGeom prst="rect">
            <a:avLst/>
          </a:prstGeom>
          <a:noFill/>
          <a:ln/>
        </p:spPr>
        <p:txBody>
          <a:bodyPr wrap="square" rtlCol="0" anchor="t"/>
          <a:lstStyle/>
          <a:p>
            <a:pPr marL="0" indent="0" algn="r">
              <a:lnSpc>
                <a:spcPts val="2200"/>
              </a:lnSpc>
              <a:buNone/>
            </a:pPr>
            <a:r>
              <a:rPr lang="en-US" sz="1100" b="1" dirty="0">
                <a:solidFill>
                  <a:srgbClr val="1D1D1F"/>
                </a:solidFill>
                <a:latin typeface="Helvetica"/>
              </a:rPr>
              <a:t xml:space="preserve"> </a:t>
            </a:r>
          </a:p>
          <a:p>
            <a:pPr marL="0" indent="0" algn="r">
              <a:lnSpc>
                <a:spcPts val="2000"/>
              </a:lnSpc>
              <a:buNone/>
            </a:pPr>
            <a:r>
              <a:rPr lang="en-US" sz="1050" dirty="0">
                <a:solidFill>
                  <a:srgbClr val="424245"/>
                </a:solidFill>
                <a:latin typeface="Helvetica"/>
              </a:rPr>
              <a:t>55.564</a:t>
            </a:r>
          </a:p>
          <a:p>
            <a:pPr marL="0" indent="0" algn="r">
              <a:lnSpc>
                <a:spcPts val="2000"/>
              </a:lnSpc>
              <a:buNone/>
            </a:pPr>
            <a:r>
              <a:rPr lang="en-US" sz="1050" dirty="0">
                <a:solidFill>
                  <a:srgbClr val="424245"/>
                </a:solidFill>
                <a:latin typeface="Helvetica"/>
              </a:rPr>
              <a:t>—</a:t>
            </a:r>
          </a:p>
          <a:p>
            <a:pPr marL="0" indent="0" algn="r">
              <a:lnSpc>
                <a:spcPts val="2000"/>
              </a:lnSpc>
              <a:buNone/>
            </a:pPr>
            <a:r>
              <a:rPr lang="en-US" sz="1050" dirty="0">
                <a:solidFill>
                  <a:srgbClr val="424245"/>
                </a:solidFill>
                <a:latin typeface="Helvetica"/>
              </a:rPr>
              <a:t>174.536</a:t>
            </a:r>
          </a:p>
          <a:p>
            <a:pPr marL="0" indent="0" algn="r">
              <a:lnSpc>
                <a:spcPts val="2400"/>
              </a:lnSpc>
              <a:buNone/>
            </a:pPr>
            <a:r>
              <a:rPr lang="en-US" sz="1100" b="1" dirty="0">
                <a:solidFill>
                  <a:srgbClr val="1D1D1F"/>
                </a:solidFill>
                <a:latin typeface="Helvetica"/>
              </a:rPr>
              <a:t>230.100</a:t>
            </a:r>
          </a:p>
          <a:p>
            <a:pPr marL="0" indent="0" algn="r">
              <a:lnSpc>
                <a:spcPts val="2400"/>
              </a:lnSpc>
              <a:buNone/>
            </a:pPr>
            <a:r>
              <a:rPr lang="en-US" sz="1100" b="1" dirty="0">
                <a:solidFill>
                  <a:srgbClr val="1D1D1F"/>
                </a:solidFill>
                <a:latin typeface="Helvetica"/>
              </a:rPr>
              <a:t xml:space="preserve"> </a:t>
            </a:r>
          </a:p>
          <a:p>
            <a:pPr marL="0" indent="0" algn="r">
              <a:lnSpc>
                <a:spcPts val="2000"/>
              </a:lnSpc>
              <a:buNone/>
            </a:pPr>
            <a:r>
              <a:rPr lang="en-US" sz="1050" dirty="0">
                <a:solidFill>
                  <a:srgbClr val="424245"/>
                </a:solidFill>
                <a:latin typeface="Helvetica"/>
              </a:rPr>
              <a:t>1.452.220</a:t>
            </a:r>
          </a:p>
          <a:p>
            <a:pPr marL="0" indent="0" algn="r">
              <a:lnSpc>
                <a:spcPts val="2400"/>
              </a:lnSpc>
              <a:buNone/>
            </a:pPr>
            <a:r>
              <a:rPr lang="en-US" sz="1150" b="1" dirty="0">
                <a:solidFill>
                  <a:srgbClr val="6B2DA8"/>
                </a:solidFill>
                <a:latin typeface="Helvetica"/>
              </a:rPr>
              <a:t>1.682.320</a:t>
            </a:r>
          </a:p>
        </p:txBody>
      </p:sp>
      <p:sp>
        <p:nvSpPr>
          <p:cNvPr id="45" name="ActC24"/>
          <p:cNvSpPr/>
          <p:nvPr/>
        </p:nvSpPr>
        <p:spPr>
          <a:xfrm>
            <a:off x="4937760" y="3780000"/>
            <a:ext cx="1000000" cy="2400000"/>
          </a:xfrm>
          <a:prstGeom prst="rect">
            <a:avLst/>
          </a:prstGeom>
          <a:noFill/>
          <a:ln/>
        </p:spPr>
        <p:txBody>
          <a:bodyPr wrap="square" rtlCol="0" anchor="t"/>
          <a:lstStyle/>
          <a:p>
            <a:pPr marL="0" indent="0" algn="r">
              <a:lnSpc>
                <a:spcPts val="2200"/>
              </a:lnSpc>
              <a:buNone/>
            </a:pPr>
            <a:r>
              <a:rPr lang="en-US" sz="1100" b="1" dirty="0">
                <a:solidFill>
                  <a:srgbClr val="1D1D1F"/>
                </a:solidFill>
                <a:latin typeface="Helvetica"/>
              </a:rPr>
              <a:t xml:space="preserve"> </a:t>
            </a:r>
          </a:p>
          <a:p>
            <a:pPr marL="0" indent="0" algn="r">
              <a:lnSpc>
                <a:spcPts val="2000"/>
              </a:lnSpc>
              <a:buNone/>
            </a:pPr>
            <a:r>
              <a:rPr lang="en-US" sz="1050" dirty="0">
                <a:solidFill>
                  <a:srgbClr val="86868B"/>
                </a:solidFill>
                <a:latin typeface="Helvetica"/>
              </a:rPr>
              <a:t>181.301</a:t>
            </a:r>
          </a:p>
          <a:p>
            <a:pPr marL="0" indent="0" algn="r">
              <a:lnSpc>
                <a:spcPts val="2000"/>
              </a:lnSpc>
              <a:buNone/>
            </a:pPr>
            <a:r>
              <a:rPr lang="en-US" sz="1050" dirty="0">
                <a:solidFill>
                  <a:srgbClr val="86868B"/>
                </a:solidFill>
                <a:latin typeface="Helvetica"/>
              </a:rPr>
              <a:t>31.092</a:t>
            </a:r>
          </a:p>
          <a:p>
            <a:pPr marL="0" indent="0" algn="r">
              <a:lnSpc>
                <a:spcPts val="2000"/>
              </a:lnSpc>
              <a:buNone/>
            </a:pPr>
            <a:r>
              <a:rPr lang="en-US" sz="1050" dirty="0">
                <a:solidFill>
                  <a:srgbClr val="86868B"/>
                </a:solidFill>
                <a:latin typeface="Helvetica"/>
              </a:rPr>
              <a:t>130.000</a:t>
            </a:r>
          </a:p>
          <a:p>
            <a:pPr marL="0" indent="0" algn="r">
              <a:lnSpc>
                <a:spcPts val="2400"/>
              </a:lnSpc>
              <a:buNone/>
            </a:pPr>
            <a:r>
              <a:rPr lang="en-US" sz="1100" b="1" dirty="0">
                <a:solidFill>
                  <a:srgbClr val="86868B"/>
                </a:solidFill>
                <a:latin typeface="Helvetica"/>
              </a:rPr>
              <a:t>342.393</a:t>
            </a:r>
          </a:p>
          <a:p>
            <a:pPr marL="0" indent="0" algn="r">
              <a:lnSpc>
                <a:spcPts val="2400"/>
              </a:lnSpc>
              <a:buNone/>
            </a:pPr>
            <a:r>
              <a:rPr lang="en-US" sz="1100" b="1" dirty="0">
                <a:solidFill>
                  <a:srgbClr val="1D1D1F"/>
                </a:solidFill>
                <a:latin typeface="Helvetica"/>
              </a:rPr>
              <a:t xml:space="preserve"> </a:t>
            </a:r>
          </a:p>
          <a:p>
            <a:pPr marL="0" indent="0" algn="r">
              <a:lnSpc>
                <a:spcPts val="2000"/>
              </a:lnSpc>
              <a:buNone/>
            </a:pPr>
            <a:r>
              <a:rPr lang="en-US" sz="1050" dirty="0">
                <a:solidFill>
                  <a:srgbClr val="86868B"/>
                </a:solidFill>
                <a:latin typeface="Helvetica"/>
              </a:rPr>
              <a:t>284.004</a:t>
            </a:r>
          </a:p>
          <a:p>
            <a:pPr marL="0" indent="0" algn="r">
              <a:lnSpc>
                <a:spcPts val="2400"/>
              </a:lnSpc>
              <a:buNone/>
            </a:pPr>
            <a:r>
              <a:rPr lang="en-US" sz="1150" b="1" dirty="0">
                <a:solidFill>
                  <a:srgbClr val="6B2DA8"/>
                </a:solidFill>
                <a:latin typeface="Helvetica"/>
              </a:rPr>
              <a:t>626.397</a:t>
            </a:r>
          </a:p>
        </p:txBody>
      </p:sp>
      <p:sp>
        <p:nvSpPr>
          <p:cNvPr id="50" name="PasTitle"/>
          <p:cNvSpPr/>
          <p:nvPr/>
        </p:nvSpPr>
        <p:spPr>
          <a:xfrm>
            <a:off x="6336000" y="3200400"/>
            <a:ext cx="5395560" cy="320040"/>
          </a:xfrm>
          <a:prstGeom prst="rect">
            <a:avLst/>
          </a:prstGeom>
          <a:noFill/>
          <a:ln/>
        </p:spPr>
        <p:txBody>
          <a:bodyPr wrap="square" rtlCol="0" anchor="ctr"/>
          <a:lstStyle/>
          <a:p>
            <a:pPr marL="0" indent="0">
              <a:buNone/>
            </a:pPr>
            <a:r>
              <a:rPr lang="en-US" sz="1300" b="1" kern="0" spc="200" dirty="0">
                <a:solidFill>
                  <a:srgbClr val="823DBC"/>
                </a:solidFill>
                <a:latin typeface="Helvetica"/>
              </a:rPr>
              <a:t>PASIVOS Y PATRIMONIO</a:t>
            </a:r>
          </a:p>
        </p:txBody>
      </p:sp>
      <p:sp>
        <p:nvSpPr>
          <p:cNvPr id="51" name="PasYr25"/>
          <p:cNvSpPr/>
          <p:nvPr/>
        </p:nvSpPr>
        <p:spPr>
          <a:xfrm>
            <a:off x="9700920" y="3520440"/>
            <a:ext cx="850000" cy="240000"/>
          </a:xfrm>
          <a:prstGeom prst="rect">
            <a:avLst/>
          </a:prstGeom>
          <a:noFill/>
          <a:ln/>
        </p:spPr>
        <p:txBody>
          <a:bodyPr wrap="square" rtlCol="0" anchor="ctr"/>
          <a:lstStyle/>
          <a:p>
            <a:pPr marL="0" indent="0" algn="r">
              <a:buNone/>
            </a:pPr>
            <a:r>
              <a:rPr lang="en-US" sz="1000" b="1" dirty="0">
                <a:solidFill>
                  <a:srgbClr val="86868B"/>
                </a:solidFill>
                <a:latin typeface="Helvetica"/>
              </a:rPr>
              <a:t>2025</a:t>
            </a:r>
          </a:p>
        </p:txBody>
      </p:sp>
      <p:sp>
        <p:nvSpPr>
          <p:cNvPr id="52" name="PasYr24"/>
          <p:cNvSpPr/>
          <p:nvPr/>
        </p:nvSpPr>
        <p:spPr>
          <a:xfrm>
            <a:off x="10752480" y="3520440"/>
            <a:ext cx="850000" cy="240000"/>
          </a:xfrm>
          <a:prstGeom prst="rect">
            <a:avLst/>
          </a:prstGeom>
          <a:noFill/>
          <a:ln/>
        </p:spPr>
        <p:txBody>
          <a:bodyPr wrap="square" rtlCol="0" anchor="ctr"/>
          <a:lstStyle/>
          <a:p>
            <a:pPr marL="0" indent="0" algn="r">
              <a:buNone/>
            </a:pPr>
            <a:r>
              <a:rPr lang="en-US" sz="1000" b="1" dirty="0">
                <a:solidFill>
                  <a:srgbClr val="86868B"/>
                </a:solidFill>
                <a:latin typeface="Helvetica"/>
              </a:rPr>
              <a:t>2024</a:t>
            </a:r>
          </a:p>
        </p:txBody>
      </p:sp>
      <p:sp>
        <p:nvSpPr>
          <p:cNvPr id="53" name="PasLbl"/>
          <p:cNvSpPr/>
          <p:nvPr/>
        </p:nvSpPr>
        <p:spPr>
          <a:xfrm>
            <a:off x="6336000" y="3780000"/>
            <a:ext cx="3400000" cy="2400000"/>
          </a:xfrm>
          <a:prstGeom prst="rect">
            <a:avLst/>
          </a:prstGeom>
          <a:noFill/>
          <a:ln/>
        </p:spPr>
        <p:txBody>
          <a:bodyPr wrap="square" rtlCol="0" anchor="t"/>
          <a:lstStyle/>
          <a:p>
            <a:pPr marL="0" indent="0">
              <a:lnSpc>
                <a:spcPts val="2200"/>
              </a:lnSpc>
              <a:buNone/>
            </a:pPr>
            <a:r>
              <a:rPr lang="en-US" sz="1100" b="1" dirty="0">
                <a:solidFill>
                  <a:srgbClr val="1D1D1F"/>
                </a:solidFill>
                <a:latin typeface="Helvetica"/>
              </a:rPr>
              <a:t>Pasivos no corrientes</a:t>
            </a:r>
          </a:p>
          <a:p>
            <a:pPr marL="0" indent="0">
              <a:lnSpc>
                <a:spcPts val="2000"/>
              </a:lnSpc>
              <a:buNone/>
            </a:pPr>
            <a:r>
              <a:rPr lang="en-US" sz="1050" dirty="0">
                <a:solidFill>
                  <a:srgbClr val="424245"/>
                </a:solidFill>
                <a:latin typeface="Helvetica"/>
              </a:rPr>
              <a:t>Préstamos línea CORFO</a:t>
            </a:r>
          </a:p>
          <a:p>
            <a:pPr marL="0" indent="0">
              <a:lnSpc>
                <a:spcPts val="2400"/>
              </a:lnSpc>
              <a:buNone/>
            </a:pPr>
            <a:r>
              <a:rPr lang="en-US" sz="1100" b="1" dirty="0">
                <a:solidFill>
                  <a:srgbClr val="1D1D1F"/>
                </a:solidFill>
                <a:latin typeface="Helvetica"/>
              </a:rPr>
              <a:t>Total pasivos no corrientes</a:t>
            </a:r>
          </a:p>
          <a:p>
            <a:pPr marL="0" indent="0">
              <a:lnSpc>
                <a:spcPts val="2400"/>
              </a:lnSpc>
              <a:buNone/>
            </a:pPr>
            <a:r>
              <a:rPr lang="en-US" sz="1100" b="1" dirty="0">
                <a:solidFill>
                  <a:srgbClr val="1D1D1F"/>
                </a:solidFill>
                <a:latin typeface="Helvetica"/>
              </a:rPr>
              <a:t>Patrimonio</a:t>
            </a:r>
          </a:p>
          <a:p>
            <a:pPr marL="0" indent="0">
              <a:lnSpc>
                <a:spcPts val="2000"/>
              </a:lnSpc>
              <a:buNone/>
            </a:pPr>
            <a:r>
              <a:rPr lang="en-US" sz="1050" dirty="0">
                <a:solidFill>
                  <a:srgbClr val="424245"/>
                </a:solidFill>
                <a:latin typeface="Helvetica"/>
              </a:rPr>
              <a:t>Aportes</a:t>
            </a:r>
          </a:p>
          <a:p>
            <a:pPr marL="0" indent="0">
              <a:lnSpc>
                <a:spcPts val="2000"/>
              </a:lnSpc>
              <a:buNone/>
            </a:pPr>
            <a:r>
              <a:rPr lang="en-US" sz="1050" dirty="0">
                <a:solidFill>
                  <a:srgbClr val="424245"/>
                </a:solidFill>
                <a:latin typeface="Helvetica"/>
              </a:rPr>
              <a:t>Pérdidas acumuladas</a:t>
            </a:r>
          </a:p>
          <a:p>
            <a:pPr marL="0" indent="0">
              <a:lnSpc>
                <a:spcPts val="2000"/>
              </a:lnSpc>
              <a:buNone/>
            </a:pPr>
            <a:r>
              <a:rPr lang="en-US" sz="1050" dirty="0">
                <a:solidFill>
                  <a:srgbClr val="424245"/>
                </a:solidFill>
                <a:latin typeface="Helvetica"/>
              </a:rPr>
              <a:t>Resultado del ejercicio</a:t>
            </a:r>
          </a:p>
          <a:p>
            <a:pPr marL="0" indent="0">
              <a:lnSpc>
                <a:spcPts val="2400"/>
              </a:lnSpc>
              <a:buNone/>
            </a:pPr>
            <a:r>
              <a:rPr lang="en-US" sz="1150" b="1" dirty="0">
                <a:solidFill>
                  <a:srgbClr val="6B2DA8"/>
                </a:solidFill>
                <a:latin typeface="Helvetica"/>
              </a:rPr>
              <a:t>TOTAL PATR. Y PASIVOS</a:t>
            </a:r>
          </a:p>
        </p:txBody>
      </p:sp>
      <p:sp>
        <p:nvSpPr>
          <p:cNvPr id="54" name="PasC25"/>
          <p:cNvSpPr/>
          <p:nvPr/>
        </p:nvSpPr>
        <p:spPr>
          <a:xfrm>
            <a:off x="9700920" y="3780000"/>
            <a:ext cx="1000000" cy="2400000"/>
          </a:xfrm>
          <a:prstGeom prst="rect">
            <a:avLst/>
          </a:prstGeom>
          <a:noFill/>
          <a:ln/>
        </p:spPr>
        <p:txBody>
          <a:bodyPr wrap="square" rtlCol="0" anchor="t"/>
          <a:lstStyle/>
          <a:p>
            <a:pPr marL="0" indent="0" algn="r">
              <a:lnSpc>
                <a:spcPts val="2200"/>
              </a:lnSpc>
              <a:buNone/>
            </a:pPr>
            <a:r>
              <a:rPr lang="en-US" sz="1100" b="1" dirty="0">
                <a:solidFill>
                  <a:srgbClr val="1D1D1F"/>
                </a:solidFill>
                <a:latin typeface="Helvetica"/>
              </a:rPr>
              <a:t xml:space="preserve"> </a:t>
            </a:r>
          </a:p>
          <a:p>
            <a:pPr marL="0" indent="0" algn="r">
              <a:lnSpc>
                <a:spcPts val="2000"/>
              </a:lnSpc>
              <a:buNone/>
            </a:pPr>
            <a:r>
              <a:rPr lang="en-US" sz="1050" dirty="0">
                <a:solidFill>
                  <a:srgbClr val="424245"/>
                </a:solidFill>
                <a:latin typeface="Helvetica"/>
              </a:rPr>
              <a:t>2.230.844</a:t>
            </a:r>
          </a:p>
          <a:p>
            <a:pPr marL="0" indent="0" algn="r">
              <a:lnSpc>
                <a:spcPts val="2400"/>
              </a:lnSpc>
              <a:buNone/>
            </a:pPr>
            <a:r>
              <a:rPr lang="en-US" sz="1100" b="1" dirty="0">
                <a:solidFill>
                  <a:srgbClr val="1D1D1F"/>
                </a:solidFill>
                <a:latin typeface="Helvetica"/>
              </a:rPr>
              <a:t>2.230.844</a:t>
            </a:r>
          </a:p>
          <a:p>
            <a:pPr marL="0" indent="0" algn="r">
              <a:lnSpc>
                <a:spcPts val="2400"/>
              </a:lnSpc>
              <a:buNone/>
            </a:pPr>
            <a:r>
              <a:rPr lang="en-US" sz="1100" b="1" dirty="0">
                <a:solidFill>
                  <a:srgbClr val="1D1D1F"/>
                </a:solidFill>
                <a:latin typeface="Helvetica"/>
              </a:rPr>
              <a:t xml:space="preserve"> </a:t>
            </a:r>
          </a:p>
          <a:p>
            <a:pPr marL="0" indent="0" algn="r">
              <a:lnSpc>
                <a:spcPts val="2000"/>
              </a:lnSpc>
              <a:buNone/>
            </a:pPr>
            <a:r>
              <a:rPr lang="en-US" sz="1050" dirty="0">
                <a:solidFill>
                  <a:srgbClr val="424245"/>
                </a:solidFill>
                <a:latin typeface="Helvetica"/>
              </a:rPr>
              <a:t>1.059.544</a:t>
            </a:r>
          </a:p>
          <a:p>
            <a:pPr marL="0" indent="0" algn="r">
              <a:lnSpc>
                <a:spcPts val="2000"/>
              </a:lnSpc>
              <a:buNone/>
            </a:pPr>
            <a:r>
              <a:rPr lang="en-US" sz="1050" dirty="0">
                <a:solidFill>
                  <a:srgbClr val="424245"/>
                </a:solidFill>
                <a:latin typeface="Helvetica"/>
              </a:rPr>
              <a:t>(300.412)</a:t>
            </a:r>
          </a:p>
          <a:p>
            <a:pPr marL="0" indent="0" algn="r">
              <a:lnSpc>
                <a:spcPts val="2000"/>
              </a:lnSpc>
              <a:buNone/>
            </a:pPr>
            <a:r>
              <a:rPr lang="en-US" sz="1050" dirty="0">
                <a:solidFill>
                  <a:srgbClr val="424245"/>
                </a:solidFill>
                <a:latin typeface="Helvetica"/>
              </a:rPr>
              <a:t>(1.307.656)</a:t>
            </a:r>
          </a:p>
          <a:p>
            <a:pPr marL="0" indent="0" algn="r">
              <a:lnSpc>
                <a:spcPts val="2400"/>
              </a:lnSpc>
              <a:buNone/>
            </a:pPr>
            <a:r>
              <a:rPr lang="en-US" sz="1150" b="1" dirty="0">
                <a:solidFill>
                  <a:srgbClr val="6B2DA8"/>
                </a:solidFill>
                <a:latin typeface="Helvetica"/>
              </a:rPr>
              <a:t>1.682.320</a:t>
            </a:r>
          </a:p>
        </p:txBody>
      </p:sp>
      <p:sp>
        <p:nvSpPr>
          <p:cNvPr id="55" name="PasC24"/>
          <p:cNvSpPr/>
          <p:nvPr/>
        </p:nvSpPr>
        <p:spPr>
          <a:xfrm>
            <a:off x="10752480" y="3780000"/>
            <a:ext cx="1000000" cy="2400000"/>
          </a:xfrm>
          <a:prstGeom prst="rect">
            <a:avLst/>
          </a:prstGeom>
          <a:noFill/>
          <a:ln/>
        </p:spPr>
        <p:txBody>
          <a:bodyPr wrap="square" rtlCol="0" anchor="t"/>
          <a:lstStyle/>
          <a:p>
            <a:pPr marL="0" indent="0" algn="r">
              <a:lnSpc>
                <a:spcPts val="2200"/>
              </a:lnSpc>
              <a:buNone/>
            </a:pPr>
            <a:r>
              <a:rPr lang="en-US" sz="1100" b="1" dirty="0">
                <a:solidFill>
                  <a:srgbClr val="1D1D1F"/>
                </a:solidFill>
                <a:latin typeface="Helvetica"/>
              </a:rPr>
              <a:t xml:space="preserve"> </a:t>
            </a:r>
          </a:p>
          <a:p>
            <a:pPr marL="0" indent="0" algn="r">
              <a:lnSpc>
                <a:spcPts val="2000"/>
              </a:lnSpc>
              <a:buNone/>
            </a:pPr>
            <a:r>
              <a:rPr lang="en-US" sz="1050" dirty="0">
                <a:solidFill>
                  <a:srgbClr val="86868B"/>
                </a:solidFill>
                <a:latin typeface="Helvetica"/>
              </a:rPr>
              <a:t>438.276</a:t>
            </a:r>
          </a:p>
          <a:p>
            <a:pPr marL="0" indent="0" algn="r">
              <a:lnSpc>
                <a:spcPts val="2400"/>
              </a:lnSpc>
              <a:buNone/>
            </a:pPr>
            <a:r>
              <a:rPr lang="en-US" sz="1100" b="1" dirty="0">
                <a:solidFill>
                  <a:srgbClr val="86868B"/>
                </a:solidFill>
                <a:latin typeface="Helvetica"/>
              </a:rPr>
              <a:t>438.276</a:t>
            </a:r>
          </a:p>
          <a:p>
            <a:pPr marL="0" indent="0" algn="r">
              <a:lnSpc>
                <a:spcPts val="2400"/>
              </a:lnSpc>
              <a:buNone/>
            </a:pPr>
            <a:r>
              <a:rPr lang="en-US" sz="1100" b="1" dirty="0">
                <a:solidFill>
                  <a:srgbClr val="1D1D1F"/>
                </a:solidFill>
                <a:latin typeface="Helvetica"/>
              </a:rPr>
              <a:t xml:space="preserve"> </a:t>
            </a:r>
          </a:p>
          <a:p>
            <a:pPr marL="0" indent="0" algn="r">
              <a:lnSpc>
                <a:spcPts val="2000"/>
              </a:lnSpc>
              <a:buNone/>
            </a:pPr>
            <a:r>
              <a:rPr lang="en-US" sz="1050" dirty="0">
                <a:solidFill>
                  <a:srgbClr val="86868B"/>
                </a:solidFill>
                <a:latin typeface="Helvetica"/>
              </a:rPr>
              <a:t>506.526</a:t>
            </a:r>
          </a:p>
          <a:p>
            <a:pPr marL="0" indent="0" algn="r">
              <a:lnSpc>
                <a:spcPts val="2000"/>
              </a:lnSpc>
              <a:buNone/>
            </a:pPr>
            <a:r>
              <a:rPr lang="en-US" sz="1050" dirty="0">
                <a:solidFill>
                  <a:srgbClr val="86868B"/>
                </a:solidFill>
                <a:latin typeface="Helvetica"/>
              </a:rPr>
              <a:t>—</a:t>
            </a:r>
          </a:p>
          <a:p>
            <a:pPr marL="0" indent="0" algn="r">
              <a:lnSpc>
                <a:spcPts val="2000"/>
              </a:lnSpc>
              <a:buNone/>
            </a:pPr>
            <a:r>
              <a:rPr lang="en-US" sz="1050" dirty="0">
                <a:solidFill>
                  <a:srgbClr val="86868B"/>
                </a:solidFill>
                <a:latin typeface="Helvetica"/>
              </a:rPr>
              <a:t>(318.405)</a:t>
            </a:r>
          </a:p>
          <a:p>
            <a:pPr marL="0" indent="0" algn="r">
              <a:lnSpc>
                <a:spcPts val="2400"/>
              </a:lnSpc>
              <a:buNone/>
            </a:pPr>
            <a:r>
              <a:rPr lang="en-US" sz="1150" b="1" dirty="0">
                <a:solidFill>
                  <a:srgbClr val="6B2DA8"/>
                </a:solidFill>
                <a:latin typeface="Helvetica"/>
              </a:rPr>
              <a:t>626.397</a:t>
            </a:r>
          </a:p>
        </p:txBody>
      </p:sp>
      <p:sp>
        <p:nvSpPr>
          <p:cNvPr id="100" name="BotLine"/>
          <p:cNvSpPr/>
          <p:nvPr/>
        </p:nvSpPr>
        <p:spPr>
          <a:xfrm>
            <a:off x="457200" y="6492240"/>
            <a:ext cx="11274552" cy="0"/>
          </a:xfrm>
          <a:prstGeom prst="line">
            <a:avLst/>
          </a:prstGeom>
          <a:noFill/>
          <a:ln w="6350">
            <a:solidFill>
              <a:srgbClr val="D2D2D7"/>
            </a:solidFill>
            <a:prstDash val="solid"/>
          </a:ln>
        </p:spPr>
      </p:sp>
      <p:sp>
        <p:nvSpPr>
          <p:cNvPr id="101" name="FooterL"/>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a:rPr>
              <a:t>FIP CEHTA ESG · RUT 77.751.766-K</a:t>
            </a:r>
          </a:p>
        </p:txBody>
      </p:sp>
      <p:sp>
        <p:nvSpPr>
          <p:cNvPr id="102" name="FooterR"/>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a:rPr>
              <a:t>EEFF auditados · Nattero Auditores · 30 abr 2026</a:t>
            </a: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27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13 — 18</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EXTERNAL AUDITORS · Art. 32 (5) · 45 (5) RI</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Designación de auditores externos 2026</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Text 7"/>
          <p:cNvSpPr/>
          <p:nvPr/>
        </p:nvSpPr>
        <p:spPr>
          <a:xfrm>
            <a:off x="457200" y="2103120"/>
            <a:ext cx="10972800" cy="320040"/>
          </a:xfrm>
          <a:prstGeom prst="rect">
            <a:avLst/>
          </a:prstGeom>
          <a:noFill/>
          <a:ln/>
        </p:spPr>
        <p:txBody>
          <a:bodyPr wrap="square" rtlCol="0" anchor="ctr"/>
          <a:lstStyle/>
          <a:p>
            <a:pPr marL="0" indent="0">
              <a:buNone/>
            </a:pPr>
            <a:r>
              <a:rPr lang="en-US" sz="1500" b="1" dirty="0">
                <a:solidFill>
                  <a:srgbClr val="4D0F96"/>
                </a:solidFill>
                <a:latin typeface="Helvetica" pitchFamily="34" charset="0"/>
                <a:ea typeface="Helvetica" pitchFamily="34" charset="-122"/>
                <a:cs typeface="Helvetica" pitchFamily="34" charset="-120"/>
              </a:rPr>
              <a:t>Procedimiento de designación</a:t>
            </a:r>
            <a:endParaRPr lang="en-US" sz="1500" dirty="0"/>
          </a:p>
        </p:txBody>
      </p:sp>
      <p:sp>
        <p:nvSpPr>
          <p:cNvPr id="10" name="Shape 8"/>
          <p:cNvSpPr/>
          <p:nvPr/>
        </p:nvSpPr>
        <p:spPr>
          <a:xfrm>
            <a:off x="457200" y="2606040"/>
            <a:ext cx="2560320" cy="1005840"/>
          </a:xfrm>
          <a:prstGeom prst="roundRect">
            <a:avLst>
              <a:gd name="adj" fmla="val 6000"/>
            </a:avLst>
          </a:prstGeom>
          <a:solidFill>
            <a:srgbClr val="FFFFFF"/>
          </a:solidFill>
          <a:ln w="9525">
            <a:solidFill>
              <a:srgbClr val="823DBC"/>
            </a:solidFill>
            <a:prstDash val="solid"/>
          </a:ln>
        </p:spPr>
      </p:sp>
      <p:sp>
        <p:nvSpPr>
          <p:cNvPr id="11" name="Text 9"/>
          <p:cNvSpPr/>
          <p:nvPr/>
        </p:nvSpPr>
        <p:spPr>
          <a:xfrm>
            <a:off x="640080" y="2697480"/>
            <a:ext cx="2286000" cy="228600"/>
          </a:xfrm>
          <a:prstGeom prst="rect">
            <a:avLst/>
          </a:prstGeom>
          <a:noFill/>
          <a:ln/>
        </p:spPr>
        <p:txBody>
          <a:bodyPr wrap="square" rtlCol="0" anchor="ctr"/>
          <a:lstStyle/>
          <a:p>
            <a:pPr marL="0" indent="0">
              <a:buNone/>
            </a:pPr>
            <a:r>
              <a:rPr lang="en-US" sz="900" b="1" kern="0" spc="200" dirty="0">
                <a:solidFill>
                  <a:srgbClr val="823DBC"/>
                </a:solidFill>
                <a:latin typeface="Helvetica" pitchFamily="34" charset="0"/>
                <a:ea typeface="Helvetica" pitchFamily="34" charset="-122"/>
                <a:cs typeface="Helvetica" pitchFamily="34" charset="-120"/>
              </a:rPr>
              <a:t>PASO 1</a:t>
            </a:r>
            <a:endParaRPr lang="en-US" sz="900" dirty="0"/>
          </a:p>
        </p:txBody>
      </p:sp>
      <p:sp>
        <p:nvSpPr>
          <p:cNvPr id="12" name="Text 10"/>
          <p:cNvSpPr/>
          <p:nvPr/>
        </p:nvSpPr>
        <p:spPr>
          <a:xfrm>
            <a:off x="640080" y="2926080"/>
            <a:ext cx="22860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Comité propone</a:t>
            </a:r>
            <a:endParaRPr lang="en-US" sz="1400" dirty="0"/>
          </a:p>
        </p:txBody>
      </p:sp>
      <p:sp>
        <p:nvSpPr>
          <p:cNvPr id="13" name="Text 11"/>
          <p:cNvSpPr/>
          <p:nvPr/>
        </p:nvSpPr>
        <p:spPr>
          <a:xfrm>
            <a:off x="640080" y="3246120"/>
            <a:ext cx="2286000" cy="27432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Terna a inscribir en CMF</a:t>
            </a:r>
            <a:endParaRPr lang="en-US" sz="1000" dirty="0"/>
          </a:p>
        </p:txBody>
      </p:sp>
      <p:sp>
        <p:nvSpPr>
          <p:cNvPr id="14" name="Text 12"/>
          <p:cNvSpPr/>
          <p:nvPr/>
        </p:nvSpPr>
        <p:spPr>
          <a:xfrm>
            <a:off x="3063240" y="2971800"/>
            <a:ext cx="274320" cy="365760"/>
          </a:xfrm>
          <a:prstGeom prst="rect">
            <a:avLst/>
          </a:prstGeom>
          <a:noFill/>
          <a:ln/>
        </p:spPr>
        <p:txBody>
          <a:bodyPr wrap="square" rtlCol="0" anchor="ctr"/>
          <a:lstStyle/>
          <a:p>
            <a:pPr marL="0" indent="0">
              <a:buNone/>
            </a:pPr>
            <a:r>
              <a:rPr lang="en-US" sz="2000" b="1" dirty="0">
                <a:solidFill>
                  <a:srgbClr val="823DBC"/>
                </a:solidFill>
                <a:latin typeface="Helvetica" pitchFamily="34" charset="0"/>
                <a:ea typeface="Helvetica" pitchFamily="34" charset="-122"/>
                <a:cs typeface="Helvetica" pitchFamily="34" charset="-120"/>
              </a:rPr>
              <a:t>→</a:t>
            </a:r>
            <a:endParaRPr lang="en-US" sz="2000" dirty="0"/>
          </a:p>
        </p:txBody>
      </p:sp>
      <p:sp>
        <p:nvSpPr>
          <p:cNvPr id="15" name="Shape 13"/>
          <p:cNvSpPr/>
          <p:nvPr/>
        </p:nvSpPr>
        <p:spPr>
          <a:xfrm>
            <a:off x="3383280" y="2606040"/>
            <a:ext cx="2560320" cy="1005840"/>
          </a:xfrm>
          <a:prstGeom prst="roundRect">
            <a:avLst>
              <a:gd name="adj" fmla="val 6000"/>
            </a:avLst>
          </a:prstGeom>
          <a:solidFill>
            <a:srgbClr val="FFFFFF"/>
          </a:solidFill>
          <a:ln w="9525">
            <a:solidFill>
              <a:srgbClr val="823DBC"/>
            </a:solidFill>
            <a:prstDash val="solid"/>
          </a:ln>
        </p:spPr>
      </p:sp>
      <p:sp>
        <p:nvSpPr>
          <p:cNvPr id="16" name="Text 14"/>
          <p:cNvSpPr/>
          <p:nvPr/>
        </p:nvSpPr>
        <p:spPr>
          <a:xfrm>
            <a:off x="3566160" y="2697480"/>
            <a:ext cx="2286000" cy="228600"/>
          </a:xfrm>
          <a:prstGeom prst="rect">
            <a:avLst/>
          </a:prstGeom>
          <a:noFill/>
          <a:ln/>
        </p:spPr>
        <p:txBody>
          <a:bodyPr wrap="square" rtlCol="0" anchor="ctr"/>
          <a:lstStyle/>
          <a:p>
            <a:pPr marL="0" indent="0">
              <a:buNone/>
            </a:pPr>
            <a:r>
              <a:rPr lang="en-US" sz="900" b="1" kern="0" spc="200" dirty="0">
                <a:solidFill>
                  <a:srgbClr val="823DBC"/>
                </a:solidFill>
                <a:latin typeface="Helvetica" pitchFamily="34" charset="0"/>
                <a:ea typeface="Helvetica" pitchFamily="34" charset="-122"/>
                <a:cs typeface="Helvetica" pitchFamily="34" charset="-120"/>
              </a:rPr>
              <a:t>PASO 2</a:t>
            </a:r>
            <a:endParaRPr lang="en-US" sz="900" dirty="0"/>
          </a:p>
        </p:txBody>
      </p:sp>
      <p:sp>
        <p:nvSpPr>
          <p:cNvPr id="17" name="Text 15"/>
          <p:cNvSpPr/>
          <p:nvPr/>
        </p:nvSpPr>
        <p:spPr>
          <a:xfrm>
            <a:off x="3566160" y="2926080"/>
            <a:ext cx="22860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Asamblea evalúa</a:t>
            </a:r>
            <a:endParaRPr lang="en-US" sz="1400" dirty="0"/>
          </a:p>
        </p:txBody>
      </p:sp>
      <p:sp>
        <p:nvSpPr>
          <p:cNvPr id="18" name="Text 16"/>
          <p:cNvSpPr/>
          <p:nvPr/>
        </p:nvSpPr>
        <p:spPr>
          <a:xfrm>
            <a:off x="3566160" y="3246120"/>
            <a:ext cx="2286000" cy="27432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Análisis de las 3 firmas</a:t>
            </a:r>
            <a:endParaRPr lang="en-US" sz="1000" dirty="0"/>
          </a:p>
        </p:txBody>
      </p:sp>
      <p:sp>
        <p:nvSpPr>
          <p:cNvPr id="19" name="Text 17"/>
          <p:cNvSpPr/>
          <p:nvPr/>
        </p:nvSpPr>
        <p:spPr>
          <a:xfrm>
            <a:off x="5989320" y="2971800"/>
            <a:ext cx="274320" cy="365760"/>
          </a:xfrm>
          <a:prstGeom prst="rect">
            <a:avLst/>
          </a:prstGeom>
          <a:noFill/>
          <a:ln/>
        </p:spPr>
        <p:txBody>
          <a:bodyPr wrap="square" rtlCol="0" anchor="ctr"/>
          <a:lstStyle/>
          <a:p>
            <a:pPr marL="0" indent="0">
              <a:buNone/>
            </a:pPr>
            <a:r>
              <a:rPr lang="en-US" sz="2000" b="1" dirty="0">
                <a:solidFill>
                  <a:srgbClr val="823DBC"/>
                </a:solidFill>
                <a:latin typeface="Helvetica" pitchFamily="34" charset="0"/>
                <a:ea typeface="Helvetica" pitchFamily="34" charset="-122"/>
                <a:cs typeface="Helvetica" pitchFamily="34" charset="-120"/>
              </a:rPr>
              <a:t>→</a:t>
            </a:r>
            <a:endParaRPr lang="en-US" sz="2000" dirty="0"/>
          </a:p>
        </p:txBody>
      </p:sp>
      <p:sp>
        <p:nvSpPr>
          <p:cNvPr id="20" name="Shape 18"/>
          <p:cNvSpPr/>
          <p:nvPr/>
        </p:nvSpPr>
        <p:spPr>
          <a:xfrm>
            <a:off x="6309360" y="2606040"/>
            <a:ext cx="2560320" cy="1005840"/>
          </a:xfrm>
          <a:prstGeom prst="roundRect">
            <a:avLst>
              <a:gd name="adj" fmla="val 6000"/>
            </a:avLst>
          </a:prstGeom>
          <a:solidFill>
            <a:srgbClr val="FFFFFF"/>
          </a:solidFill>
          <a:ln w="9525">
            <a:solidFill>
              <a:srgbClr val="823DBC"/>
            </a:solidFill>
            <a:prstDash val="solid"/>
          </a:ln>
        </p:spPr>
      </p:sp>
      <p:sp>
        <p:nvSpPr>
          <p:cNvPr id="21" name="Text 19"/>
          <p:cNvSpPr/>
          <p:nvPr/>
        </p:nvSpPr>
        <p:spPr>
          <a:xfrm>
            <a:off x="6492240" y="2697480"/>
            <a:ext cx="2286000" cy="228600"/>
          </a:xfrm>
          <a:prstGeom prst="rect">
            <a:avLst/>
          </a:prstGeom>
          <a:noFill/>
          <a:ln/>
        </p:spPr>
        <p:txBody>
          <a:bodyPr wrap="square" rtlCol="0" anchor="ctr"/>
          <a:lstStyle/>
          <a:p>
            <a:pPr marL="0" indent="0">
              <a:buNone/>
            </a:pPr>
            <a:r>
              <a:rPr lang="en-US" sz="900" b="1" kern="0" spc="200" dirty="0">
                <a:solidFill>
                  <a:srgbClr val="823DBC"/>
                </a:solidFill>
                <a:latin typeface="Helvetica" pitchFamily="34" charset="0"/>
                <a:ea typeface="Helvetica" pitchFamily="34" charset="-122"/>
                <a:cs typeface="Helvetica" pitchFamily="34" charset="-120"/>
              </a:rPr>
              <a:t>PASO 3</a:t>
            </a:r>
            <a:endParaRPr lang="en-US" sz="900" dirty="0"/>
          </a:p>
        </p:txBody>
      </p:sp>
      <p:sp>
        <p:nvSpPr>
          <p:cNvPr id="22" name="Text 20"/>
          <p:cNvSpPr/>
          <p:nvPr/>
        </p:nvSpPr>
        <p:spPr>
          <a:xfrm>
            <a:off x="6492240" y="2926080"/>
            <a:ext cx="22860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Votación</a:t>
            </a:r>
            <a:endParaRPr lang="en-US" sz="1400" dirty="0"/>
          </a:p>
        </p:txBody>
      </p:sp>
      <p:sp>
        <p:nvSpPr>
          <p:cNvPr id="23" name="Text 21"/>
          <p:cNvSpPr/>
          <p:nvPr/>
        </p:nvSpPr>
        <p:spPr>
          <a:xfrm>
            <a:off x="6492240" y="3246120"/>
            <a:ext cx="2286000" cy="27432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Mayoría absoluta presentes</a:t>
            </a:r>
            <a:endParaRPr lang="en-US" sz="1000" dirty="0"/>
          </a:p>
        </p:txBody>
      </p:sp>
      <p:sp>
        <p:nvSpPr>
          <p:cNvPr id="24" name="Text 22"/>
          <p:cNvSpPr/>
          <p:nvPr/>
        </p:nvSpPr>
        <p:spPr>
          <a:xfrm>
            <a:off x="8915400" y="2971800"/>
            <a:ext cx="274320" cy="365760"/>
          </a:xfrm>
          <a:prstGeom prst="rect">
            <a:avLst/>
          </a:prstGeom>
          <a:noFill/>
          <a:ln/>
        </p:spPr>
        <p:txBody>
          <a:bodyPr wrap="square" rtlCol="0" anchor="ctr"/>
          <a:lstStyle/>
          <a:p>
            <a:pPr marL="0" indent="0">
              <a:buNone/>
            </a:pPr>
            <a:r>
              <a:rPr lang="en-US" sz="2000" b="1" dirty="0">
                <a:solidFill>
                  <a:srgbClr val="823DBC"/>
                </a:solidFill>
                <a:latin typeface="Helvetica" pitchFamily="34" charset="0"/>
                <a:ea typeface="Helvetica" pitchFamily="34" charset="-122"/>
                <a:cs typeface="Helvetica" pitchFamily="34" charset="-120"/>
              </a:rPr>
              <a:t>→</a:t>
            </a:r>
            <a:endParaRPr lang="en-US" sz="2000" dirty="0"/>
          </a:p>
        </p:txBody>
      </p:sp>
      <p:sp>
        <p:nvSpPr>
          <p:cNvPr id="25" name="Shape 23"/>
          <p:cNvSpPr/>
          <p:nvPr/>
        </p:nvSpPr>
        <p:spPr>
          <a:xfrm>
            <a:off x="9235440" y="2606040"/>
            <a:ext cx="2560320" cy="1005840"/>
          </a:xfrm>
          <a:prstGeom prst="roundRect">
            <a:avLst>
              <a:gd name="adj" fmla="val 6000"/>
            </a:avLst>
          </a:prstGeom>
          <a:solidFill>
            <a:srgbClr val="4D0F96"/>
          </a:solidFill>
          <a:ln w="9525">
            <a:solidFill>
              <a:srgbClr val="4D0F96"/>
            </a:solidFill>
            <a:prstDash val="solid"/>
          </a:ln>
        </p:spPr>
      </p:sp>
      <p:sp>
        <p:nvSpPr>
          <p:cNvPr id="26" name="Text 24"/>
          <p:cNvSpPr/>
          <p:nvPr/>
        </p:nvSpPr>
        <p:spPr>
          <a:xfrm>
            <a:off x="9418320" y="2697480"/>
            <a:ext cx="2286000" cy="228600"/>
          </a:xfrm>
          <a:prstGeom prst="rect">
            <a:avLst/>
          </a:prstGeom>
          <a:noFill/>
          <a:ln/>
        </p:spPr>
        <p:txBody>
          <a:bodyPr wrap="square" rtlCol="0" anchor="ctr"/>
          <a:lstStyle/>
          <a:p>
            <a:pPr marL="0" indent="0">
              <a:buNone/>
            </a:pPr>
            <a:r>
              <a:rPr lang="en-US" sz="900" b="1" kern="0" spc="200" dirty="0">
                <a:solidFill>
                  <a:srgbClr val="C4B5FD"/>
                </a:solidFill>
                <a:latin typeface="Helvetica" pitchFamily="34" charset="0"/>
                <a:ea typeface="Helvetica" pitchFamily="34" charset="-122"/>
                <a:cs typeface="Helvetica" pitchFamily="34" charset="-120"/>
              </a:rPr>
              <a:t>PASO 4</a:t>
            </a:r>
            <a:endParaRPr lang="en-US" sz="900" dirty="0"/>
          </a:p>
        </p:txBody>
      </p:sp>
      <p:sp>
        <p:nvSpPr>
          <p:cNvPr id="27" name="Text 25"/>
          <p:cNvSpPr/>
          <p:nvPr/>
        </p:nvSpPr>
        <p:spPr>
          <a:xfrm>
            <a:off x="9418320" y="2926080"/>
            <a:ext cx="2286000" cy="320040"/>
          </a:xfrm>
          <a:prstGeom prst="rect">
            <a:avLst/>
          </a:prstGeom>
          <a:noFill/>
          <a:ln/>
        </p:spPr>
        <p:txBody>
          <a:bodyPr wrap="square" rtlCol="0" anchor="ctr"/>
          <a:lstStyle/>
          <a:p>
            <a:pPr marL="0" indent="0">
              <a:buNone/>
            </a:pPr>
            <a:r>
              <a:rPr lang="en-US" sz="1400" b="1" dirty="0">
                <a:solidFill>
                  <a:srgbClr val="FFFFFF"/>
                </a:solidFill>
                <a:latin typeface="Helvetica" pitchFamily="34" charset="0"/>
                <a:ea typeface="Helvetica" pitchFamily="34" charset="-122"/>
                <a:cs typeface="Helvetica" pitchFamily="34" charset="-120"/>
              </a:rPr>
              <a:t>Contratación</a:t>
            </a:r>
            <a:endParaRPr lang="en-US" sz="1400" dirty="0"/>
          </a:p>
        </p:txBody>
      </p:sp>
      <p:sp>
        <p:nvSpPr>
          <p:cNvPr id="28" name="Text 26"/>
          <p:cNvSpPr/>
          <p:nvPr/>
        </p:nvSpPr>
        <p:spPr>
          <a:xfrm>
            <a:off x="9418320" y="3246120"/>
            <a:ext cx="2286000" cy="274320"/>
          </a:xfrm>
          <a:prstGeom prst="rect">
            <a:avLst/>
          </a:prstGeom>
          <a:noFill/>
          <a:ln/>
        </p:spPr>
        <p:txBody>
          <a:bodyPr wrap="square" rtlCol="0" anchor="ctr"/>
          <a:lstStyle/>
          <a:p>
            <a:pPr marL="0" indent="0">
              <a:buNone/>
            </a:pPr>
            <a:r>
              <a:rPr lang="en-US" sz="1000" dirty="0">
                <a:solidFill>
                  <a:srgbClr val="C4B5FD"/>
                </a:solidFill>
                <a:latin typeface="Helvetica" pitchFamily="34" charset="0"/>
                <a:ea typeface="Helvetica" pitchFamily="34" charset="-122"/>
                <a:cs typeface="Helvetica" pitchFamily="34" charset="-120"/>
              </a:rPr>
              <a:t>Formalización AFIS</a:t>
            </a:r>
            <a:endParaRPr lang="en-US" sz="1000" dirty="0"/>
          </a:p>
        </p:txBody>
      </p:sp>
      <p:sp>
        <p:nvSpPr>
          <p:cNvPr id="29" name="Shape 27"/>
          <p:cNvSpPr/>
          <p:nvPr/>
        </p:nvSpPr>
        <p:spPr>
          <a:xfrm>
            <a:off x="457200" y="3931920"/>
            <a:ext cx="11274552" cy="0"/>
          </a:xfrm>
          <a:prstGeom prst="line">
            <a:avLst/>
          </a:prstGeom>
          <a:noFill/>
          <a:ln w="6350">
            <a:solidFill>
              <a:srgbClr val="D2D2D7"/>
            </a:solidFill>
            <a:prstDash val="solid"/>
          </a:ln>
        </p:spPr>
      </p:sp>
      <p:sp>
        <p:nvSpPr>
          <p:cNvPr id="30" name="Text 28"/>
          <p:cNvSpPr/>
          <p:nvPr/>
        </p:nvSpPr>
        <p:spPr>
          <a:xfrm>
            <a:off x="457200" y="4114800"/>
            <a:ext cx="10972800" cy="274320"/>
          </a:xfrm>
          <a:prstGeom prst="rect">
            <a:avLst/>
          </a:prstGeom>
          <a:noFill/>
          <a:ln/>
        </p:spPr>
        <p:txBody>
          <a:bodyPr wrap="square" rtlCol="0" anchor="ctr"/>
          <a:lstStyle/>
          <a:p>
            <a:pPr marL="0" indent="0">
              <a:buNone/>
            </a:pPr>
            <a:r>
              <a:rPr lang="en-US" sz="1000" b="1" kern="0" spc="300" dirty="0">
                <a:solidFill>
                  <a:srgbClr val="823DBC"/>
                </a:solidFill>
                <a:latin typeface="Helvetica" pitchFamily="34" charset="0"/>
                <a:ea typeface="Helvetica" pitchFamily="34" charset="-122"/>
                <a:cs typeface="Helvetica" pitchFamily="34" charset="-120"/>
              </a:rPr>
              <a:t>AUDITORES EXTERNOS · ALTERNATIVAS EN EVALUACIÓN</a:t>
            </a:r>
            <a:endParaRPr lang="en-US" sz="1000" dirty="0"/>
          </a:p>
        </p:txBody>
      </p:sp>
      <p:sp>
        <p:nvSpPr>
          <p:cNvPr id="31" name="Shape 29"/>
          <p:cNvSpPr/>
          <p:nvPr/>
        </p:nvSpPr>
        <p:spPr>
          <a:xfrm>
            <a:off x="457200" y="4526280"/>
            <a:ext cx="3611880" cy="1645920"/>
          </a:xfrm>
          <a:prstGeom prst="roundRect">
            <a:avLst>
              <a:gd name="adj" fmla="val 6000"/>
            </a:avLst>
          </a:prstGeom>
          <a:solidFill>
            <a:srgbClr val="FFFFFF"/>
          </a:solidFill>
          <a:ln w="9525">
            <a:solidFill>
              <a:srgbClr val="823DBC"/>
            </a:solidFill>
            <a:prstDash val="solid"/>
          </a:ln>
        </p:spPr>
      </p:sp>
      <p:sp>
        <p:nvSpPr>
          <p:cNvPr id="32" name="Text 30"/>
          <p:cNvSpPr/>
          <p:nvPr/>
        </p:nvSpPr>
        <p:spPr>
          <a:xfrm>
            <a:off x="640080" y="4617720"/>
            <a:ext cx="457200" cy="548640"/>
          </a:xfrm>
          <a:prstGeom prst="rect">
            <a:avLst/>
          </a:prstGeom>
          <a:noFill/>
          <a:ln/>
        </p:spPr>
        <p:txBody>
          <a:bodyPr wrap="square" rtlCol="0" anchor="ctr"/>
          <a:lstStyle/>
          <a:p>
            <a:pPr marL="0" indent="0">
              <a:buNone/>
            </a:pPr>
            <a:r>
              <a:rPr lang="en-US" sz="3200" b="1" dirty="0">
                <a:solidFill>
                  <a:srgbClr val="4D0F96"/>
                </a:solidFill>
                <a:latin typeface="Georgia" pitchFamily="34" charset="0"/>
                <a:ea typeface="Georgia" pitchFamily="34" charset="-122"/>
                <a:cs typeface="Georgia" pitchFamily="34" charset="-120"/>
              </a:rPr>
              <a:t>A</a:t>
            </a:r>
            <a:endParaRPr lang="en-US" sz="3200" dirty="0"/>
          </a:p>
        </p:txBody>
      </p:sp>
      <p:sp>
        <p:nvSpPr>
          <p:cNvPr id="33" name="Text 31"/>
          <p:cNvSpPr/>
          <p:nvPr/>
        </p:nvSpPr>
        <p:spPr>
          <a:xfrm>
            <a:off x="1188720" y="4663440"/>
            <a:ext cx="2743200" cy="7772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PKF Chile</a:t>
            </a:r>
            <a:endParaRPr lang="en-US" sz="1300" dirty="0"/>
          </a:p>
          <a:p>
            <a:pPr marL="0" indent="0">
              <a:buNone/>
            </a:pPr>
            <a:r>
              <a:rPr lang="en-US" sz="1300" b="1" dirty="0">
                <a:solidFill>
                  <a:srgbClr val="1D1D1F"/>
                </a:solidFill>
                <a:latin typeface="Helvetica" pitchFamily="34" charset="0"/>
                <a:ea typeface="Helvetica" pitchFamily="34" charset="-122"/>
                <a:cs typeface="Helvetica" pitchFamily="34" charset="-120"/>
              </a:rPr>
              <a:t>BLE Auditores</a:t>
            </a:r>
            <a:endParaRPr lang="en-US" sz="1300" dirty="0"/>
          </a:p>
        </p:txBody>
      </p:sp>
      <p:sp>
        <p:nvSpPr>
          <p:cNvPr id="34" name="Shape 32"/>
          <p:cNvSpPr/>
          <p:nvPr/>
        </p:nvSpPr>
        <p:spPr>
          <a:xfrm>
            <a:off x="640080" y="5486400"/>
            <a:ext cx="3200400" cy="0"/>
          </a:xfrm>
          <a:prstGeom prst="line">
            <a:avLst/>
          </a:prstGeom>
          <a:noFill/>
          <a:ln w="6350">
            <a:solidFill>
              <a:srgbClr val="D2D2D7"/>
            </a:solidFill>
            <a:prstDash val="solid"/>
          </a:ln>
        </p:spPr>
      </p:sp>
      <p:sp>
        <p:nvSpPr>
          <p:cNvPr id="35" name="Text 33"/>
          <p:cNvSpPr/>
          <p:nvPr/>
        </p:nvSpPr>
        <p:spPr>
          <a:xfrm>
            <a:off x="640080" y="5577840"/>
            <a:ext cx="3291840" cy="457200"/>
          </a:xfrm>
          <a:prstGeom prst="rect">
            <a:avLst/>
          </a:prstGeom>
          <a:noFill/>
          <a:ln/>
        </p:spPr>
        <p:txBody>
          <a:bodyPr wrap="square" rtlCol="0" anchor="ctr"/>
          <a:lstStyle/>
          <a:p>
            <a:pPr marL="0" indent="0">
              <a:buNone/>
            </a:pPr>
            <a:r>
              <a:rPr lang="en-US" sz="1000" i="1" dirty="0">
                <a:solidFill>
                  <a:srgbClr val="424245"/>
                </a:solidFill>
                <a:latin typeface="Helvetica" pitchFamily="34" charset="0"/>
                <a:ea typeface="Helvetica" pitchFamily="34" charset="-122"/>
                <a:cs typeface="Helvetica" pitchFamily="34" charset="-120"/>
              </a:rPr>
              <a:t>Tradición en fondos privados, costo medio.</a:t>
            </a:r>
            <a:endParaRPr lang="en-US" sz="1000" dirty="0"/>
          </a:p>
        </p:txBody>
      </p:sp>
      <p:sp>
        <p:nvSpPr>
          <p:cNvPr id="36" name="Shape 34"/>
          <p:cNvSpPr/>
          <p:nvPr/>
        </p:nvSpPr>
        <p:spPr>
          <a:xfrm>
            <a:off x="4434840" y="4526280"/>
            <a:ext cx="3611880" cy="1645920"/>
          </a:xfrm>
          <a:prstGeom prst="roundRect">
            <a:avLst>
              <a:gd name="adj" fmla="val 6000"/>
            </a:avLst>
          </a:prstGeom>
          <a:solidFill>
            <a:srgbClr val="FFFFFF"/>
          </a:solidFill>
          <a:ln w="9525">
            <a:solidFill>
              <a:srgbClr val="823DBC"/>
            </a:solidFill>
            <a:prstDash val="solid"/>
          </a:ln>
        </p:spPr>
      </p:sp>
      <p:sp>
        <p:nvSpPr>
          <p:cNvPr id="37" name="Text 35"/>
          <p:cNvSpPr/>
          <p:nvPr/>
        </p:nvSpPr>
        <p:spPr>
          <a:xfrm>
            <a:off x="4617720" y="4617720"/>
            <a:ext cx="457200" cy="548640"/>
          </a:xfrm>
          <a:prstGeom prst="rect">
            <a:avLst/>
          </a:prstGeom>
          <a:noFill/>
          <a:ln/>
        </p:spPr>
        <p:txBody>
          <a:bodyPr wrap="square" rtlCol="0" anchor="ctr"/>
          <a:lstStyle/>
          <a:p>
            <a:pPr marL="0" indent="0">
              <a:buNone/>
            </a:pPr>
            <a:r>
              <a:rPr lang="en-US" sz="3200" b="1" dirty="0">
                <a:solidFill>
                  <a:srgbClr val="4D0F96"/>
                </a:solidFill>
                <a:latin typeface="Georgia" pitchFamily="34" charset="0"/>
                <a:ea typeface="Georgia" pitchFamily="34" charset="-122"/>
                <a:cs typeface="Georgia" pitchFamily="34" charset="-120"/>
              </a:rPr>
              <a:t>B</a:t>
            </a:r>
            <a:endParaRPr lang="en-US" sz="3200" dirty="0"/>
          </a:p>
        </p:txBody>
      </p:sp>
      <p:sp>
        <p:nvSpPr>
          <p:cNvPr id="38" name="Text 36"/>
          <p:cNvSpPr/>
          <p:nvPr/>
        </p:nvSpPr>
        <p:spPr>
          <a:xfrm>
            <a:off x="5166360" y="4663440"/>
            <a:ext cx="2743200" cy="7772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Surlatina Auditores</a:t>
            </a:r>
            <a:endParaRPr lang="en-US" sz="1300" dirty="0"/>
          </a:p>
          <a:p>
            <a:pPr marL="0" indent="0">
              <a:buNone/>
            </a:pPr>
            <a:r>
              <a:rPr lang="en-US" sz="1300" b="1" dirty="0">
                <a:solidFill>
                  <a:srgbClr val="1D1D1F"/>
                </a:solidFill>
                <a:latin typeface="Helvetica" pitchFamily="34" charset="0"/>
                <a:ea typeface="Helvetica" pitchFamily="34" charset="-122"/>
                <a:cs typeface="Helvetica" pitchFamily="34" charset="-120"/>
              </a:rPr>
              <a:t>Crowe Chile</a:t>
            </a:r>
            <a:endParaRPr lang="en-US" sz="1300" dirty="0"/>
          </a:p>
        </p:txBody>
      </p:sp>
      <p:sp>
        <p:nvSpPr>
          <p:cNvPr id="39" name="Shape 37"/>
          <p:cNvSpPr/>
          <p:nvPr/>
        </p:nvSpPr>
        <p:spPr>
          <a:xfrm>
            <a:off x="4617720" y="5486400"/>
            <a:ext cx="3200400" cy="0"/>
          </a:xfrm>
          <a:prstGeom prst="line">
            <a:avLst/>
          </a:prstGeom>
          <a:noFill/>
          <a:ln w="6350">
            <a:solidFill>
              <a:srgbClr val="D2D2D7"/>
            </a:solidFill>
            <a:prstDash val="solid"/>
          </a:ln>
        </p:spPr>
      </p:sp>
      <p:sp>
        <p:nvSpPr>
          <p:cNvPr id="40" name="Text 38"/>
          <p:cNvSpPr/>
          <p:nvPr/>
        </p:nvSpPr>
        <p:spPr>
          <a:xfrm>
            <a:off x="4617720" y="5577840"/>
            <a:ext cx="3291840" cy="457200"/>
          </a:xfrm>
          <a:prstGeom prst="rect">
            <a:avLst/>
          </a:prstGeom>
          <a:noFill/>
          <a:ln/>
        </p:spPr>
        <p:txBody>
          <a:bodyPr wrap="square" rtlCol="0" anchor="ctr"/>
          <a:lstStyle/>
          <a:p>
            <a:pPr marL="0" indent="0">
              <a:buNone/>
            </a:pPr>
            <a:r>
              <a:rPr lang="en-US" sz="1000" i="1" dirty="0">
                <a:solidFill>
                  <a:srgbClr val="424245"/>
                </a:solidFill>
                <a:latin typeface="Helvetica" pitchFamily="34" charset="0"/>
                <a:ea typeface="Helvetica" pitchFamily="34" charset="-122"/>
                <a:cs typeface="Helvetica" pitchFamily="34" charset="-120"/>
              </a:rPr>
              <a:t>Red internacional, experiencia ESG.</a:t>
            </a:r>
            <a:endParaRPr lang="en-US" sz="1000" dirty="0"/>
          </a:p>
        </p:txBody>
      </p:sp>
      <p:sp>
        <p:nvSpPr>
          <p:cNvPr id="41" name="Shape 39"/>
          <p:cNvSpPr/>
          <p:nvPr/>
        </p:nvSpPr>
        <p:spPr>
          <a:xfrm>
            <a:off x="8412480" y="4526280"/>
            <a:ext cx="3611880" cy="1645920"/>
          </a:xfrm>
          <a:prstGeom prst="roundRect">
            <a:avLst>
              <a:gd name="adj" fmla="val 6000"/>
            </a:avLst>
          </a:prstGeom>
          <a:solidFill>
            <a:srgbClr val="FFFFFF"/>
          </a:solidFill>
          <a:ln w="9525">
            <a:solidFill>
              <a:srgbClr val="823DBC"/>
            </a:solidFill>
            <a:prstDash val="solid"/>
          </a:ln>
        </p:spPr>
      </p:sp>
      <p:sp>
        <p:nvSpPr>
          <p:cNvPr id="42" name="Text 40"/>
          <p:cNvSpPr/>
          <p:nvPr/>
        </p:nvSpPr>
        <p:spPr>
          <a:xfrm>
            <a:off x="8595360" y="4617720"/>
            <a:ext cx="457200" cy="548640"/>
          </a:xfrm>
          <a:prstGeom prst="rect">
            <a:avLst/>
          </a:prstGeom>
          <a:noFill/>
          <a:ln/>
        </p:spPr>
        <p:txBody>
          <a:bodyPr wrap="square" rtlCol="0" anchor="ctr"/>
          <a:lstStyle/>
          <a:p>
            <a:pPr marL="0" indent="0">
              <a:buNone/>
            </a:pPr>
            <a:r>
              <a:rPr lang="en-US" sz="3200" b="1" dirty="0">
                <a:solidFill>
                  <a:srgbClr val="4D0F96"/>
                </a:solidFill>
                <a:latin typeface="Georgia" pitchFamily="34" charset="0"/>
                <a:ea typeface="Georgia" pitchFamily="34" charset="-122"/>
                <a:cs typeface="Georgia" pitchFamily="34" charset="-120"/>
              </a:rPr>
              <a:t>C</a:t>
            </a:r>
            <a:endParaRPr lang="en-US" sz="3200" dirty="0"/>
          </a:p>
        </p:txBody>
      </p:sp>
      <p:sp>
        <p:nvSpPr>
          <p:cNvPr id="43" name="Text 41"/>
          <p:cNvSpPr/>
          <p:nvPr/>
        </p:nvSpPr>
        <p:spPr>
          <a:xfrm>
            <a:off x="9144000" y="4663440"/>
            <a:ext cx="2743200" cy="7772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Russell Bedford</a:t>
            </a:r>
            <a:endParaRPr lang="en-US" sz="1300" dirty="0"/>
          </a:p>
          <a:p>
            <a:pPr marL="0" indent="0">
              <a:buNone/>
            </a:pPr>
            <a:r>
              <a:rPr lang="en-US" sz="1300" b="1" dirty="0">
                <a:solidFill>
                  <a:srgbClr val="1D1D1F"/>
                </a:solidFill>
                <a:latin typeface="Helvetica" pitchFamily="34" charset="0"/>
                <a:ea typeface="Helvetica" pitchFamily="34" charset="-122"/>
                <a:cs typeface="Helvetica" pitchFamily="34" charset="-120"/>
              </a:rPr>
              <a:t>Baker Tilly Chile</a:t>
            </a:r>
            <a:endParaRPr lang="en-US" sz="1300" dirty="0"/>
          </a:p>
        </p:txBody>
      </p:sp>
      <p:sp>
        <p:nvSpPr>
          <p:cNvPr id="44" name="Shape 42"/>
          <p:cNvSpPr/>
          <p:nvPr/>
        </p:nvSpPr>
        <p:spPr>
          <a:xfrm>
            <a:off x="8595360" y="5486400"/>
            <a:ext cx="3200400" cy="0"/>
          </a:xfrm>
          <a:prstGeom prst="line">
            <a:avLst/>
          </a:prstGeom>
          <a:noFill/>
          <a:ln w="6350">
            <a:solidFill>
              <a:srgbClr val="D2D2D7"/>
            </a:solidFill>
            <a:prstDash val="solid"/>
          </a:ln>
        </p:spPr>
      </p:sp>
      <p:sp>
        <p:nvSpPr>
          <p:cNvPr id="45" name="Text 43"/>
          <p:cNvSpPr/>
          <p:nvPr/>
        </p:nvSpPr>
        <p:spPr>
          <a:xfrm>
            <a:off x="8595360" y="5577840"/>
            <a:ext cx="3291840" cy="457200"/>
          </a:xfrm>
          <a:prstGeom prst="rect">
            <a:avLst/>
          </a:prstGeom>
          <a:noFill/>
          <a:ln/>
        </p:spPr>
        <p:txBody>
          <a:bodyPr wrap="square" rtlCol="0" anchor="ctr"/>
          <a:lstStyle/>
          <a:p>
            <a:pPr marL="0" indent="0">
              <a:buNone/>
            </a:pPr>
            <a:r>
              <a:rPr lang="en-US" sz="1000" i="1" dirty="0">
                <a:solidFill>
                  <a:srgbClr val="424245"/>
                </a:solidFill>
                <a:latin typeface="Helvetica" pitchFamily="34" charset="0"/>
                <a:ea typeface="Helvetica" pitchFamily="34" charset="-122"/>
                <a:cs typeface="Helvetica" pitchFamily="34" charset="-120"/>
              </a:rPr>
              <a:t>Boutique especializada, mayor flexibilidad.</a:t>
            </a:r>
            <a:endParaRPr lang="en-US" sz="1000" dirty="0"/>
          </a:p>
        </p:txBody>
      </p:sp>
      <p:sp>
        <p:nvSpPr>
          <p:cNvPr id="46" name="Shape 44"/>
          <p:cNvSpPr/>
          <p:nvPr/>
        </p:nvSpPr>
        <p:spPr>
          <a:xfrm>
            <a:off x="457200" y="6492240"/>
            <a:ext cx="11274552" cy="0"/>
          </a:xfrm>
          <a:prstGeom prst="line">
            <a:avLst/>
          </a:prstGeom>
          <a:noFill/>
          <a:ln w="6350">
            <a:solidFill>
              <a:srgbClr val="D2D2D7"/>
            </a:solidFill>
            <a:prstDash val="solid"/>
          </a:ln>
        </p:spPr>
      </p:sp>
      <p:sp>
        <p:nvSpPr>
          <p:cNvPr id="47" name="Text 45"/>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48" name="Text 46"/>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27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14 — 18</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STRATEGIC PLAN · Bloque 4</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Objetivos 2026</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Text 7"/>
          <p:cNvSpPr/>
          <p:nvPr/>
        </p:nvSpPr>
        <p:spPr>
          <a:xfrm>
            <a:off x="457200" y="2103120"/>
            <a:ext cx="10972800" cy="365760"/>
          </a:xfrm>
          <a:prstGeom prst="rect">
            <a:avLst/>
          </a:prstGeom>
          <a:noFill/>
          <a:ln/>
        </p:spPr>
        <p:txBody>
          <a:bodyPr wrap="square" rtlCol="0" anchor="ctr"/>
          <a:lstStyle/>
          <a:p>
            <a:pPr marL="0" indent="0">
              <a:buNone/>
            </a:pPr>
            <a:r>
              <a:rPr lang="en-US" sz="1600" b="1" dirty="0">
                <a:solidFill>
                  <a:srgbClr val="4D0F96"/>
                </a:solidFill>
                <a:latin typeface="Helvetica" pitchFamily="34" charset="0"/>
                <a:ea typeface="Helvetica" pitchFamily="34" charset="-122"/>
                <a:cs typeface="Helvetica" pitchFamily="34" charset="-120"/>
              </a:rPr>
              <a:t>Foco para el próximo ciclo</a:t>
            </a:r>
            <a:endParaRPr lang="en-US" sz="1600" dirty="0"/>
          </a:p>
        </p:txBody>
      </p:sp>
      <p:sp>
        <p:nvSpPr>
          <p:cNvPr id="10" name="Text 8"/>
          <p:cNvSpPr/>
          <p:nvPr/>
        </p:nvSpPr>
        <p:spPr>
          <a:xfrm>
            <a:off x="457200" y="2514600"/>
            <a:ext cx="11274552" cy="731520"/>
          </a:xfrm>
          <a:prstGeom prst="rect">
            <a:avLst/>
          </a:prstGeom>
          <a:noFill/>
          <a:ln/>
        </p:spPr>
        <p:txBody>
          <a:bodyPr wrap="square" rtlCol="0" anchor="ctr"/>
          <a:lstStyle/>
          <a:p>
            <a:pPr marL="0" indent="0">
              <a:buNone/>
            </a:pPr>
            <a:r>
              <a:rPr lang="en-US" sz="1400" i="1" dirty="0">
                <a:solidFill>
                  <a:srgbClr val="424245"/>
                </a:solidFill>
                <a:latin typeface="Georgia" pitchFamily="34" charset="0"/>
                <a:ea typeface="Georgia" pitchFamily="34" charset="-122"/>
                <a:cs typeface="Georgia" pitchFamily="34" charset="-120"/>
              </a:rPr>
              <a:t>Consolidar los tres pilares ejecutados en 2025 y activar los dos pilares pendientes para abrir el ciclo 2026: aceleración Ready-to-Build hacia la fase de construcción, y captación de financiamiento de largo plazo.</a:t>
            </a:r>
            <a:endParaRPr lang="en-US" sz="1400" dirty="0"/>
          </a:p>
        </p:txBody>
      </p:sp>
      <p:sp>
        <p:nvSpPr>
          <p:cNvPr id="11" name="Shape 9"/>
          <p:cNvSpPr/>
          <p:nvPr/>
        </p:nvSpPr>
        <p:spPr>
          <a:xfrm>
            <a:off x="457200" y="3474720"/>
            <a:ext cx="3108960" cy="2651760"/>
          </a:xfrm>
          <a:prstGeom prst="roundRect">
            <a:avLst>
              <a:gd name="adj" fmla="val 6000"/>
            </a:avLst>
          </a:prstGeom>
          <a:solidFill>
            <a:srgbClr val="FFFFFF"/>
          </a:solidFill>
          <a:ln w="9525">
            <a:solidFill>
              <a:srgbClr val="D2D2D7"/>
            </a:solidFill>
            <a:prstDash val="solid"/>
          </a:ln>
        </p:spPr>
      </p:sp>
      <p:sp>
        <p:nvSpPr>
          <p:cNvPr id="12" name="Shape 10"/>
          <p:cNvSpPr/>
          <p:nvPr/>
        </p:nvSpPr>
        <p:spPr>
          <a:xfrm>
            <a:off x="457200" y="3474720"/>
            <a:ext cx="73152" cy="2651760"/>
          </a:xfrm>
          <a:prstGeom prst="rect">
            <a:avLst/>
          </a:prstGeom>
          <a:solidFill>
            <a:srgbClr val="4D0F96"/>
          </a:solidFill>
          <a:ln/>
        </p:spPr>
      </p:sp>
      <p:sp>
        <p:nvSpPr>
          <p:cNvPr id="13" name="Text 11"/>
          <p:cNvSpPr/>
          <p:nvPr/>
        </p:nvSpPr>
        <p:spPr>
          <a:xfrm>
            <a:off x="731520" y="3611880"/>
            <a:ext cx="1371600" cy="548640"/>
          </a:xfrm>
          <a:prstGeom prst="rect">
            <a:avLst/>
          </a:prstGeom>
          <a:noFill/>
          <a:ln/>
        </p:spPr>
        <p:txBody>
          <a:bodyPr wrap="square" rtlCol="0" anchor="ctr"/>
          <a:lstStyle/>
          <a:p>
            <a:pPr marL="0" indent="0">
              <a:buNone/>
            </a:pPr>
            <a:r>
              <a:rPr lang="en-US" sz="3600" b="1" dirty="0">
                <a:solidFill>
                  <a:srgbClr val="4D0F96"/>
                </a:solidFill>
                <a:latin typeface="Georgia" pitchFamily="34" charset="0"/>
                <a:ea typeface="Georgia" pitchFamily="34" charset="-122"/>
                <a:cs typeface="Georgia" pitchFamily="34" charset="-120"/>
              </a:rPr>
              <a:t>01</a:t>
            </a:r>
            <a:endParaRPr lang="en-US" sz="3600" dirty="0"/>
          </a:p>
        </p:txBody>
      </p:sp>
      <p:sp>
        <p:nvSpPr>
          <p:cNvPr id="14" name="Text 12"/>
          <p:cNvSpPr/>
          <p:nvPr/>
        </p:nvSpPr>
        <p:spPr>
          <a:xfrm>
            <a:off x="731520" y="4206240"/>
            <a:ext cx="2651760" cy="914400"/>
          </a:xfrm>
          <a:prstGeom prst="rect">
            <a:avLst/>
          </a:prstGeom>
          <a:noFill/>
          <a:ln/>
        </p:spPr>
        <p:txBody>
          <a:bodyPr wrap="square" rtlCol="0" anchor="ctr"/>
          <a:lstStyle/>
          <a:p>
            <a:pPr marL="0" indent="0">
              <a:buNone/>
            </a:pPr>
            <a:r>
              <a:rPr lang="en-US" sz="1800" b="1" dirty="0">
                <a:solidFill>
                  <a:srgbClr val="1D1D1F"/>
                </a:solidFill>
                <a:latin typeface="Helvetica" pitchFamily="34" charset="0"/>
                <a:ea typeface="Helvetica" pitchFamily="34" charset="-122"/>
                <a:cs typeface="Helvetica" pitchFamily="34" charset="-120"/>
              </a:rPr>
              <a:t>Búsqueda de deuda nacional</a:t>
            </a:r>
            <a:endParaRPr lang="en-US" sz="1800" dirty="0"/>
          </a:p>
        </p:txBody>
      </p:sp>
      <p:sp>
        <p:nvSpPr>
          <p:cNvPr id="15" name="Shape 13"/>
          <p:cNvSpPr/>
          <p:nvPr/>
        </p:nvSpPr>
        <p:spPr>
          <a:xfrm>
            <a:off x="731520" y="5120640"/>
            <a:ext cx="457200" cy="0"/>
          </a:xfrm>
          <a:prstGeom prst="line">
            <a:avLst/>
          </a:prstGeom>
          <a:noFill/>
          <a:ln w="25400">
            <a:solidFill>
              <a:srgbClr val="4D0F96"/>
            </a:solidFill>
            <a:prstDash val="solid"/>
          </a:ln>
        </p:spPr>
      </p:sp>
      <p:sp>
        <p:nvSpPr>
          <p:cNvPr id="16" name="Text 14"/>
          <p:cNvSpPr/>
          <p:nvPr/>
        </p:nvSpPr>
        <p:spPr>
          <a:xfrm>
            <a:off x="731520" y="5212080"/>
            <a:ext cx="2651760" cy="914400"/>
          </a:xfrm>
          <a:prstGeom prst="rect">
            <a:avLst/>
          </a:prstGeom>
          <a:noFill/>
          <a:ln/>
        </p:spPr>
        <p:txBody>
          <a:bodyPr wrap="square" rtlCol="0" anchor="ctr"/>
          <a:lstStyle/>
          <a:p>
            <a:pPr marL="0" indent="0">
              <a:buNone/>
            </a:pPr>
            <a:r>
              <a:rPr lang="en-US" sz="1200" dirty="0">
                <a:solidFill>
                  <a:srgbClr val="424245"/>
                </a:solidFill>
                <a:latin typeface="Helvetica" pitchFamily="34" charset="0"/>
                <a:ea typeface="Helvetica" pitchFamily="34" charset="-122"/>
                <a:cs typeface="Helvetica" pitchFamily="34" charset="-120"/>
              </a:rPr>
              <a:t>Estructurar deuda con bancos chilenos para escalar inversión en portfolio.</a:t>
            </a:r>
            <a:endParaRPr lang="en-US" sz="1200" dirty="0"/>
          </a:p>
        </p:txBody>
      </p:sp>
      <p:sp>
        <p:nvSpPr>
          <p:cNvPr id="17" name="Shape 15"/>
          <p:cNvSpPr/>
          <p:nvPr/>
        </p:nvSpPr>
        <p:spPr>
          <a:xfrm>
            <a:off x="4526280" y="3474720"/>
            <a:ext cx="3108960" cy="2651760"/>
          </a:xfrm>
          <a:prstGeom prst="roundRect">
            <a:avLst>
              <a:gd name="adj" fmla="val 6000"/>
            </a:avLst>
          </a:prstGeom>
          <a:solidFill>
            <a:srgbClr val="FFFFFF"/>
          </a:solidFill>
          <a:ln w="9525">
            <a:solidFill>
              <a:srgbClr val="D2D2D7"/>
            </a:solidFill>
            <a:prstDash val="solid"/>
          </a:ln>
        </p:spPr>
      </p:sp>
      <p:sp>
        <p:nvSpPr>
          <p:cNvPr id="18" name="Shape 16"/>
          <p:cNvSpPr/>
          <p:nvPr/>
        </p:nvSpPr>
        <p:spPr>
          <a:xfrm>
            <a:off x="4526280" y="3474720"/>
            <a:ext cx="73152" cy="2651760"/>
          </a:xfrm>
          <a:prstGeom prst="rect">
            <a:avLst/>
          </a:prstGeom>
          <a:solidFill>
            <a:srgbClr val="823DBC"/>
          </a:solidFill>
          <a:ln/>
        </p:spPr>
      </p:sp>
      <p:sp>
        <p:nvSpPr>
          <p:cNvPr id="19" name="Text 17"/>
          <p:cNvSpPr/>
          <p:nvPr/>
        </p:nvSpPr>
        <p:spPr>
          <a:xfrm>
            <a:off x="4800600" y="3611880"/>
            <a:ext cx="1371600" cy="548640"/>
          </a:xfrm>
          <a:prstGeom prst="rect">
            <a:avLst/>
          </a:prstGeom>
          <a:noFill/>
          <a:ln/>
        </p:spPr>
        <p:txBody>
          <a:bodyPr wrap="square" rtlCol="0" anchor="ctr"/>
          <a:lstStyle/>
          <a:p>
            <a:pPr marL="0" indent="0">
              <a:buNone/>
            </a:pPr>
            <a:r>
              <a:rPr lang="en-US" sz="3600" b="1" dirty="0">
                <a:solidFill>
                  <a:srgbClr val="823DBC"/>
                </a:solidFill>
                <a:latin typeface="Georgia" pitchFamily="34" charset="0"/>
                <a:ea typeface="Georgia" pitchFamily="34" charset="-122"/>
                <a:cs typeface="Georgia" pitchFamily="34" charset="-120"/>
              </a:rPr>
              <a:t>02</a:t>
            </a:r>
            <a:endParaRPr lang="en-US" sz="3600" dirty="0"/>
          </a:p>
        </p:txBody>
      </p:sp>
      <p:sp>
        <p:nvSpPr>
          <p:cNvPr id="20" name="Text 18"/>
          <p:cNvSpPr/>
          <p:nvPr/>
        </p:nvSpPr>
        <p:spPr>
          <a:xfrm>
            <a:off x="4800600" y="4206240"/>
            <a:ext cx="2651760" cy="914400"/>
          </a:xfrm>
          <a:prstGeom prst="rect">
            <a:avLst/>
          </a:prstGeom>
          <a:noFill/>
          <a:ln/>
        </p:spPr>
        <p:txBody>
          <a:bodyPr wrap="square" rtlCol="0" anchor="ctr"/>
          <a:lstStyle/>
          <a:p>
            <a:pPr marL="0" indent="0">
              <a:buNone/>
            </a:pPr>
            <a:r>
              <a:rPr lang="en-US" sz="1800" b="1" dirty="0">
                <a:solidFill>
                  <a:srgbClr val="1D1D1F"/>
                </a:solidFill>
                <a:latin typeface="Helvetica" pitchFamily="34" charset="0"/>
                <a:ea typeface="Helvetica" pitchFamily="34" charset="-122"/>
                <a:cs typeface="Helvetica" pitchFamily="34" charset="-120"/>
              </a:rPr>
              <a:t>Financiamiento internacional</a:t>
            </a:r>
            <a:endParaRPr lang="en-US" sz="1800" dirty="0"/>
          </a:p>
        </p:txBody>
      </p:sp>
      <p:sp>
        <p:nvSpPr>
          <p:cNvPr id="21" name="Shape 19"/>
          <p:cNvSpPr/>
          <p:nvPr/>
        </p:nvSpPr>
        <p:spPr>
          <a:xfrm>
            <a:off x="4800600" y="5120640"/>
            <a:ext cx="457200" cy="0"/>
          </a:xfrm>
          <a:prstGeom prst="line">
            <a:avLst/>
          </a:prstGeom>
          <a:noFill/>
          <a:ln w="25400">
            <a:solidFill>
              <a:srgbClr val="823DBC"/>
            </a:solidFill>
            <a:prstDash val="solid"/>
          </a:ln>
        </p:spPr>
      </p:sp>
      <p:sp>
        <p:nvSpPr>
          <p:cNvPr id="22" name="Text 20"/>
          <p:cNvSpPr/>
          <p:nvPr/>
        </p:nvSpPr>
        <p:spPr>
          <a:xfrm>
            <a:off x="4800600" y="5212080"/>
            <a:ext cx="2651760" cy="914400"/>
          </a:xfrm>
          <a:prstGeom prst="rect">
            <a:avLst/>
          </a:prstGeom>
          <a:noFill/>
          <a:ln/>
        </p:spPr>
        <p:txBody>
          <a:bodyPr wrap="square" rtlCol="0" anchor="ctr"/>
          <a:lstStyle/>
          <a:p>
            <a:pPr marL="0" indent="0">
              <a:buNone/>
            </a:pPr>
            <a:r>
              <a:rPr lang="en-US" sz="1200" dirty="0">
                <a:solidFill>
                  <a:srgbClr val="424245"/>
                </a:solidFill>
                <a:latin typeface="Helvetica" pitchFamily="34" charset="0"/>
                <a:ea typeface="Helvetica" pitchFamily="34" charset="-122"/>
                <a:cs typeface="Helvetica" pitchFamily="34" charset="-120"/>
              </a:rPr>
              <a:t>Apertura a bancos chinos (Bank of China, ICBC, CMB, SWCB) y empresas con presencia en Chile.</a:t>
            </a:r>
            <a:endParaRPr lang="en-US" sz="1200" dirty="0"/>
          </a:p>
        </p:txBody>
      </p:sp>
      <p:sp>
        <p:nvSpPr>
          <p:cNvPr id="23" name="Shape 21"/>
          <p:cNvSpPr/>
          <p:nvPr/>
        </p:nvSpPr>
        <p:spPr>
          <a:xfrm>
            <a:off x="8595360" y="3474720"/>
            <a:ext cx="3108960" cy="2651760"/>
          </a:xfrm>
          <a:prstGeom prst="roundRect">
            <a:avLst>
              <a:gd name="adj" fmla="val 6000"/>
            </a:avLst>
          </a:prstGeom>
          <a:solidFill>
            <a:srgbClr val="FFFFFF"/>
          </a:solidFill>
          <a:ln w="9525">
            <a:solidFill>
              <a:srgbClr val="D2D2D7"/>
            </a:solidFill>
            <a:prstDash val="solid"/>
          </a:ln>
        </p:spPr>
      </p:sp>
      <p:sp>
        <p:nvSpPr>
          <p:cNvPr id="24" name="Shape 22"/>
          <p:cNvSpPr/>
          <p:nvPr/>
        </p:nvSpPr>
        <p:spPr>
          <a:xfrm>
            <a:off x="8595360" y="3474720"/>
            <a:ext cx="73152" cy="2651760"/>
          </a:xfrm>
          <a:prstGeom prst="rect">
            <a:avLst/>
          </a:prstGeom>
          <a:solidFill>
            <a:srgbClr val="2C74FF"/>
          </a:solidFill>
          <a:ln/>
        </p:spPr>
      </p:sp>
      <p:sp>
        <p:nvSpPr>
          <p:cNvPr id="25" name="Text 23"/>
          <p:cNvSpPr/>
          <p:nvPr/>
        </p:nvSpPr>
        <p:spPr>
          <a:xfrm>
            <a:off x="8869680" y="3611880"/>
            <a:ext cx="1371600" cy="548640"/>
          </a:xfrm>
          <a:prstGeom prst="rect">
            <a:avLst/>
          </a:prstGeom>
          <a:noFill/>
          <a:ln/>
        </p:spPr>
        <p:txBody>
          <a:bodyPr wrap="square" rtlCol="0" anchor="ctr"/>
          <a:lstStyle/>
          <a:p>
            <a:pPr marL="0" indent="0">
              <a:buNone/>
            </a:pPr>
            <a:r>
              <a:rPr lang="en-US" sz="3600" b="1" dirty="0">
                <a:solidFill>
                  <a:srgbClr val="2C74FF"/>
                </a:solidFill>
                <a:latin typeface="Georgia" pitchFamily="34" charset="0"/>
                <a:ea typeface="Georgia" pitchFamily="34" charset="-122"/>
                <a:cs typeface="Georgia" pitchFamily="34" charset="-120"/>
              </a:rPr>
              <a:t>03</a:t>
            </a:r>
            <a:endParaRPr lang="en-US" sz="3600" dirty="0"/>
          </a:p>
        </p:txBody>
      </p:sp>
      <p:sp>
        <p:nvSpPr>
          <p:cNvPr id="26" name="Text 24"/>
          <p:cNvSpPr/>
          <p:nvPr/>
        </p:nvSpPr>
        <p:spPr>
          <a:xfrm>
            <a:off x="8869680" y="4206240"/>
            <a:ext cx="2651760" cy="914400"/>
          </a:xfrm>
          <a:prstGeom prst="rect">
            <a:avLst/>
          </a:prstGeom>
          <a:noFill/>
          <a:ln/>
        </p:spPr>
        <p:txBody>
          <a:bodyPr wrap="square" rtlCol="0" anchor="ctr"/>
          <a:lstStyle/>
          <a:p>
            <a:pPr marL="0" indent="0">
              <a:buNone/>
            </a:pPr>
            <a:r>
              <a:rPr lang="en-US" sz="1800" b="1" dirty="0">
                <a:solidFill>
                  <a:srgbClr val="1D1D1F"/>
                </a:solidFill>
                <a:latin typeface="Helvetica" pitchFamily="34" charset="0"/>
                <a:ea typeface="Helvetica" pitchFamily="34" charset="-122"/>
                <a:cs typeface="Helvetica" pitchFamily="34" charset="-120"/>
              </a:rPr>
              <a:t>Hitos por portfolio company</a:t>
            </a:r>
            <a:endParaRPr lang="en-US" sz="1800" dirty="0"/>
          </a:p>
        </p:txBody>
      </p:sp>
      <p:sp>
        <p:nvSpPr>
          <p:cNvPr id="27" name="Shape 25"/>
          <p:cNvSpPr/>
          <p:nvPr/>
        </p:nvSpPr>
        <p:spPr>
          <a:xfrm>
            <a:off x="8869680" y="5120640"/>
            <a:ext cx="457200" cy="0"/>
          </a:xfrm>
          <a:prstGeom prst="line">
            <a:avLst/>
          </a:prstGeom>
          <a:noFill/>
          <a:ln w="25400">
            <a:solidFill>
              <a:srgbClr val="2C74FF"/>
            </a:solidFill>
            <a:prstDash val="solid"/>
          </a:ln>
        </p:spPr>
      </p:sp>
      <p:sp>
        <p:nvSpPr>
          <p:cNvPr id="28" name="Text 26"/>
          <p:cNvSpPr/>
          <p:nvPr/>
        </p:nvSpPr>
        <p:spPr>
          <a:xfrm>
            <a:off x="8869680" y="5212080"/>
            <a:ext cx="2651760" cy="914400"/>
          </a:xfrm>
          <a:prstGeom prst="rect">
            <a:avLst/>
          </a:prstGeom>
          <a:noFill/>
          <a:ln/>
        </p:spPr>
        <p:txBody>
          <a:bodyPr wrap="square" rtlCol="0" anchor="ctr"/>
          <a:lstStyle/>
          <a:p>
            <a:pPr marL="0" indent="0">
              <a:buNone/>
            </a:pPr>
            <a:r>
              <a:rPr lang="en-US" sz="1200" dirty="0">
                <a:solidFill>
                  <a:srgbClr val="424245"/>
                </a:solidFill>
                <a:latin typeface="Helvetica" pitchFamily="34" charset="0"/>
                <a:ea typeface="Helvetica" pitchFamily="34" charset="-122"/>
                <a:cs typeface="Helvetica" pitchFamily="34" charset="-120"/>
              </a:rPr>
              <a:t>Avance específico de cada compañía hacia Ready-to-Build y operación.</a:t>
            </a:r>
            <a:endParaRPr lang="en-US" sz="1200" dirty="0"/>
          </a:p>
        </p:txBody>
      </p:sp>
      <p:sp>
        <p:nvSpPr>
          <p:cNvPr id="29" name="Shape 27"/>
          <p:cNvSpPr/>
          <p:nvPr/>
        </p:nvSpPr>
        <p:spPr>
          <a:xfrm>
            <a:off x="457200" y="6492240"/>
            <a:ext cx="11274552" cy="0"/>
          </a:xfrm>
          <a:prstGeom prst="line">
            <a:avLst/>
          </a:prstGeom>
          <a:noFill/>
          <a:ln w="6350">
            <a:solidFill>
              <a:srgbClr val="D2D2D7"/>
            </a:solidFill>
            <a:prstDash val="solid"/>
          </a:ln>
        </p:spPr>
      </p:sp>
      <p:sp>
        <p:nvSpPr>
          <p:cNvPr id="30" name="Text 28"/>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31" name="Text 29"/>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27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15 — 18</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OBJECTIVE 1 · 2026</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Búsqueda de deuda nacional</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Text 7"/>
          <p:cNvSpPr/>
          <p:nvPr/>
        </p:nvSpPr>
        <p:spPr>
          <a:xfrm>
            <a:off x="457200" y="2103120"/>
            <a:ext cx="6400800" cy="365760"/>
          </a:xfrm>
          <a:prstGeom prst="rect">
            <a:avLst/>
          </a:prstGeom>
          <a:noFill/>
          <a:ln/>
        </p:spPr>
        <p:txBody>
          <a:bodyPr wrap="square" rtlCol="0" anchor="ctr"/>
          <a:lstStyle/>
          <a:p>
            <a:pPr marL="0" indent="0">
              <a:buNone/>
            </a:pPr>
            <a:r>
              <a:rPr lang="en-US" sz="1600" b="1" dirty="0">
                <a:solidFill>
                  <a:srgbClr val="4D0F96"/>
                </a:solidFill>
                <a:latin typeface="Helvetica" pitchFamily="34" charset="0"/>
                <a:ea typeface="Helvetica" pitchFamily="34" charset="-122"/>
                <a:cs typeface="Helvetica" pitchFamily="34" charset="-120"/>
              </a:rPr>
              <a:t>Estrategia</a:t>
            </a:r>
            <a:endParaRPr lang="en-US" sz="1600" dirty="0"/>
          </a:p>
        </p:txBody>
      </p:sp>
      <p:sp>
        <p:nvSpPr>
          <p:cNvPr id="10" name="Shape 8"/>
          <p:cNvSpPr/>
          <p:nvPr/>
        </p:nvSpPr>
        <p:spPr>
          <a:xfrm>
            <a:off x="457200" y="2651760"/>
            <a:ext cx="164592" cy="164592"/>
          </a:xfrm>
          <a:prstGeom prst="ellipse">
            <a:avLst/>
          </a:prstGeom>
          <a:solidFill>
            <a:srgbClr val="4D0F96"/>
          </a:solidFill>
          <a:ln/>
        </p:spPr>
      </p:sp>
      <p:sp>
        <p:nvSpPr>
          <p:cNvPr id="11" name="Text 9"/>
          <p:cNvSpPr/>
          <p:nvPr/>
        </p:nvSpPr>
        <p:spPr>
          <a:xfrm>
            <a:off x="777240" y="2560320"/>
            <a:ext cx="59436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Bancos chilenos con apetito ESG</a:t>
            </a:r>
            <a:endParaRPr lang="en-US" sz="1400" dirty="0"/>
          </a:p>
        </p:txBody>
      </p:sp>
      <p:sp>
        <p:nvSpPr>
          <p:cNvPr id="12" name="Text 10"/>
          <p:cNvSpPr/>
          <p:nvPr/>
        </p:nvSpPr>
        <p:spPr>
          <a:xfrm>
            <a:off x="777240" y="2852928"/>
            <a:ext cx="5943600" cy="50292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Identificación de instituciones con líneas verdes / sostenibles activas.</a:t>
            </a:r>
            <a:endParaRPr lang="en-US" sz="1100" dirty="0"/>
          </a:p>
        </p:txBody>
      </p:sp>
      <p:sp>
        <p:nvSpPr>
          <p:cNvPr id="13" name="Shape 11"/>
          <p:cNvSpPr/>
          <p:nvPr/>
        </p:nvSpPr>
        <p:spPr>
          <a:xfrm>
            <a:off x="457200" y="3429000"/>
            <a:ext cx="164592" cy="164592"/>
          </a:xfrm>
          <a:prstGeom prst="ellipse">
            <a:avLst/>
          </a:prstGeom>
          <a:solidFill>
            <a:srgbClr val="4D0F96"/>
          </a:solidFill>
          <a:ln/>
        </p:spPr>
      </p:sp>
      <p:sp>
        <p:nvSpPr>
          <p:cNvPr id="14" name="Text 12"/>
          <p:cNvSpPr/>
          <p:nvPr/>
        </p:nvSpPr>
        <p:spPr>
          <a:xfrm>
            <a:off x="777240" y="3337560"/>
            <a:ext cx="59436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Estructura a nivel de SpV</a:t>
            </a:r>
            <a:endParaRPr lang="en-US" sz="1400" dirty="0"/>
          </a:p>
        </p:txBody>
      </p:sp>
      <p:sp>
        <p:nvSpPr>
          <p:cNvPr id="15" name="Text 13"/>
          <p:cNvSpPr/>
          <p:nvPr/>
        </p:nvSpPr>
        <p:spPr>
          <a:xfrm>
            <a:off x="777240" y="3630168"/>
            <a:ext cx="5943600" cy="50292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Deuda colateralizada por activos del proyecto, no por el Fondo directamente.</a:t>
            </a:r>
            <a:endParaRPr lang="en-US" sz="1100" dirty="0"/>
          </a:p>
        </p:txBody>
      </p:sp>
      <p:sp>
        <p:nvSpPr>
          <p:cNvPr id="16" name="Shape 14"/>
          <p:cNvSpPr/>
          <p:nvPr/>
        </p:nvSpPr>
        <p:spPr>
          <a:xfrm>
            <a:off x="457200" y="4206240"/>
            <a:ext cx="164592" cy="164592"/>
          </a:xfrm>
          <a:prstGeom prst="ellipse">
            <a:avLst/>
          </a:prstGeom>
          <a:solidFill>
            <a:srgbClr val="4D0F96"/>
          </a:solidFill>
          <a:ln/>
        </p:spPr>
      </p:sp>
      <p:sp>
        <p:nvSpPr>
          <p:cNvPr id="17" name="Text 15"/>
          <p:cNvSpPr/>
          <p:nvPr/>
        </p:nvSpPr>
        <p:spPr>
          <a:xfrm>
            <a:off x="777240" y="4114800"/>
            <a:ext cx="59436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Garantías complementarias</a:t>
            </a:r>
            <a:endParaRPr lang="en-US" sz="1400" dirty="0"/>
          </a:p>
        </p:txBody>
      </p:sp>
      <p:sp>
        <p:nvSpPr>
          <p:cNvPr id="18" name="Text 16"/>
          <p:cNvSpPr/>
          <p:nvPr/>
        </p:nvSpPr>
        <p:spPr>
          <a:xfrm>
            <a:off x="777240" y="4407408"/>
            <a:ext cx="5943600" cy="50292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Boletas, escrow accounts y co-garantías estructuradas según el banco.</a:t>
            </a:r>
            <a:endParaRPr lang="en-US" sz="1100" dirty="0"/>
          </a:p>
        </p:txBody>
      </p:sp>
      <p:sp>
        <p:nvSpPr>
          <p:cNvPr id="19" name="Shape 17"/>
          <p:cNvSpPr/>
          <p:nvPr/>
        </p:nvSpPr>
        <p:spPr>
          <a:xfrm>
            <a:off x="457200" y="4983480"/>
            <a:ext cx="164592" cy="164592"/>
          </a:xfrm>
          <a:prstGeom prst="ellipse">
            <a:avLst/>
          </a:prstGeom>
          <a:solidFill>
            <a:srgbClr val="4D0F96"/>
          </a:solidFill>
          <a:ln/>
        </p:spPr>
      </p:sp>
      <p:sp>
        <p:nvSpPr>
          <p:cNvPr id="20" name="Text 18"/>
          <p:cNvSpPr/>
          <p:nvPr/>
        </p:nvSpPr>
        <p:spPr>
          <a:xfrm>
            <a:off x="777240" y="4892040"/>
            <a:ext cx="59436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Calce con Ready-to-Build</a:t>
            </a:r>
            <a:endParaRPr lang="en-US" sz="1400" dirty="0"/>
          </a:p>
        </p:txBody>
      </p:sp>
      <p:sp>
        <p:nvSpPr>
          <p:cNvPr id="21" name="Text 19"/>
          <p:cNvSpPr/>
          <p:nvPr/>
        </p:nvSpPr>
        <p:spPr>
          <a:xfrm>
            <a:off x="777240" y="5184648"/>
            <a:ext cx="5943600" cy="50292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Cierre financiero coordinado con hitos de ingeniería y permisos.</a:t>
            </a:r>
            <a:endParaRPr lang="en-US" sz="1100" dirty="0"/>
          </a:p>
        </p:txBody>
      </p:sp>
      <p:sp>
        <p:nvSpPr>
          <p:cNvPr id="22" name="Shape 20"/>
          <p:cNvSpPr/>
          <p:nvPr/>
        </p:nvSpPr>
        <p:spPr>
          <a:xfrm>
            <a:off x="7589520" y="2103120"/>
            <a:ext cx="4114800" cy="4023360"/>
          </a:xfrm>
          <a:prstGeom prst="roundRect">
            <a:avLst>
              <a:gd name="adj" fmla="val 6000"/>
            </a:avLst>
          </a:prstGeom>
          <a:solidFill>
            <a:srgbClr val="EEEDFE"/>
          </a:solidFill>
          <a:ln/>
        </p:spPr>
      </p:sp>
      <p:sp>
        <p:nvSpPr>
          <p:cNvPr id="23" name="Text 21"/>
          <p:cNvSpPr/>
          <p:nvPr/>
        </p:nvSpPr>
        <p:spPr>
          <a:xfrm>
            <a:off x="7818120" y="2331720"/>
            <a:ext cx="3657600" cy="274320"/>
          </a:xfrm>
          <a:prstGeom prst="rect">
            <a:avLst/>
          </a:prstGeom>
          <a:noFill/>
          <a:ln/>
        </p:spPr>
        <p:txBody>
          <a:bodyPr wrap="square" rtlCol="0" anchor="ctr"/>
          <a:lstStyle/>
          <a:p>
            <a:pPr marL="0" indent="0">
              <a:buNone/>
            </a:pPr>
            <a:r>
              <a:rPr lang="en-US" sz="1000" b="1" kern="0" spc="300" dirty="0">
                <a:solidFill>
                  <a:srgbClr val="4D0F96"/>
                </a:solidFill>
                <a:latin typeface="Helvetica" pitchFamily="34" charset="0"/>
                <a:ea typeface="Helvetica" pitchFamily="34" charset="-122"/>
                <a:cs typeface="Helvetica" pitchFamily="34" charset="-120"/>
              </a:rPr>
              <a:t>CONTRAPARTES OBJETIVO</a:t>
            </a:r>
            <a:endParaRPr lang="en-US" sz="1000" dirty="0"/>
          </a:p>
        </p:txBody>
      </p:sp>
      <p:sp>
        <p:nvSpPr>
          <p:cNvPr id="24" name="Text 22"/>
          <p:cNvSpPr/>
          <p:nvPr/>
        </p:nvSpPr>
        <p:spPr>
          <a:xfrm>
            <a:off x="7818120" y="2651760"/>
            <a:ext cx="3657600" cy="365760"/>
          </a:xfrm>
          <a:prstGeom prst="rect">
            <a:avLst/>
          </a:prstGeom>
          <a:noFill/>
          <a:ln/>
        </p:spPr>
        <p:txBody>
          <a:bodyPr wrap="square" rtlCol="0" anchor="ctr"/>
          <a:lstStyle/>
          <a:p>
            <a:pPr marL="0" indent="0">
              <a:buNone/>
            </a:pPr>
            <a:r>
              <a:rPr lang="en-US" sz="2000" b="1" i="1" dirty="0">
                <a:solidFill>
                  <a:srgbClr val="4D0F96"/>
                </a:solidFill>
                <a:latin typeface="Georgia" pitchFamily="34" charset="0"/>
                <a:ea typeface="Georgia" pitchFamily="34" charset="-122"/>
                <a:cs typeface="Georgia" pitchFamily="34" charset="-120"/>
              </a:rPr>
              <a:t>Bancos chilenos</a:t>
            </a:r>
            <a:endParaRPr lang="en-US" sz="2000" dirty="0"/>
          </a:p>
        </p:txBody>
      </p:sp>
      <p:sp>
        <p:nvSpPr>
          <p:cNvPr id="25" name="Shape 23"/>
          <p:cNvSpPr/>
          <p:nvPr/>
        </p:nvSpPr>
        <p:spPr>
          <a:xfrm>
            <a:off x="7818120" y="3108960"/>
            <a:ext cx="640080" cy="0"/>
          </a:xfrm>
          <a:prstGeom prst="line">
            <a:avLst/>
          </a:prstGeom>
          <a:noFill/>
          <a:ln w="25400">
            <a:solidFill>
              <a:srgbClr val="823DBC"/>
            </a:solidFill>
            <a:prstDash val="solid"/>
          </a:ln>
        </p:spPr>
      </p:sp>
      <p:sp>
        <p:nvSpPr>
          <p:cNvPr id="26" name="Shape 24"/>
          <p:cNvSpPr/>
          <p:nvPr/>
        </p:nvSpPr>
        <p:spPr>
          <a:xfrm>
            <a:off x="7818120" y="3456432"/>
            <a:ext cx="109728" cy="109728"/>
          </a:xfrm>
          <a:prstGeom prst="ellipse">
            <a:avLst/>
          </a:prstGeom>
          <a:solidFill>
            <a:srgbClr val="4D0F96"/>
          </a:solidFill>
          <a:ln/>
        </p:spPr>
      </p:sp>
      <p:sp>
        <p:nvSpPr>
          <p:cNvPr id="27" name="Text 25"/>
          <p:cNvSpPr/>
          <p:nvPr/>
        </p:nvSpPr>
        <p:spPr>
          <a:xfrm>
            <a:off x="8046720" y="3337560"/>
            <a:ext cx="3474720"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Banco Estado</a:t>
            </a:r>
            <a:endParaRPr lang="en-US" sz="1300" dirty="0"/>
          </a:p>
        </p:txBody>
      </p:sp>
      <p:sp>
        <p:nvSpPr>
          <p:cNvPr id="28" name="Text 26"/>
          <p:cNvSpPr/>
          <p:nvPr/>
        </p:nvSpPr>
        <p:spPr>
          <a:xfrm>
            <a:off x="8046720" y="3584448"/>
            <a:ext cx="3474720" cy="22860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Líneas Pyme + ESG</a:t>
            </a:r>
            <a:endParaRPr lang="en-US" sz="1000" dirty="0"/>
          </a:p>
        </p:txBody>
      </p:sp>
      <p:sp>
        <p:nvSpPr>
          <p:cNvPr id="29" name="Shape 27"/>
          <p:cNvSpPr/>
          <p:nvPr/>
        </p:nvSpPr>
        <p:spPr>
          <a:xfrm>
            <a:off x="7818120" y="3959352"/>
            <a:ext cx="109728" cy="109728"/>
          </a:xfrm>
          <a:prstGeom prst="ellipse">
            <a:avLst/>
          </a:prstGeom>
          <a:solidFill>
            <a:srgbClr val="4D0F96"/>
          </a:solidFill>
          <a:ln/>
        </p:spPr>
      </p:sp>
      <p:sp>
        <p:nvSpPr>
          <p:cNvPr id="30" name="Text 28"/>
          <p:cNvSpPr/>
          <p:nvPr/>
        </p:nvSpPr>
        <p:spPr>
          <a:xfrm>
            <a:off x="8046720" y="3840480"/>
            <a:ext cx="3474720"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BICE</a:t>
            </a:r>
            <a:endParaRPr lang="en-US" sz="1300" dirty="0"/>
          </a:p>
        </p:txBody>
      </p:sp>
      <p:sp>
        <p:nvSpPr>
          <p:cNvPr id="31" name="Text 29"/>
          <p:cNvSpPr/>
          <p:nvPr/>
        </p:nvSpPr>
        <p:spPr>
          <a:xfrm>
            <a:off x="8046720" y="4087368"/>
            <a:ext cx="3474720" cy="22860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Project finance ESG</a:t>
            </a:r>
            <a:endParaRPr lang="en-US" sz="1000" dirty="0"/>
          </a:p>
        </p:txBody>
      </p:sp>
      <p:sp>
        <p:nvSpPr>
          <p:cNvPr id="32" name="Shape 30"/>
          <p:cNvSpPr/>
          <p:nvPr/>
        </p:nvSpPr>
        <p:spPr>
          <a:xfrm>
            <a:off x="7818120" y="4462272"/>
            <a:ext cx="109728" cy="109728"/>
          </a:xfrm>
          <a:prstGeom prst="ellipse">
            <a:avLst/>
          </a:prstGeom>
          <a:solidFill>
            <a:srgbClr val="4D0F96"/>
          </a:solidFill>
          <a:ln/>
        </p:spPr>
      </p:sp>
      <p:sp>
        <p:nvSpPr>
          <p:cNvPr id="33" name="Text 31"/>
          <p:cNvSpPr/>
          <p:nvPr/>
        </p:nvSpPr>
        <p:spPr>
          <a:xfrm>
            <a:off x="8046720" y="4343400"/>
            <a:ext cx="3474720"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Santander</a:t>
            </a:r>
            <a:endParaRPr lang="en-US" sz="1300" dirty="0"/>
          </a:p>
        </p:txBody>
      </p:sp>
      <p:sp>
        <p:nvSpPr>
          <p:cNvPr id="34" name="Text 32"/>
          <p:cNvSpPr/>
          <p:nvPr/>
        </p:nvSpPr>
        <p:spPr>
          <a:xfrm>
            <a:off x="8046720" y="4590288"/>
            <a:ext cx="3474720" cy="22860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Sustainable lending</a:t>
            </a:r>
            <a:endParaRPr lang="en-US" sz="1000" dirty="0"/>
          </a:p>
        </p:txBody>
      </p:sp>
      <p:sp>
        <p:nvSpPr>
          <p:cNvPr id="35" name="Shape 33"/>
          <p:cNvSpPr/>
          <p:nvPr/>
        </p:nvSpPr>
        <p:spPr>
          <a:xfrm>
            <a:off x="7818120" y="4965192"/>
            <a:ext cx="109728" cy="109728"/>
          </a:xfrm>
          <a:prstGeom prst="ellipse">
            <a:avLst/>
          </a:prstGeom>
          <a:solidFill>
            <a:srgbClr val="4D0F96"/>
          </a:solidFill>
          <a:ln/>
        </p:spPr>
      </p:sp>
      <p:sp>
        <p:nvSpPr>
          <p:cNvPr id="36" name="Text 34"/>
          <p:cNvSpPr/>
          <p:nvPr/>
        </p:nvSpPr>
        <p:spPr>
          <a:xfrm>
            <a:off x="8046720" y="4846320"/>
            <a:ext cx="3474720"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BCI</a:t>
            </a:r>
            <a:endParaRPr lang="en-US" sz="1300" dirty="0"/>
          </a:p>
        </p:txBody>
      </p:sp>
      <p:sp>
        <p:nvSpPr>
          <p:cNvPr id="37" name="Text 35"/>
          <p:cNvSpPr/>
          <p:nvPr/>
        </p:nvSpPr>
        <p:spPr>
          <a:xfrm>
            <a:off x="8046720" y="5093208"/>
            <a:ext cx="3474720" cy="22860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Líneas verdes</a:t>
            </a:r>
            <a:endParaRPr lang="en-US" sz="1000" dirty="0"/>
          </a:p>
        </p:txBody>
      </p:sp>
      <p:sp>
        <p:nvSpPr>
          <p:cNvPr id="38" name="Shape 36"/>
          <p:cNvSpPr/>
          <p:nvPr/>
        </p:nvSpPr>
        <p:spPr>
          <a:xfrm>
            <a:off x="7818120" y="5468112"/>
            <a:ext cx="109728" cy="109728"/>
          </a:xfrm>
          <a:prstGeom prst="ellipse">
            <a:avLst/>
          </a:prstGeom>
          <a:solidFill>
            <a:srgbClr val="4D0F96"/>
          </a:solidFill>
          <a:ln/>
        </p:spPr>
      </p:sp>
      <p:sp>
        <p:nvSpPr>
          <p:cNvPr id="39" name="Text 37"/>
          <p:cNvSpPr/>
          <p:nvPr/>
        </p:nvSpPr>
        <p:spPr>
          <a:xfrm>
            <a:off x="8046720" y="5349240"/>
            <a:ext cx="3474720"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Bancos chinos en Chile</a:t>
            </a:r>
            <a:endParaRPr lang="en-US" sz="1300" dirty="0"/>
          </a:p>
        </p:txBody>
      </p:sp>
      <p:sp>
        <p:nvSpPr>
          <p:cNvPr id="40" name="Text 38"/>
          <p:cNvSpPr/>
          <p:nvPr/>
        </p:nvSpPr>
        <p:spPr>
          <a:xfrm>
            <a:off x="8046720" y="5596128"/>
            <a:ext cx="3474720" cy="22860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BoC Chile, ICBC Chile</a:t>
            </a:r>
            <a:endParaRPr lang="en-US" sz="1000" dirty="0"/>
          </a:p>
        </p:txBody>
      </p:sp>
      <p:sp>
        <p:nvSpPr>
          <p:cNvPr id="41" name="Shape 39"/>
          <p:cNvSpPr/>
          <p:nvPr/>
        </p:nvSpPr>
        <p:spPr>
          <a:xfrm>
            <a:off x="457200" y="6492240"/>
            <a:ext cx="11274552" cy="0"/>
          </a:xfrm>
          <a:prstGeom prst="line">
            <a:avLst/>
          </a:prstGeom>
          <a:noFill/>
          <a:ln w="6350">
            <a:solidFill>
              <a:srgbClr val="D2D2D7"/>
            </a:solidFill>
            <a:prstDash val="solid"/>
          </a:ln>
        </p:spPr>
      </p:sp>
      <p:sp>
        <p:nvSpPr>
          <p:cNvPr id="42" name="Text 40"/>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43" name="Text 41"/>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27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16 — 18</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OBJECTIVE 2 · 2026</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Financiamiento internacional</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Text 7"/>
          <p:cNvSpPr/>
          <p:nvPr/>
        </p:nvSpPr>
        <p:spPr>
          <a:xfrm>
            <a:off x="457200" y="2103120"/>
            <a:ext cx="10972800" cy="365760"/>
          </a:xfrm>
          <a:prstGeom prst="rect">
            <a:avLst/>
          </a:prstGeom>
          <a:noFill/>
          <a:ln/>
        </p:spPr>
        <p:txBody>
          <a:bodyPr wrap="square" rtlCol="0" anchor="ctr"/>
          <a:lstStyle/>
          <a:p>
            <a:pPr marL="0" indent="0">
              <a:buNone/>
            </a:pPr>
            <a:r>
              <a:rPr lang="en-US" sz="1600" b="1" dirty="0">
                <a:solidFill>
                  <a:srgbClr val="4D0F96"/>
                </a:solidFill>
                <a:latin typeface="Helvetica" pitchFamily="34" charset="0"/>
                <a:ea typeface="Helvetica" pitchFamily="34" charset="-122"/>
                <a:cs typeface="Helvetica" pitchFamily="34" charset="-120"/>
              </a:rPr>
              <a:t>CEHTA como puente Chile · China</a:t>
            </a:r>
            <a:endParaRPr lang="en-US" sz="1600" dirty="0"/>
          </a:p>
        </p:txBody>
      </p:sp>
      <p:sp>
        <p:nvSpPr>
          <p:cNvPr id="10" name="Text 8"/>
          <p:cNvSpPr/>
          <p:nvPr/>
        </p:nvSpPr>
        <p:spPr>
          <a:xfrm>
            <a:off x="457200" y="2514600"/>
            <a:ext cx="11274552" cy="731520"/>
          </a:xfrm>
          <a:prstGeom prst="rect">
            <a:avLst/>
          </a:prstGeom>
          <a:noFill/>
          <a:ln/>
        </p:spPr>
        <p:txBody>
          <a:bodyPr wrap="square" rtlCol="0" anchor="ctr"/>
          <a:lstStyle/>
          <a:p>
            <a:pPr marL="0" indent="0">
              <a:buNone/>
            </a:pPr>
            <a:r>
              <a:rPr lang="en-US" sz="1300" i="1" dirty="0">
                <a:solidFill>
                  <a:srgbClr val="424245"/>
                </a:solidFill>
                <a:latin typeface="Georgia" pitchFamily="34" charset="0"/>
                <a:ea typeface="Georgia" pitchFamily="34" charset="-122"/>
                <a:cs typeface="Georgia" pitchFamily="34" charset="-120"/>
              </a:rPr>
              <a:t>Apalancamiento del posicionamiento institucional de CEHTA hacia inversión sustentable en infraestructura latinoamericana, con foco en contrapartes chinas que tengan apetito por proyectos energéticos y de economía circular en Chile.</a:t>
            </a:r>
            <a:endParaRPr lang="en-US" sz="1300" dirty="0"/>
          </a:p>
        </p:txBody>
      </p:sp>
      <p:sp>
        <p:nvSpPr>
          <p:cNvPr id="11" name="Shape 9"/>
          <p:cNvSpPr/>
          <p:nvPr/>
        </p:nvSpPr>
        <p:spPr>
          <a:xfrm>
            <a:off x="457200" y="3383280"/>
            <a:ext cx="2560320" cy="1645920"/>
          </a:xfrm>
          <a:prstGeom prst="roundRect">
            <a:avLst>
              <a:gd name="adj" fmla="val 6000"/>
            </a:avLst>
          </a:prstGeom>
          <a:solidFill>
            <a:srgbClr val="FFFFFF"/>
          </a:solidFill>
          <a:ln w="9525">
            <a:solidFill>
              <a:srgbClr val="823DBC"/>
            </a:solidFill>
            <a:prstDash val="solid"/>
          </a:ln>
        </p:spPr>
      </p:sp>
      <p:sp>
        <p:nvSpPr>
          <p:cNvPr id="12" name="Text 10"/>
          <p:cNvSpPr/>
          <p:nvPr/>
        </p:nvSpPr>
        <p:spPr>
          <a:xfrm>
            <a:off x="640080" y="3474720"/>
            <a:ext cx="2286000" cy="274320"/>
          </a:xfrm>
          <a:prstGeom prst="rect">
            <a:avLst/>
          </a:prstGeom>
          <a:noFill/>
          <a:ln/>
        </p:spPr>
        <p:txBody>
          <a:bodyPr wrap="square" rtlCol="0" anchor="ctr"/>
          <a:lstStyle/>
          <a:p>
            <a:pPr marL="0" indent="0">
              <a:buNone/>
            </a:pPr>
            <a:r>
              <a:rPr lang="en-US" sz="900" b="1" kern="0" spc="300" dirty="0">
                <a:solidFill>
                  <a:srgbClr val="823DBC"/>
                </a:solidFill>
                <a:latin typeface="Helvetica" pitchFamily="34" charset="0"/>
                <a:ea typeface="Helvetica" pitchFamily="34" charset="-122"/>
                <a:cs typeface="Helvetica" pitchFamily="34" charset="-120"/>
              </a:rPr>
              <a:t>BANCOS</a:t>
            </a:r>
            <a:endParaRPr lang="en-US" sz="900" dirty="0"/>
          </a:p>
        </p:txBody>
      </p:sp>
      <p:sp>
        <p:nvSpPr>
          <p:cNvPr id="13" name="Text 11"/>
          <p:cNvSpPr/>
          <p:nvPr/>
        </p:nvSpPr>
        <p:spPr>
          <a:xfrm>
            <a:off x="640080" y="3749040"/>
            <a:ext cx="2286000" cy="1188720"/>
          </a:xfrm>
          <a:prstGeom prst="rect">
            <a:avLst/>
          </a:prstGeom>
          <a:noFill/>
          <a:ln/>
        </p:spPr>
        <p:txBody>
          <a:bodyPr wrap="square" rtlCol="0" anchor="ctr"/>
          <a:lstStyle/>
          <a:p>
            <a:pPr marL="0" indent="0">
              <a:buNone/>
            </a:pPr>
            <a:r>
              <a:rPr lang="en-US" sz="1200" dirty="0">
                <a:solidFill>
                  <a:srgbClr val="1D1D1F"/>
                </a:solidFill>
                <a:latin typeface="Helvetica" pitchFamily="34" charset="0"/>
                <a:ea typeface="Helvetica" pitchFamily="34" charset="-122"/>
                <a:cs typeface="Helvetica" pitchFamily="34" charset="-120"/>
              </a:rPr>
              <a:t>Bank of China</a:t>
            </a:r>
            <a:endParaRPr lang="en-US" sz="1200" dirty="0"/>
          </a:p>
          <a:p>
            <a:pPr marL="0" indent="0">
              <a:buNone/>
            </a:pPr>
            <a:r>
              <a:rPr lang="en-US" sz="1200" dirty="0">
                <a:solidFill>
                  <a:srgbClr val="1D1D1F"/>
                </a:solidFill>
                <a:latin typeface="Helvetica" pitchFamily="34" charset="0"/>
                <a:ea typeface="Helvetica" pitchFamily="34" charset="-122"/>
                <a:cs typeface="Helvetica" pitchFamily="34" charset="-120"/>
              </a:rPr>
              <a:t>ICBC</a:t>
            </a:r>
            <a:endParaRPr lang="en-US" sz="1200" dirty="0"/>
          </a:p>
          <a:p>
            <a:pPr marL="0" indent="0">
              <a:buNone/>
            </a:pPr>
            <a:r>
              <a:rPr lang="en-US" sz="1200" dirty="0">
                <a:solidFill>
                  <a:srgbClr val="1D1D1F"/>
                </a:solidFill>
                <a:latin typeface="Helvetica" pitchFamily="34" charset="0"/>
                <a:ea typeface="Helvetica" pitchFamily="34" charset="-122"/>
                <a:cs typeface="Helvetica" pitchFamily="34" charset="-120"/>
              </a:rPr>
              <a:t>CMB · SWCB</a:t>
            </a:r>
            <a:endParaRPr lang="en-US" sz="1200" dirty="0"/>
          </a:p>
        </p:txBody>
      </p:sp>
      <p:sp>
        <p:nvSpPr>
          <p:cNvPr id="14" name="Shape 12"/>
          <p:cNvSpPr/>
          <p:nvPr/>
        </p:nvSpPr>
        <p:spPr>
          <a:xfrm>
            <a:off x="3383280" y="3383280"/>
            <a:ext cx="2560320" cy="1645920"/>
          </a:xfrm>
          <a:prstGeom prst="roundRect">
            <a:avLst>
              <a:gd name="adj" fmla="val 6000"/>
            </a:avLst>
          </a:prstGeom>
          <a:solidFill>
            <a:srgbClr val="FFFFFF"/>
          </a:solidFill>
          <a:ln w="9525">
            <a:solidFill>
              <a:srgbClr val="823DBC"/>
            </a:solidFill>
            <a:prstDash val="solid"/>
          </a:ln>
        </p:spPr>
      </p:sp>
      <p:sp>
        <p:nvSpPr>
          <p:cNvPr id="15" name="Text 13"/>
          <p:cNvSpPr/>
          <p:nvPr/>
        </p:nvSpPr>
        <p:spPr>
          <a:xfrm>
            <a:off x="3566160" y="3474720"/>
            <a:ext cx="2286000" cy="274320"/>
          </a:xfrm>
          <a:prstGeom prst="rect">
            <a:avLst/>
          </a:prstGeom>
          <a:noFill/>
          <a:ln/>
        </p:spPr>
        <p:txBody>
          <a:bodyPr wrap="square" rtlCol="0" anchor="ctr"/>
          <a:lstStyle/>
          <a:p>
            <a:pPr marL="0" indent="0">
              <a:buNone/>
            </a:pPr>
            <a:r>
              <a:rPr lang="en-US" sz="900" b="1" kern="0" spc="300" dirty="0">
                <a:solidFill>
                  <a:srgbClr val="823DBC"/>
                </a:solidFill>
                <a:latin typeface="Helvetica" pitchFamily="34" charset="0"/>
                <a:ea typeface="Helvetica" pitchFamily="34" charset="-122"/>
                <a:cs typeface="Helvetica" pitchFamily="34" charset="-120"/>
              </a:rPr>
              <a:t>PROVEEDORES</a:t>
            </a:r>
            <a:endParaRPr lang="en-US" sz="900" dirty="0"/>
          </a:p>
        </p:txBody>
      </p:sp>
      <p:sp>
        <p:nvSpPr>
          <p:cNvPr id="16" name="Text 14"/>
          <p:cNvSpPr/>
          <p:nvPr/>
        </p:nvSpPr>
        <p:spPr>
          <a:xfrm>
            <a:off x="3566160" y="3749040"/>
            <a:ext cx="2286000" cy="1188720"/>
          </a:xfrm>
          <a:prstGeom prst="rect">
            <a:avLst/>
          </a:prstGeom>
          <a:noFill/>
          <a:ln/>
        </p:spPr>
        <p:txBody>
          <a:bodyPr wrap="square" rtlCol="0" anchor="ctr"/>
          <a:lstStyle/>
          <a:p>
            <a:pPr marL="0" indent="0">
              <a:buNone/>
            </a:pPr>
            <a:r>
              <a:rPr lang="en-US" sz="1200" dirty="0">
                <a:solidFill>
                  <a:srgbClr val="1D1D1F"/>
                </a:solidFill>
                <a:latin typeface="Helvetica" pitchFamily="34" charset="0"/>
                <a:ea typeface="Helvetica" pitchFamily="34" charset="-122"/>
                <a:cs typeface="Helvetica" pitchFamily="34" charset="-120"/>
              </a:rPr>
              <a:t>Cospower</a:t>
            </a:r>
            <a:endParaRPr lang="en-US" sz="1200" dirty="0"/>
          </a:p>
          <a:p>
            <a:pPr marL="0" indent="0">
              <a:buNone/>
            </a:pPr>
            <a:r>
              <a:rPr lang="en-US" sz="1200" dirty="0">
                <a:solidFill>
                  <a:srgbClr val="1D1D1F"/>
                </a:solidFill>
                <a:latin typeface="Helvetica" pitchFamily="34" charset="0"/>
                <a:ea typeface="Helvetica" pitchFamily="34" charset="-122"/>
                <a:cs typeface="Helvetica" pitchFamily="34" charset="-120"/>
              </a:rPr>
              <a:t>SIEYUAN</a:t>
            </a:r>
            <a:endParaRPr lang="en-US" sz="1200" dirty="0"/>
          </a:p>
          <a:p>
            <a:pPr marL="0" indent="0">
              <a:buNone/>
            </a:pPr>
            <a:r>
              <a:rPr lang="en-US" sz="1200" dirty="0">
                <a:solidFill>
                  <a:srgbClr val="1D1D1F"/>
                </a:solidFill>
                <a:latin typeface="Helvetica" pitchFamily="34" charset="0"/>
                <a:ea typeface="Helvetica" pitchFamily="34" charset="-122"/>
                <a:cs typeface="Helvetica" pitchFamily="34" charset="-120"/>
              </a:rPr>
              <a:t>JINKO · SANY</a:t>
            </a:r>
            <a:endParaRPr lang="en-US" sz="1200" dirty="0"/>
          </a:p>
        </p:txBody>
      </p:sp>
      <p:sp>
        <p:nvSpPr>
          <p:cNvPr id="17" name="Shape 15"/>
          <p:cNvSpPr/>
          <p:nvPr/>
        </p:nvSpPr>
        <p:spPr>
          <a:xfrm>
            <a:off x="6309360" y="3383280"/>
            <a:ext cx="2560320" cy="1645920"/>
          </a:xfrm>
          <a:prstGeom prst="roundRect">
            <a:avLst>
              <a:gd name="adj" fmla="val 6000"/>
            </a:avLst>
          </a:prstGeom>
          <a:solidFill>
            <a:srgbClr val="FFFFFF"/>
          </a:solidFill>
          <a:ln w="9525">
            <a:solidFill>
              <a:srgbClr val="823DBC"/>
            </a:solidFill>
            <a:prstDash val="solid"/>
          </a:ln>
        </p:spPr>
      </p:sp>
      <p:sp>
        <p:nvSpPr>
          <p:cNvPr id="18" name="Text 16"/>
          <p:cNvSpPr/>
          <p:nvPr/>
        </p:nvSpPr>
        <p:spPr>
          <a:xfrm>
            <a:off x="6492240" y="3474720"/>
            <a:ext cx="2286000" cy="274320"/>
          </a:xfrm>
          <a:prstGeom prst="rect">
            <a:avLst/>
          </a:prstGeom>
          <a:noFill/>
          <a:ln/>
        </p:spPr>
        <p:txBody>
          <a:bodyPr wrap="square" rtlCol="0" anchor="ctr"/>
          <a:lstStyle/>
          <a:p>
            <a:pPr marL="0" indent="0">
              <a:buNone/>
            </a:pPr>
            <a:r>
              <a:rPr lang="en-US" sz="900" b="1" kern="0" spc="300" dirty="0">
                <a:solidFill>
                  <a:srgbClr val="823DBC"/>
                </a:solidFill>
                <a:latin typeface="Helvetica" pitchFamily="34" charset="0"/>
                <a:ea typeface="Helvetica" pitchFamily="34" charset="-122"/>
                <a:cs typeface="Helvetica" pitchFamily="34" charset="-120"/>
              </a:rPr>
              <a:t>ASEGURADORAS</a:t>
            </a:r>
            <a:endParaRPr lang="en-US" sz="900" dirty="0"/>
          </a:p>
        </p:txBody>
      </p:sp>
      <p:sp>
        <p:nvSpPr>
          <p:cNvPr id="19" name="Text 17"/>
          <p:cNvSpPr/>
          <p:nvPr/>
        </p:nvSpPr>
        <p:spPr>
          <a:xfrm>
            <a:off x="6492240" y="3749040"/>
            <a:ext cx="2286000" cy="1188720"/>
          </a:xfrm>
          <a:prstGeom prst="rect">
            <a:avLst/>
          </a:prstGeom>
          <a:noFill/>
          <a:ln/>
        </p:spPr>
        <p:txBody>
          <a:bodyPr wrap="square" rtlCol="0" anchor="ctr"/>
          <a:lstStyle/>
          <a:p>
            <a:pPr marL="0" indent="0">
              <a:buNone/>
            </a:pPr>
            <a:r>
              <a:rPr lang="en-US" sz="1200" dirty="0">
                <a:solidFill>
                  <a:srgbClr val="1D1D1F"/>
                </a:solidFill>
                <a:latin typeface="Helvetica" pitchFamily="34" charset="0"/>
                <a:ea typeface="Helvetica" pitchFamily="34" charset="-122"/>
                <a:cs typeface="Helvetica" pitchFamily="34" charset="-120"/>
              </a:rPr>
              <a:t>SINOSURE · PICC</a:t>
            </a:r>
            <a:endParaRPr lang="en-US" sz="1200" dirty="0"/>
          </a:p>
          <a:p>
            <a:pPr marL="0" indent="0">
              <a:buNone/>
            </a:pPr>
            <a:r>
              <a:rPr lang="en-US" sz="1200" dirty="0">
                <a:solidFill>
                  <a:srgbClr val="1D1D1F"/>
                </a:solidFill>
                <a:latin typeface="Helvetica" pitchFamily="34" charset="0"/>
                <a:ea typeface="Helvetica" pitchFamily="34" charset="-122"/>
                <a:cs typeface="Helvetica" pitchFamily="34" charset="-120"/>
              </a:rPr>
              <a:t>Credit enhancement</a:t>
            </a:r>
            <a:endParaRPr lang="en-US" sz="1200" dirty="0"/>
          </a:p>
          <a:p>
            <a:pPr marL="0" indent="0">
              <a:buNone/>
            </a:pPr>
            <a:r>
              <a:rPr lang="en-US" sz="1200" dirty="0">
                <a:solidFill>
                  <a:srgbClr val="1D1D1F"/>
                </a:solidFill>
                <a:latin typeface="Helvetica" pitchFamily="34" charset="0"/>
                <a:ea typeface="Helvetica" pitchFamily="34" charset="-122"/>
                <a:cs typeface="Helvetica" pitchFamily="34" charset="-120"/>
              </a:rPr>
              <a:t>Cobertura riesgo</a:t>
            </a:r>
            <a:endParaRPr lang="en-US" sz="1200" dirty="0"/>
          </a:p>
        </p:txBody>
      </p:sp>
      <p:sp>
        <p:nvSpPr>
          <p:cNvPr id="20" name="Shape 18"/>
          <p:cNvSpPr/>
          <p:nvPr/>
        </p:nvSpPr>
        <p:spPr>
          <a:xfrm>
            <a:off x="9235440" y="3383280"/>
            <a:ext cx="2560320" cy="1645920"/>
          </a:xfrm>
          <a:prstGeom prst="roundRect">
            <a:avLst>
              <a:gd name="adj" fmla="val 6000"/>
            </a:avLst>
          </a:prstGeom>
          <a:solidFill>
            <a:srgbClr val="FFFFFF"/>
          </a:solidFill>
          <a:ln w="9525">
            <a:solidFill>
              <a:srgbClr val="823DBC"/>
            </a:solidFill>
            <a:prstDash val="solid"/>
          </a:ln>
        </p:spPr>
      </p:sp>
      <p:sp>
        <p:nvSpPr>
          <p:cNvPr id="21" name="Text 19"/>
          <p:cNvSpPr/>
          <p:nvPr/>
        </p:nvSpPr>
        <p:spPr>
          <a:xfrm>
            <a:off x="9418320" y="3474720"/>
            <a:ext cx="2286000" cy="274320"/>
          </a:xfrm>
          <a:prstGeom prst="rect">
            <a:avLst/>
          </a:prstGeom>
          <a:noFill/>
          <a:ln/>
        </p:spPr>
        <p:txBody>
          <a:bodyPr wrap="square" rtlCol="0" anchor="ctr"/>
          <a:lstStyle/>
          <a:p>
            <a:pPr marL="0" indent="0">
              <a:buNone/>
            </a:pPr>
            <a:r>
              <a:rPr lang="en-US" sz="900" b="1" kern="0" spc="300" dirty="0">
                <a:solidFill>
                  <a:srgbClr val="823DBC"/>
                </a:solidFill>
                <a:latin typeface="Helvetica" pitchFamily="34" charset="0"/>
                <a:ea typeface="Helvetica" pitchFamily="34" charset="-122"/>
                <a:cs typeface="Helvetica" pitchFamily="34" charset="-120"/>
              </a:rPr>
              <a:t>GUBERNAMENTAL</a:t>
            </a:r>
            <a:endParaRPr lang="en-US" sz="900" dirty="0"/>
          </a:p>
        </p:txBody>
      </p:sp>
      <p:sp>
        <p:nvSpPr>
          <p:cNvPr id="22" name="Text 20"/>
          <p:cNvSpPr/>
          <p:nvPr/>
        </p:nvSpPr>
        <p:spPr>
          <a:xfrm>
            <a:off x="9418320" y="3749040"/>
            <a:ext cx="2286000" cy="1188720"/>
          </a:xfrm>
          <a:prstGeom prst="rect">
            <a:avLst/>
          </a:prstGeom>
          <a:noFill/>
          <a:ln/>
        </p:spPr>
        <p:txBody>
          <a:bodyPr wrap="square" rtlCol="0" anchor="ctr"/>
          <a:lstStyle/>
          <a:p>
            <a:pPr marL="0" indent="0">
              <a:buNone/>
            </a:pPr>
            <a:r>
              <a:rPr lang="en-US" sz="1200" dirty="0">
                <a:solidFill>
                  <a:srgbClr val="1D1D1F"/>
                </a:solidFill>
                <a:latin typeface="Helvetica" pitchFamily="34" charset="0"/>
                <a:ea typeface="Helvetica" pitchFamily="34" charset="-122"/>
                <a:cs typeface="Helvetica" pitchFamily="34" charset="-120"/>
              </a:rPr>
              <a:t>Misión Comercial</a:t>
            </a:r>
            <a:endParaRPr lang="en-US" sz="1200" dirty="0"/>
          </a:p>
          <a:p>
            <a:pPr marL="0" indent="0">
              <a:buNone/>
            </a:pPr>
            <a:r>
              <a:rPr lang="en-US" sz="1200" dirty="0">
                <a:solidFill>
                  <a:srgbClr val="1D1D1F"/>
                </a:solidFill>
                <a:latin typeface="Helvetica" pitchFamily="34" charset="0"/>
                <a:ea typeface="Helvetica" pitchFamily="34" charset="-122"/>
                <a:cs typeface="Helvetica" pitchFamily="34" charset="-120"/>
              </a:rPr>
              <a:t>Prochile · DIRECON</a:t>
            </a:r>
            <a:endParaRPr lang="en-US" sz="1200" dirty="0"/>
          </a:p>
          <a:p>
            <a:pPr marL="0" indent="0">
              <a:buNone/>
            </a:pPr>
            <a:r>
              <a:rPr lang="en-US" sz="1200" dirty="0">
                <a:solidFill>
                  <a:srgbClr val="1D1D1F"/>
                </a:solidFill>
                <a:latin typeface="Helvetica" pitchFamily="34" charset="0"/>
                <a:ea typeface="Helvetica" pitchFamily="34" charset="-122"/>
                <a:cs typeface="Helvetica" pitchFamily="34" charset="-120"/>
              </a:rPr>
              <a:t>Embajada</a:t>
            </a:r>
            <a:endParaRPr lang="en-US" sz="1200" dirty="0"/>
          </a:p>
        </p:txBody>
      </p:sp>
      <p:sp>
        <p:nvSpPr>
          <p:cNvPr id="23" name="Shape 21"/>
          <p:cNvSpPr/>
          <p:nvPr/>
        </p:nvSpPr>
        <p:spPr>
          <a:xfrm>
            <a:off x="457200" y="5349240"/>
            <a:ext cx="11274552" cy="0"/>
          </a:xfrm>
          <a:prstGeom prst="line">
            <a:avLst/>
          </a:prstGeom>
          <a:noFill/>
          <a:ln w="6350">
            <a:solidFill>
              <a:srgbClr val="D2D2D7"/>
            </a:solidFill>
            <a:prstDash val="solid"/>
          </a:ln>
        </p:spPr>
      </p:sp>
      <p:sp>
        <p:nvSpPr>
          <p:cNvPr id="24" name="Text 22"/>
          <p:cNvSpPr/>
          <p:nvPr/>
        </p:nvSpPr>
        <p:spPr>
          <a:xfrm>
            <a:off x="457200" y="5532120"/>
            <a:ext cx="10972800" cy="320040"/>
          </a:xfrm>
          <a:prstGeom prst="rect">
            <a:avLst/>
          </a:prstGeom>
          <a:noFill/>
          <a:ln/>
        </p:spPr>
        <p:txBody>
          <a:bodyPr wrap="square" rtlCol="0" anchor="ctr"/>
          <a:lstStyle/>
          <a:p>
            <a:pPr marL="0" indent="0">
              <a:buNone/>
            </a:pPr>
            <a:r>
              <a:rPr lang="en-US" sz="1400" b="1" dirty="0">
                <a:solidFill>
                  <a:srgbClr val="4D0F96"/>
                </a:solidFill>
                <a:latin typeface="Helvetica" pitchFamily="34" charset="0"/>
                <a:ea typeface="Helvetica" pitchFamily="34" charset="-122"/>
                <a:cs typeface="Helvetica" pitchFamily="34" charset="-120"/>
              </a:rPr>
              <a:t>Instrumentos potenciales</a:t>
            </a:r>
            <a:endParaRPr lang="en-US" sz="1400" dirty="0"/>
          </a:p>
        </p:txBody>
      </p:sp>
      <p:sp>
        <p:nvSpPr>
          <p:cNvPr id="25" name="Shape 23"/>
          <p:cNvSpPr/>
          <p:nvPr/>
        </p:nvSpPr>
        <p:spPr>
          <a:xfrm>
            <a:off x="457200" y="5943600"/>
            <a:ext cx="118872" cy="118872"/>
          </a:xfrm>
          <a:prstGeom prst="ellipse">
            <a:avLst/>
          </a:prstGeom>
          <a:solidFill>
            <a:srgbClr val="4D0F96"/>
          </a:solidFill>
          <a:ln/>
        </p:spPr>
      </p:sp>
      <p:sp>
        <p:nvSpPr>
          <p:cNvPr id="26" name="Text 24"/>
          <p:cNvSpPr/>
          <p:nvPr/>
        </p:nvSpPr>
        <p:spPr>
          <a:xfrm>
            <a:off x="685800" y="5870448"/>
            <a:ext cx="3566160" cy="36576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Líneas de crédito en CLP con bancos chinos locales</a:t>
            </a:r>
            <a:endParaRPr lang="en-US" sz="1100" dirty="0"/>
          </a:p>
        </p:txBody>
      </p:sp>
      <p:sp>
        <p:nvSpPr>
          <p:cNvPr id="27" name="Shape 25"/>
          <p:cNvSpPr/>
          <p:nvPr/>
        </p:nvSpPr>
        <p:spPr>
          <a:xfrm>
            <a:off x="4389120" y="5943600"/>
            <a:ext cx="118872" cy="118872"/>
          </a:xfrm>
          <a:prstGeom prst="ellipse">
            <a:avLst/>
          </a:prstGeom>
          <a:solidFill>
            <a:srgbClr val="4D0F96"/>
          </a:solidFill>
          <a:ln/>
        </p:spPr>
      </p:sp>
      <p:sp>
        <p:nvSpPr>
          <p:cNvPr id="28" name="Text 26"/>
          <p:cNvSpPr/>
          <p:nvPr/>
        </p:nvSpPr>
        <p:spPr>
          <a:xfrm>
            <a:off x="4617720" y="5870448"/>
            <a:ext cx="3566160" cy="36576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Vendor financing de proveedores de equipos</a:t>
            </a:r>
            <a:endParaRPr lang="en-US" sz="1100" dirty="0"/>
          </a:p>
        </p:txBody>
      </p:sp>
      <p:sp>
        <p:nvSpPr>
          <p:cNvPr id="29" name="Shape 27"/>
          <p:cNvSpPr/>
          <p:nvPr/>
        </p:nvSpPr>
        <p:spPr>
          <a:xfrm>
            <a:off x="8321040" y="5943600"/>
            <a:ext cx="118872" cy="118872"/>
          </a:xfrm>
          <a:prstGeom prst="ellipse">
            <a:avLst/>
          </a:prstGeom>
          <a:solidFill>
            <a:srgbClr val="4D0F96"/>
          </a:solidFill>
          <a:ln/>
        </p:spPr>
      </p:sp>
      <p:sp>
        <p:nvSpPr>
          <p:cNvPr id="30" name="Text 28"/>
          <p:cNvSpPr/>
          <p:nvPr/>
        </p:nvSpPr>
        <p:spPr>
          <a:xfrm>
            <a:off x="8549640" y="5870448"/>
            <a:ext cx="3566160" cy="36576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Cobertura SINOSURE para riesgo país</a:t>
            </a:r>
            <a:endParaRPr lang="en-US" sz="1100" dirty="0"/>
          </a:p>
        </p:txBody>
      </p:sp>
      <p:sp>
        <p:nvSpPr>
          <p:cNvPr id="31" name="Shape 29"/>
          <p:cNvSpPr/>
          <p:nvPr/>
        </p:nvSpPr>
        <p:spPr>
          <a:xfrm>
            <a:off x="457200" y="6492240"/>
            <a:ext cx="11274552" cy="0"/>
          </a:xfrm>
          <a:prstGeom prst="line">
            <a:avLst/>
          </a:prstGeom>
          <a:noFill/>
          <a:ln w="6350">
            <a:solidFill>
              <a:srgbClr val="D2D2D7"/>
            </a:solidFill>
            <a:prstDash val="solid"/>
          </a:ln>
        </p:spPr>
      </p:sp>
      <p:sp>
        <p:nvSpPr>
          <p:cNvPr id="32" name="Text 30"/>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33" name="Text 31"/>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27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17 — 18</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OBJECTIVE 3 · 2026</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Hitos por portfolio company</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Shape 7"/>
          <p:cNvSpPr/>
          <p:nvPr/>
        </p:nvSpPr>
        <p:spPr>
          <a:xfrm>
            <a:off x="457200" y="2103120"/>
            <a:ext cx="11274552" cy="365760"/>
          </a:xfrm>
          <a:prstGeom prst="rect">
            <a:avLst/>
          </a:prstGeom>
          <a:solidFill>
            <a:srgbClr val="4D0F96"/>
          </a:solidFill>
          <a:ln/>
        </p:spPr>
      </p:sp>
      <p:sp>
        <p:nvSpPr>
          <p:cNvPr id="10" name="Text 8"/>
          <p:cNvSpPr/>
          <p:nvPr/>
        </p:nvSpPr>
        <p:spPr>
          <a:xfrm>
            <a:off x="640080" y="2176272"/>
            <a:ext cx="2926080" cy="274320"/>
          </a:xfrm>
          <a:prstGeom prst="rect">
            <a:avLst/>
          </a:prstGeom>
          <a:noFill/>
          <a:ln/>
        </p:spPr>
        <p:txBody>
          <a:bodyPr wrap="square" rtlCol="0" anchor="ctr"/>
          <a:lstStyle/>
          <a:p>
            <a:pPr marL="0" indent="0">
              <a:buNone/>
            </a:pPr>
            <a:r>
              <a:rPr lang="en-US" sz="1000" b="1" kern="0" spc="200" dirty="0">
                <a:solidFill>
                  <a:srgbClr val="FFFFFF"/>
                </a:solidFill>
                <a:latin typeface="Helvetica" pitchFamily="34" charset="0"/>
                <a:ea typeface="Helvetica" pitchFamily="34" charset="-122"/>
                <a:cs typeface="Helvetica" pitchFamily="34" charset="-120"/>
              </a:rPr>
              <a:t>EMPRESA</a:t>
            </a:r>
            <a:endParaRPr lang="en-US" sz="1000" dirty="0"/>
          </a:p>
        </p:txBody>
      </p:sp>
      <p:sp>
        <p:nvSpPr>
          <p:cNvPr id="11" name="Text 9"/>
          <p:cNvSpPr/>
          <p:nvPr/>
        </p:nvSpPr>
        <p:spPr>
          <a:xfrm>
            <a:off x="3749040" y="2176272"/>
            <a:ext cx="3657600" cy="274320"/>
          </a:xfrm>
          <a:prstGeom prst="rect">
            <a:avLst/>
          </a:prstGeom>
          <a:noFill/>
          <a:ln/>
        </p:spPr>
        <p:txBody>
          <a:bodyPr wrap="square" rtlCol="0" anchor="ctr"/>
          <a:lstStyle/>
          <a:p>
            <a:pPr marL="0" indent="0">
              <a:buNone/>
            </a:pPr>
            <a:r>
              <a:rPr lang="en-US" sz="1000" b="1" kern="0" spc="200" dirty="0">
                <a:solidFill>
                  <a:srgbClr val="FFFFFF"/>
                </a:solidFill>
                <a:latin typeface="Helvetica" pitchFamily="34" charset="0"/>
                <a:ea typeface="Helvetica" pitchFamily="34" charset="-122"/>
                <a:cs typeface="Helvetica" pitchFamily="34" charset="-120"/>
              </a:rPr>
              <a:t>SECTOR / FOCO</a:t>
            </a:r>
            <a:endParaRPr lang="en-US" sz="1000" dirty="0"/>
          </a:p>
        </p:txBody>
      </p:sp>
      <p:sp>
        <p:nvSpPr>
          <p:cNvPr id="12" name="Text 10"/>
          <p:cNvSpPr/>
          <p:nvPr/>
        </p:nvSpPr>
        <p:spPr>
          <a:xfrm>
            <a:off x="7589520" y="2176272"/>
            <a:ext cx="4114800" cy="274320"/>
          </a:xfrm>
          <a:prstGeom prst="rect">
            <a:avLst/>
          </a:prstGeom>
          <a:noFill/>
          <a:ln/>
        </p:spPr>
        <p:txBody>
          <a:bodyPr wrap="square" rtlCol="0" anchor="ctr"/>
          <a:lstStyle/>
          <a:p>
            <a:pPr marL="0" indent="0">
              <a:buNone/>
            </a:pPr>
            <a:r>
              <a:rPr lang="en-US" sz="1000" b="1" kern="0" spc="200" dirty="0">
                <a:solidFill>
                  <a:srgbClr val="FFFFFF"/>
                </a:solidFill>
                <a:latin typeface="Helvetica" pitchFamily="34" charset="0"/>
                <a:ea typeface="Helvetica" pitchFamily="34" charset="-122"/>
                <a:cs typeface="Helvetica" pitchFamily="34" charset="-120"/>
              </a:rPr>
              <a:t>HITO PRIORITARIO 2027</a:t>
            </a:r>
            <a:endParaRPr lang="en-US" sz="1000" dirty="0"/>
          </a:p>
        </p:txBody>
      </p:sp>
      <p:sp>
        <p:nvSpPr>
          <p:cNvPr id="13" name="Shape 11"/>
          <p:cNvSpPr/>
          <p:nvPr/>
        </p:nvSpPr>
        <p:spPr>
          <a:xfrm>
            <a:off x="457200" y="2468880"/>
            <a:ext cx="11274552" cy="640080"/>
          </a:xfrm>
          <a:prstGeom prst="rect">
            <a:avLst/>
          </a:prstGeom>
          <a:solidFill>
            <a:srgbClr val="FFFFFF"/>
          </a:solidFill>
          <a:ln/>
        </p:spPr>
      </p:sp>
      <p:sp>
        <p:nvSpPr>
          <p:cNvPr id="14" name="Shape 12"/>
          <p:cNvSpPr/>
          <p:nvPr/>
        </p:nvSpPr>
        <p:spPr>
          <a:xfrm>
            <a:off x="457200" y="3108960"/>
            <a:ext cx="11274552" cy="0"/>
          </a:xfrm>
          <a:prstGeom prst="line">
            <a:avLst/>
          </a:prstGeom>
          <a:noFill/>
          <a:ln w="3810">
            <a:solidFill>
              <a:srgbClr val="D2D2D7"/>
            </a:solidFill>
            <a:prstDash val="solid"/>
          </a:ln>
        </p:spPr>
      </p:sp>
      <p:sp>
        <p:nvSpPr>
          <p:cNvPr id="16" name="Text 14"/>
          <p:cNvSpPr/>
          <p:nvPr/>
        </p:nvSpPr>
        <p:spPr>
          <a:xfrm>
            <a:off x="1325880" y="2633472"/>
            <a:ext cx="233172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Climate Smart Leasing</a:t>
            </a:r>
            <a:endParaRPr lang="en-US" sz="1300" dirty="0"/>
          </a:p>
        </p:txBody>
      </p:sp>
      <p:sp>
        <p:nvSpPr>
          <p:cNvPr id="17" name="Text 15"/>
          <p:cNvSpPr/>
          <p:nvPr/>
        </p:nvSpPr>
        <p:spPr>
          <a:xfrm>
            <a:off x="3749040" y="2633472"/>
            <a:ext cx="3657600" cy="32004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Leasing electromovilidad sostenible</a:t>
            </a:r>
            <a:endParaRPr lang="en-US" sz="1000" dirty="0"/>
          </a:p>
          <a:p>
            <a:pPr marL="0" indent="0">
              <a:buNone/>
            </a:pPr>
            <a:r>
              <a:rPr lang="en-US" sz="1100" b="1" dirty="0">
                <a:solidFill>
                  <a:srgbClr val="4D0F96"/>
                </a:solidFill>
                <a:latin typeface="Helvetica" pitchFamily="34" charset="0"/>
                <a:ea typeface="Helvetica" pitchFamily="34" charset="-122"/>
                <a:cs typeface="Helvetica" pitchFamily="34" charset="-120"/>
              </a:rPr>
              <a:t>Exclusividad territorial · Electro-Asset</a:t>
            </a:r>
            <a:endParaRPr lang="en-US" sz="1100" dirty="0"/>
          </a:p>
        </p:txBody>
      </p:sp>
      <p:sp>
        <p:nvSpPr>
          <p:cNvPr id="18" name="Text 16"/>
          <p:cNvSpPr/>
          <p:nvPr/>
        </p:nvSpPr>
        <p:spPr>
          <a:xfrm>
            <a:off x="7589520" y="2633472"/>
            <a:ext cx="4114800" cy="32004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Expansión cartera + reporte impacto ESG</a:t>
            </a:r>
            <a:endParaRPr lang="en-US" sz="1100" dirty="0"/>
          </a:p>
        </p:txBody>
      </p:sp>
      <p:sp>
        <p:nvSpPr>
          <p:cNvPr id="19" name="Shape 17"/>
          <p:cNvSpPr/>
          <p:nvPr/>
        </p:nvSpPr>
        <p:spPr>
          <a:xfrm>
            <a:off x="457200" y="3108960"/>
            <a:ext cx="11274552" cy="640080"/>
          </a:xfrm>
          <a:prstGeom prst="rect">
            <a:avLst/>
          </a:prstGeom>
          <a:solidFill>
            <a:srgbClr val="F9F9F9"/>
          </a:solidFill>
          <a:ln/>
        </p:spPr>
      </p:sp>
      <p:sp>
        <p:nvSpPr>
          <p:cNvPr id="20" name="Shape 18"/>
          <p:cNvSpPr/>
          <p:nvPr/>
        </p:nvSpPr>
        <p:spPr>
          <a:xfrm>
            <a:off x="457200" y="3749040"/>
            <a:ext cx="11274552" cy="0"/>
          </a:xfrm>
          <a:prstGeom prst="line">
            <a:avLst/>
          </a:prstGeom>
          <a:noFill/>
          <a:ln w="3810">
            <a:solidFill>
              <a:srgbClr val="D2D2D7"/>
            </a:solidFill>
            <a:prstDash val="solid"/>
          </a:ln>
        </p:spPr>
      </p:sp>
      <p:sp>
        <p:nvSpPr>
          <p:cNvPr id="22" name="Text 20"/>
          <p:cNvSpPr/>
          <p:nvPr/>
        </p:nvSpPr>
        <p:spPr>
          <a:xfrm>
            <a:off x="1325880" y="3273552"/>
            <a:ext cx="233172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Rho Generación</a:t>
            </a:r>
            <a:endParaRPr lang="en-US" sz="1300" dirty="0"/>
          </a:p>
        </p:txBody>
      </p:sp>
      <p:sp>
        <p:nvSpPr>
          <p:cNvPr id="23" name="Text 21"/>
          <p:cNvSpPr/>
          <p:nvPr/>
        </p:nvSpPr>
        <p:spPr>
          <a:xfrm>
            <a:off x="3749040" y="3273552"/>
            <a:ext cx="3657600" cy="32004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Energía renovable y BESS</a:t>
            </a:r>
            <a:endParaRPr lang="en-US" sz="1000" dirty="0"/>
          </a:p>
          <a:p>
            <a:pPr marL="0" indent="0">
              <a:buNone/>
            </a:pPr>
            <a:r>
              <a:rPr lang="en-US" sz="1100" b="1" dirty="0">
                <a:solidFill>
                  <a:srgbClr val="4D0F96"/>
                </a:solidFill>
                <a:latin typeface="Helvetica" pitchFamily="34" charset="0"/>
                <a:ea typeface="Helvetica" pitchFamily="34" charset="-122"/>
                <a:cs typeface="Helvetica" pitchFamily="34" charset="-120"/>
              </a:rPr>
              <a:t>Primera planta construida 2027</a:t>
            </a:r>
            <a:endParaRPr lang="en-US" sz="1100" dirty="0"/>
          </a:p>
        </p:txBody>
      </p:sp>
      <p:sp>
        <p:nvSpPr>
          <p:cNvPr id="24" name="Text 22"/>
          <p:cNvSpPr/>
          <p:nvPr/>
        </p:nvSpPr>
        <p:spPr>
          <a:xfrm>
            <a:off x="7589520" y="3273552"/>
            <a:ext cx="4114800" cy="32004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PPA · permisos · cierre financiero</a:t>
            </a:r>
            <a:endParaRPr lang="en-US" sz="1100" dirty="0"/>
          </a:p>
        </p:txBody>
      </p:sp>
      <p:sp>
        <p:nvSpPr>
          <p:cNvPr id="25" name="Shape 23"/>
          <p:cNvSpPr/>
          <p:nvPr/>
        </p:nvSpPr>
        <p:spPr>
          <a:xfrm>
            <a:off x="457200" y="3749040"/>
            <a:ext cx="11274552" cy="640080"/>
          </a:xfrm>
          <a:prstGeom prst="rect">
            <a:avLst/>
          </a:prstGeom>
          <a:solidFill>
            <a:srgbClr val="FFFFFF"/>
          </a:solidFill>
          <a:ln/>
        </p:spPr>
      </p:sp>
      <p:sp>
        <p:nvSpPr>
          <p:cNvPr id="26" name="Shape 24"/>
          <p:cNvSpPr/>
          <p:nvPr/>
        </p:nvSpPr>
        <p:spPr>
          <a:xfrm>
            <a:off x="457200" y="4389120"/>
            <a:ext cx="11274552" cy="0"/>
          </a:xfrm>
          <a:prstGeom prst="line">
            <a:avLst/>
          </a:prstGeom>
          <a:noFill/>
          <a:ln w="3810">
            <a:solidFill>
              <a:srgbClr val="D2D2D7"/>
            </a:solidFill>
            <a:prstDash val="solid"/>
          </a:ln>
        </p:spPr>
      </p:sp>
      <p:sp>
        <p:nvSpPr>
          <p:cNvPr id="28" name="Text 26"/>
          <p:cNvSpPr/>
          <p:nvPr/>
        </p:nvSpPr>
        <p:spPr>
          <a:xfrm>
            <a:off x="1325880" y="3913632"/>
            <a:ext cx="233172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DTE Consulting</a:t>
            </a:r>
            <a:endParaRPr lang="en-US" sz="1300" dirty="0"/>
          </a:p>
        </p:txBody>
      </p:sp>
      <p:sp>
        <p:nvSpPr>
          <p:cNvPr id="29" name="Text 27"/>
          <p:cNvSpPr/>
          <p:nvPr/>
        </p:nvSpPr>
        <p:spPr>
          <a:xfrm>
            <a:off x="3749040" y="3913632"/>
            <a:ext cx="3657600" cy="32004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Desarrollo habitacional sustentable · DS49 aprobado</a:t>
            </a:r>
            <a:endParaRPr lang="en-US" sz="1000" dirty="0"/>
          </a:p>
          <a:p>
            <a:pPr marL="0" indent="0">
              <a:buNone/>
            </a:pPr>
            <a:r>
              <a:rPr lang="en-US" sz="1100" b="1" dirty="0">
                <a:solidFill>
                  <a:srgbClr val="4D0F96"/>
                </a:solidFill>
                <a:latin typeface="Helvetica" pitchFamily="34" charset="0"/>
                <a:ea typeface="Helvetica" pitchFamily="34" charset="-122"/>
                <a:cs typeface="Helvetica" pitchFamily="34" charset="-120"/>
              </a:rPr>
              <a:t>416 viviendas en La Serena · DS49</a:t>
            </a:r>
            <a:endParaRPr lang="en-US" sz="1100" dirty="0"/>
          </a:p>
        </p:txBody>
      </p:sp>
      <p:sp>
        <p:nvSpPr>
          <p:cNvPr id="30" name="Text 28"/>
          <p:cNvSpPr/>
          <p:nvPr/>
        </p:nvSpPr>
        <p:spPr>
          <a:xfrm>
            <a:off x="7589520" y="3913632"/>
            <a:ext cx="4114800" cy="32004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Pipeline + comercialización Ready-to-Build</a:t>
            </a:r>
            <a:endParaRPr lang="en-US" sz="1100" dirty="0"/>
          </a:p>
        </p:txBody>
      </p:sp>
      <p:sp>
        <p:nvSpPr>
          <p:cNvPr id="31" name="Shape 29"/>
          <p:cNvSpPr/>
          <p:nvPr/>
        </p:nvSpPr>
        <p:spPr>
          <a:xfrm>
            <a:off x="457200" y="4389120"/>
            <a:ext cx="11274552" cy="640080"/>
          </a:xfrm>
          <a:prstGeom prst="rect">
            <a:avLst/>
          </a:prstGeom>
          <a:solidFill>
            <a:srgbClr val="F9F9F9"/>
          </a:solidFill>
          <a:ln/>
        </p:spPr>
      </p:sp>
      <p:sp>
        <p:nvSpPr>
          <p:cNvPr id="32" name="Shape 30"/>
          <p:cNvSpPr/>
          <p:nvPr/>
        </p:nvSpPr>
        <p:spPr>
          <a:xfrm>
            <a:off x="457200" y="5029200"/>
            <a:ext cx="11274552" cy="0"/>
          </a:xfrm>
          <a:prstGeom prst="line">
            <a:avLst/>
          </a:prstGeom>
          <a:noFill/>
          <a:ln w="3810">
            <a:solidFill>
              <a:srgbClr val="D2D2D7"/>
            </a:solidFill>
            <a:prstDash val="solid"/>
          </a:ln>
        </p:spPr>
      </p:sp>
      <p:sp>
        <p:nvSpPr>
          <p:cNvPr id="34" name="Text 32"/>
          <p:cNvSpPr/>
          <p:nvPr/>
        </p:nvSpPr>
        <p:spPr>
          <a:xfrm>
            <a:off x="1325880" y="4553712"/>
            <a:ext cx="233172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Revtech / Green Mining</a:t>
            </a:r>
            <a:endParaRPr lang="en-US" sz="1300" dirty="0"/>
          </a:p>
        </p:txBody>
      </p:sp>
      <p:sp>
        <p:nvSpPr>
          <p:cNvPr id="35" name="Text 33"/>
          <p:cNvSpPr/>
          <p:nvPr/>
        </p:nvSpPr>
        <p:spPr>
          <a:xfrm>
            <a:off x="3749040" y="4553712"/>
            <a:ext cx="3657600" cy="32004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Cobre, cátodos, residuos mineros y energías renovables</a:t>
            </a:r>
            <a:endParaRPr lang="en-US" sz="1000" dirty="0"/>
          </a:p>
          <a:p>
            <a:pPr marL="0" indent="0">
              <a:buNone/>
            </a:pPr>
            <a:r>
              <a:rPr lang="en-US" sz="1100" b="1" dirty="0">
                <a:solidFill>
                  <a:srgbClr val="4D0F96"/>
                </a:solidFill>
                <a:latin typeface="Helvetica" pitchFamily="34" charset="0"/>
                <a:ea typeface="Helvetica" pitchFamily="34" charset="-122"/>
                <a:cs typeface="Helvetica" pitchFamily="34" charset="-120"/>
              </a:rPr>
              <a:t>Primera planta de plomos construida 2027</a:t>
            </a:r>
            <a:endParaRPr lang="en-US" sz="1100" dirty="0"/>
          </a:p>
        </p:txBody>
      </p:sp>
      <p:sp>
        <p:nvSpPr>
          <p:cNvPr id="36" name="Text 34"/>
          <p:cNvSpPr/>
          <p:nvPr/>
        </p:nvSpPr>
        <p:spPr>
          <a:xfrm>
            <a:off x="7589520" y="4553712"/>
            <a:ext cx="4114800" cy="32004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Validación tecnológica + piloto comercial</a:t>
            </a:r>
            <a:endParaRPr lang="en-US" sz="1100" dirty="0"/>
          </a:p>
        </p:txBody>
      </p:sp>
      <p:sp>
        <p:nvSpPr>
          <p:cNvPr id="37" name="Shape 35"/>
          <p:cNvSpPr/>
          <p:nvPr/>
        </p:nvSpPr>
        <p:spPr>
          <a:xfrm>
            <a:off x="457200" y="5029200"/>
            <a:ext cx="11274552" cy="640080"/>
          </a:xfrm>
          <a:prstGeom prst="rect">
            <a:avLst/>
          </a:prstGeom>
          <a:solidFill>
            <a:srgbClr val="FFFFFF"/>
          </a:solidFill>
          <a:ln/>
        </p:spPr>
      </p:sp>
      <p:sp>
        <p:nvSpPr>
          <p:cNvPr id="38" name="Shape 36"/>
          <p:cNvSpPr/>
          <p:nvPr/>
        </p:nvSpPr>
        <p:spPr>
          <a:xfrm>
            <a:off x="457200" y="5669280"/>
            <a:ext cx="11274552" cy="0"/>
          </a:xfrm>
          <a:prstGeom prst="line">
            <a:avLst/>
          </a:prstGeom>
          <a:noFill/>
          <a:ln w="3810">
            <a:solidFill>
              <a:srgbClr val="D2D2D7"/>
            </a:solidFill>
            <a:prstDash val="solid"/>
          </a:ln>
        </p:spPr>
      </p:sp>
      <p:sp>
        <p:nvSpPr>
          <p:cNvPr id="40" name="Text 38"/>
          <p:cNvSpPr/>
          <p:nvPr/>
        </p:nvSpPr>
        <p:spPr>
          <a:xfrm>
            <a:off x="1325880" y="5193792"/>
            <a:ext cx="233172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Evoque Energy</a:t>
            </a:r>
            <a:endParaRPr lang="en-US" sz="1300" dirty="0"/>
          </a:p>
        </p:txBody>
      </p:sp>
      <p:sp>
        <p:nvSpPr>
          <p:cNvPr id="41" name="Text 39"/>
          <p:cNvSpPr/>
          <p:nvPr/>
        </p:nvSpPr>
        <p:spPr>
          <a:xfrm>
            <a:off x="3749040" y="5193792"/>
            <a:ext cx="3657600" cy="32004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Revalorización conchas de chorito</a:t>
            </a:r>
            <a:endParaRPr lang="en-US" sz="1000" dirty="0"/>
          </a:p>
          <a:p>
            <a:pPr marL="0" indent="0">
              <a:buNone/>
            </a:pPr>
            <a:r>
              <a:rPr lang="en-US" sz="1100" b="1" dirty="0">
                <a:solidFill>
                  <a:srgbClr val="4D0F96"/>
                </a:solidFill>
                <a:latin typeface="Helvetica" pitchFamily="34" charset="0"/>
                <a:ea typeface="Helvetica" pitchFamily="34" charset="-122"/>
                <a:cs typeface="Helvetica" pitchFamily="34" charset="-120"/>
              </a:rPr>
              <a:t>36.978 t/año CaCO₃ · 16.270 t CO₂</a:t>
            </a:r>
            <a:endParaRPr lang="en-US" sz="1100" dirty="0"/>
          </a:p>
        </p:txBody>
      </p:sp>
      <p:sp>
        <p:nvSpPr>
          <p:cNvPr id="42" name="Text 40"/>
          <p:cNvSpPr/>
          <p:nvPr/>
        </p:nvSpPr>
        <p:spPr>
          <a:xfrm>
            <a:off x="7589520" y="5193792"/>
            <a:ext cx="4114800" cy="32004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Cierre Ready-to-Build proyectos clave</a:t>
            </a:r>
            <a:endParaRPr lang="en-US" sz="1100" dirty="0"/>
          </a:p>
        </p:txBody>
      </p:sp>
      <p:sp>
        <p:nvSpPr>
          <p:cNvPr id="43" name="Shape 41"/>
          <p:cNvSpPr/>
          <p:nvPr/>
        </p:nvSpPr>
        <p:spPr>
          <a:xfrm>
            <a:off x="457200" y="5669280"/>
            <a:ext cx="11274552" cy="640080"/>
          </a:xfrm>
          <a:prstGeom prst="rect">
            <a:avLst/>
          </a:prstGeom>
          <a:solidFill>
            <a:srgbClr val="F9F9F9"/>
          </a:solidFill>
          <a:ln/>
        </p:spPr>
      </p:sp>
      <p:sp>
        <p:nvSpPr>
          <p:cNvPr id="44" name="Shape 42"/>
          <p:cNvSpPr/>
          <p:nvPr/>
        </p:nvSpPr>
        <p:spPr>
          <a:xfrm>
            <a:off x="457200" y="6309360"/>
            <a:ext cx="11274552" cy="0"/>
          </a:xfrm>
          <a:prstGeom prst="line">
            <a:avLst/>
          </a:prstGeom>
          <a:noFill/>
          <a:ln w="3810">
            <a:solidFill>
              <a:srgbClr val="D2D2D7"/>
            </a:solidFill>
            <a:prstDash val="solid"/>
          </a:ln>
        </p:spPr>
      </p:sp>
      <p:sp>
        <p:nvSpPr>
          <p:cNvPr id="46" name="Text 44"/>
          <p:cNvSpPr/>
          <p:nvPr/>
        </p:nvSpPr>
        <p:spPr>
          <a:xfrm>
            <a:off x="1325880" y="5833872"/>
            <a:ext cx="233172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Trongkai</a:t>
            </a:r>
            <a:endParaRPr lang="en-US" sz="1300" dirty="0"/>
          </a:p>
        </p:txBody>
      </p:sp>
      <p:sp>
        <p:nvSpPr>
          <p:cNvPr id="47" name="Text 45"/>
          <p:cNvSpPr/>
          <p:nvPr/>
        </p:nvSpPr>
        <p:spPr>
          <a:xfrm>
            <a:off x="3749040" y="5833872"/>
            <a:ext cx="3657600" cy="32004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Extracción de proteínas agrícolas</a:t>
            </a:r>
            <a:endParaRPr lang="en-US" sz="1000" dirty="0"/>
          </a:p>
          <a:p>
            <a:pPr marL="0" indent="0">
              <a:buNone/>
            </a:pPr>
            <a:r>
              <a:rPr lang="en-US" sz="1100" b="1" dirty="0">
                <a:solidFill>
                  <a:srgbClr val="4D0F96"/>
                </a:solidFill>
                <a:latin typeface="Helvetica" pitchFamily="34" charset="0"/>
                <a:ea typeface="Helvetica" pitchFamily="34" charset="-122"/>
                <a:cs typeface="Helvetica" pitchFamily="34" charset="-120"/>
              </a:rPr>
              <a:t>Piloto comercial financiado</a:t>
            </a:r>
            <a:endParaRPr lang="en-US" sz="1100" dirty="0"/>
          </a:p>
        </p:txBody>
      </p:sp>
      <p:sp>
        <p:nvSpPr>
          <p:cNvPr id="48" name="Text 46"/>
          <p:cNvSpPr/>
          <p:nvPr/>
        </p:nvSpPr>
        <p:spPr>
          <a:xfrm>
            <a:off x="7589520" y="5833872"/>
            <a:ext cx="4114800" cy="32004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Hitos técnicos + plan de capitalización</a:t>
            </a:r>
            <a:endParaRPr lang="en-US" sz="1100" dirty="0"/>
          </a:p>
        </p:txBody>
      </p:sp>
      <p:sp>
        <p:nvSpPr>
          <p:cNvPr id="50" name="Shape 48"/>
          <p:cNvSpPr/>
          <p:nvPr/>
        </p:nvSpPr>
        <p:spPr>
          <a:xfrm>
            <a:off x="457200" y="6492240"/>
            <a:ext cx="11274552" cy="0"/>
          </a:xfrm>
          <a:prstGeom prst="line">
            <a:avLst/>
          </a:prstGeom>
          <a:noFill/>
          <a:ln w="6350">
            <a:solidFill>
              <a:srgbClr val="D2D2D7"/>
            </a:solidFill>
            <a:prstDash val="solid"/>
          </a:ln>
        </p:spPr>
      </p:sp>
      <p:sp>
        <p:nvSpPr>
          <p:cNvPr id="51" name="Text 49"/>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52" name="Text 50"/>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pic>
        <p:nvPicPr>
          <p:cNvPr id="53" name="CSL logo"/>
          <p:cNvPicPr>
            <a:picLocks noChangeAspect="1"/>
          </p:cNvPicPr>
          <p:nvPr/>
        </p:nvPicPr>
        <p:blipFill>
          <a:blip r:embed="rId4"/>
          <a:stretch>
            <a:fillRect/>
          </a:stretch>
        </p:blipFill>
        <p:spPr>
          <a:xfrm>
            <a:off x="457200" y="2634701"/>
            <a:ext cx="686000" cy="326727"/>
          </a:xfrm>
          <a:prstGeom prst="rect">
            <a:avLst/>
          </a:prstGeom>
        </p:spPr>
      </p:pic>
      <p:pic>
        <p:nvPicPr>
          <p:cNvPr id="54" name="Rho logo"/>
          <p:cNvPicPr>
            <a:picLocks noChangeAspect="1"/>
          </p:cNvPicPr>
          <p:nvPr/>
        </p:nvPicPr>
        <p:blipFill>
          <a:blip r:embed="rId5"/>
          <a:stretch>
            <a:fillRect/>
          </a:stretch>
        </p:blipFill>
        <p:spPr>
          <a:xfrm>
            <a:off x="457200" y="3325063"/>
            <a:ext cx="686000" cy="226163"/>
          </a:xfrm>
          <a:prstGeom prst="rect">
            <a:avLst/>
          </a:prstGeom>
        </p:spPr>
      </p:pic>
      <p:pic>
        <p:nvPicPr>
          <p:cNvPr id="55" name="DTE logo"/>
          <p:cNvPicPr>
            <a:picLocks noChangeAspect="1"/>
          </p:cNvPicPr>
          <p:nvPr/>
        </p:nvPicPr>
        <p:blipFill>
          <a:blip r:embed="rId6"/>
          <a:stretch>
            <a:fillRect/>
          </a:stretch>
        </p:blipFill>
        <p:spPr>
          <a:xfrm>
            <a:off x="457200" y="3872484"/>
            <a:ext cx="410518" cy="411480"/>
          </a:xfrm>
          <a:prstGeom prst="rect">
            <a:avLst/>
          </a:prstGeom>
        </p:spPr>
      </p:pic>
      <p:pic>
        <p:nvPicPr>
          <p:cNvPr id="56" name="Revtech logo"/>
          <p:cNvPicPr>
            <a:picLocks noChangeAspect="1"/>
          </p:cNvPicPr>
          <p:nvPr/>
        </p:nvPicPr>
        <p:blipFill>
          <a:blip r:embed="rId7"/>
          <a:stretch>
            <a:fillRect/>
          </a:stretch>
        </p:blipFill>
        <p:spPr>
          <a:xfrm>
            <a:off x="457200" y="4660618"/>
            <a:ext cx="686000" cy="115372"/>
          </a:xfrm>
          <a:prstGeom prst="rect">
            <a:avLst/>
          </a:prstGeom>
        </p:spPr>
      </p:pic>
      <p:pic>
        <p:nvPicPr>
          <p:cNvPr id="57" name="Evoque logo"/>
          <p:cNvPicPr>
            <a:picLocks noChangeAspect="1"/>
          </p:cNvPicPr>
          <p:nvPr/>
        </p:nvPicPr>
        <p:blipFill>
          <a:blip r:embed="rId8"/>
          <a:stretch>
            <a:fillRect/>
          </a:stretch>
        </p:blipFill>
        <p:spPr>
          <a:xfrm>
            <a:off x="457200" y="5239161"/>
            <a:ext cx="686000" cy="238446"/>
          </a:xfrm>
          <a:prstGeom prst="rect">
            <a:avLst/>
          </a:prstGeom>
        </p:spPr>
      </p:pic>
      <p:pic>
        <p:nvPicPr>
          <p:cNvPr id="58" name="Trongkai logo"/>
          <p:cNvPicPr>
            <a:picLocks noChangeAspect="1"/>
          </p:cNvPicPr>
          <p:nvPr/>
        </p:nvPicPr>
        <p:blipFill>
          <a:blip r:embed="rId9"/>
          <a:stretch>
            <a:fillRect/>
          </a:stretch>
        </p:blipFill>
        <p:spPr>
          <a:xfrm>
            <a:off x="457200" y="5939555"/>
            <a:ext cx="686000" cy="117818"/>
          </a:xfrm>
          <a:prstGeom prst="rect">
            <a:avLst/>
          </a:prstGeom>
        </p:spPr>
      </p:pic>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4D0F96"/>
        </a:solidFill>
        <a:effectLst/>
      </p:bgPr>
    </p:bg>
    <p:spTree>
      <p:nvGrpSpPr>
        <p:cNvPr id="1" name=""/>
        <p:cNvGrpSpPr/>
        <p:nvPr/>
      </p:nvGrpSpPr>
      <p:grpSpPr>
        <a:xfrm>
          <a:off x="0" y="0"/>
          <a:ext cx="0" cy="0"/>
          <a:chOff x="0" y="0"/>
          <a:chExt cx="0" cy="0"/>
        </a:xfrm>
      </p:grpSpPr>
      <p:sp>
        <p:nvSpPr>
          <p:cNvPr id="2" name="Shape 0"/>
          <p:cNvSpPr/>
          <p:nvPr/>
        </p:nvSpPr>
        <p:spPr>
          <a:xfrm flipV="1">
            <a:off x="0" y="0"/>
            <a:ext cx="3657600" cy="1828800"/>
          </a:xfrm>
          <a:prstGeom prst="rtTriangle">
            <a:avLst/>
          </a:prstGeom>
          <a:solidFill>
            <a:srgbClr val="823DBC">
              <a:alpha val="30000"/>
            </a:srgbClr>
          </a:solidFill>
          <a:ln/>
        </p:spPr>
      </p:sp>
      <p:sp>
        <p:nvSpPr>
          <p:cNvPr id="3" name="Shape 1"/>
          <p:cNvSpPr/>
          <p:nvPr/>
        </p:nvSpPr>
        <p:spPr>
          <a:xfrm>
            <a:off x="8686800" y="5029200"/>
            <a:ext cx="3502152" cy="1828800"/>
          </a:xfrm>
          <a:prstGeom prst="rtTriangle">
            <a:avLst/>
          </a:prstGeom>
          <a:solidFill>
            <a:srgbClr val="823DBC">
              <a:alpha val="30000"/>
            </a:srgbClr>
          </a:solidFill>
          <a:ln/>
        </p:spPr>
      </p:sp>
      <p:sp>
        <p:nvSpPr>
          <p:cNvPr id="7" name="Text 5"/>
          <p:cNvSpPr/>
          <p:nvPr/>
        </p:nvSpPr>
        <p:spPr>
          <a:xfrm>
            <a:off x="457200" y="3291840"/>
            <a:ext cx="11274552" cy="1005840"/>
          </a:xfrm>
          <a:prstGeom prst="rect">
            <a:avLst/>
          </a:prstGeom>
          <a:noFill/>
          <a:ln/>
        </p:spPr>
        <p:txBody>
          <a:bodyPr wrap="square" rtlCol="0" anchor="ctr"/>
          <a:lstStyle/>
          <a:p>
            <a:pPr marL="0" indent="0" algn="ctr">
              <a:buNone/>
            </a:pPr>
            <a:r>
              <a:rPr lang="en-US" sz="7200" b="1" i="1" dirty="0">
                <a:solidFill>
                  <a:srgbClr val="FFFFFF"/>
                </a:solidFill>
                <a:latin typeface="Georgia" pitchFamily="34" charset="0"/>
                <a:ea typeface="Georgia" pitchFamily="34" charset="-122"/>
                <a:cs typeface="Georgia" pitchFamily="34" charset="-120"/>
              </a:rPr>
              <a:t>Gracias</a:t>
            </a:r>
            <a:endParaRPr lang="en-US" sz="7200" dirty="0"/>
          </a:p>
        </p:txBody>
      </p:sp>
      <p:sp>
        <p:nvSpPr>
          <p:cNvPr id="8" name="Text 6"/>
          <p:cNvSpPr/>
          <p:nvPr/>
        </p:nvSpPr>
        <p:spPr>
          <a:xfrm>
            <a:off x="457200" y="4434840"/>
            <a:ext cx="11274552" cy="365760"/>
          </a:xfrm>
          <a:prstGeom prst="rect">
            <a:avLst/>
          </a:prstGeom>
          <a:noFill/>
          <a:ln/>
        </p:spPr>
        <p:txBody>
          <a:bodyPr wrap="square" rtlCol="0" anchor="ctr"/>
          <a:lstStyle/>
          <a:p>
            <a:pPr marL="0" indent="0" algn="ctr">
              <a:buNone/>
            </a:pPr>
            <a:r>
              <a:rPr lang="en-US" sz="1800" dirty="0">
                <a:solidFill>
                  <a:srgbClr val="C4B5FD"/>
                </a:solidFill>
                <a:latin typeface="Helvetica" pitchFamily="34" charset="0"/>
                <a:ea typeface="Helvetica" pitchFamily="34" charset="-122"/>
                <a:cs typeface="Helvetica" pitchFamily="34" charset="-120"/>
              </a:rPr>
              <a:t>Espacio para consultas y otros asuntos</a:t>
            </a:r>
            <a:endParaRPr lang="en-US" sz="1800" dirty="0"/>
          </a:p>
        </p:txBody>
      </p:sp>
      <p:sp>
        <p:nvSpPr>
          <p:cNvPr id="9" name="Shape 7"/>
          <p:cNvSpPr/>
          <p:nvPr/>
        </p:nvSpPr>
        <p:spPr>
          <a:xfrm>
            <a:off x="3657600" y="5212080"/>
            <a:ext cx="4873752" cy="0"/>
          </a:xfrm>
          <a:prstGeom prst="line">
            <a:avLst/>
          </a:prstGeom>
          <a:noFill/>
          <a:ln w="6350">
            <a:solidFill>
              <a:srgbClr val="823DBC"/>
            </a:solidFill>
            <a:prstDash val="solid"/>
          </a:ln>
        </p:spPr>
      </p:sp>
      <p:sp>
        <p:nvSpPr>
          <p:cNvPr id="10" name="Text 8"/>
          <p:cNvSpPr/>
          <p:nvPr/>
        </p:nvSpPr>
        <p:spPr>
          <a:xfrm>
            <a:off x="457200" y="5440680"/>
            <a:ext cx="11274552" cy="274320"/>
          </a:xfrm>
          <a:prstGeom prst="rect">
            <a:avLst/>
          </a:prstGeom>
          <a:noFill/>
          <a:ln/>
        </p:spPr>
        <p:txBody>
          <a:bodyPr wrap="square" rtlCol="0" anchor="ctr"/>
          <a:lstStyle/>
          <a:p>
            <a:pPr marL="0" indent="0" algn="ctr">
              <a:buNone/>
            </a:pPr>
            <a:r>
              <a:rPr lang="en-US" sz="1200" dirty="0">
                <a:solidFill>
                  <a:srgbClr val="FFFFFF"/>
                </a:solidFill>
                <a:latin typeface="Helvetica" pitchFamily="34" charset="0"/>
                <a:ea typeface="Helvetica" pitchFamily="34" charset="-122"/>
                <a:cs typeface="Helvetica" pitchFamily="34" charset="-120"/>
              </a:rPr>
              <a:t>cehtacapital.com  ·  info@cehtacapital.com</a:t>
            </a:r>
            <a:endParaRPr lang="en-US" sz="1200" dirty="0"/>
          </a:p>
        </p:txBody>
      </p:sp>
      <p:sp>
        <p:nvSpPr>
          <p:cNvPr id="11" name="Text 9"/>
          <p:cNvSpPr/>
          <p:nvPr/>
        </p:nvSpPr>
        <p:spPr>
          <a:xfrm>
            <a:off x="457200" y="5760720"/>
            <a:ext cx="11274552" cy="274320"/>
          </a:xfrm>
          <a:prstGeom prst="rect">
            <a:avLst/>
          </a:prstGeom>
          <a:noFill/>
          <a:ln/>
        </p:spPr>
        <p:txBody>
          <a:bodyPr wrap="square" rtlCol="0" anchor="ctr"/>
          <a:lstStyle/>
          <a:p>
            <a:pPr marL="0" indent="0" algn="ctr">
              <a:buNone/>
            </a:pPr>
            <a:r>
              <a:rPr lang="en-US" sz="1000" dirty="0">
                <a:solidFill>
                  <a:srgbClr val="C4B5FD"/>
                </a:solidFill>
                <a:latin typeface="Helvetica" pitchFamily="34" charset="0"/>
                <a:ea typeface="Helvetica" pitchFamily="34" charset="-122"/>
                <a:cs typeface="Helvetica" pitchFamily="34" charset="-120"/>
              </a:rPr>
              <a:t>Av. Américo Vespucio Sur 80, Oficina 31, Las Condes, Santiago</a:t>
            </a:r>
            <a:endParaRPr lang="en-US" sz="1000" dirty="0"/>
          </a:p>
        </p:txBody>
      </p:sp>
      <p:sp>
        <p:nvSpPr>
          <p:cNvPr id="12" name="Text 10"/>
          <p:cNvSpPr/>
          <p:nvPr/>
        </p:nvSpPr>
        <p:spPr>
          <a:xfrm>
            <a:off x="457200" y="6400800"/>
            <a:ext cx="11274552" cy="274320"/>
          </a:xfrm>
          <a:prstGeom prst="rect">
            <a:avLst/>
          </a:prstGeom>
          <a:noFill/>
          <a:ln/>
        </p:spPr>
        <p:txBody>
          <a:bodyPr wrap="square" rtlCol="0" anchor="ctr"/>
          <a:lstStyle/>
          <a:p>
            <a:pPr marL="0" indent="0" algn="ctr">
              <a:buNone/>
            </a:pPr>
            <a:r>
              <a:rPr lang="en-US" sz="800" i="1" dirty="0">
                <a:solidFill>
                  <a:srgbClr val="C4B5FD"/>
                </a:solidFill>
                <a:latin typeface="Helvetica" pitchFamily="34" charset="0"/>
                <a:ea typeface="Helvetica" pitchFamily="34" charset="-122"/>
                <a:cs typeface="Helvetica" pitchFamily="34" charset="-120"/>
              </a:rPr>
              <a:t>El FIP CEHTA ESG no se encuentra fiscalizado por la Comisión para el Mercado Financiero (Art. 93 Ley N° 20.712).</a:t>
            </a:r>
            <a:endParaRPr lang="en-US" sz="800" dirty="0"/>
          </a:p>
        </p:txBody>
      </p:sp>
      <p:pic>
        <p:nvPicPr>
          <p:cNvPr id="13" name="Cehta logo white"/>
          <p:cNvPicPr>
            <a:picLocks noChangeAspect="1"/>
          </p:cNvPicPr>
          <p:nvPr/>
        </p:nvPicPr>
        <p:blipFill>
          <a:blip r:embed="rId3"/>
          <a:stretch>
            <a:fillRect/>
          </a:stretch>
        </p:blipFill>
        <p:spPr>
          <a:xfrm>
            <a:off x="4953000" y="1439767"/>
            <a:ext cx="2286000" cy="960945"/>
          </a:xfrm>
          <a:prstGeom prst="rect">
            <a:avLst/>
          </a:prstGeom>
        </p:spPr>
      </p:pic>
      <p:sp>
        <p:nvSpPr>
          <p:cNvPr id="14" name="Institutional logos platform"/>
          <p:cNvSpPr/>
          <p:nvPr/>
        </p:nvSpPr>
        <p:spPr>
          <a:xfrm>
            <a:off x="3352800" y="6080000"/>
            <a:ext cx="5486400" cy="320040"/>
          </a:xfrm>
          <a:prstGeom prst="roundRect">
            <a:avLst>
              <a:gd name="adj" fmla="val 30000"/>
            </a:avLst>
          </a:prstGeom>
          <a:solidFill>
            <a:srgbClr val="FFFFFF">
              <a:alpha val="90000"/>
            </a:srgbClr>
          </a:solidFill>
          <a:ln/>
        </p:spPr>
      </p:sp>
      <p:pic>
        <p:nvPicPr>
          <p:cNvPr id="15" name="CORFO logo"/>
          <p:cNvPicPr>
            <a:picLocks noChangeAspect="1"/>
          </p:cNvPicPr>
          <p:nvPr/>
        </p:nvPicPr>
        <p:blipFill>
          <a:blip r:embed="rId7"/>
          <a:stretch>
            <a:fillRect/>
          </a:stretch>
        </p:blipFill>
        <p:spPr>
          <a:xfrm>
            <a:off x="4064000" y="6125720"/>
            <a:ext cx="406400" cy="228600"/>
          </a:xfrm>
          <a:prstGeom prst="rect">
            <a:avLst/>
          </a:prstGeom>
        </p:spPr>
      </p:pic>
      <p:pic>
        <p:nvPicPr>
          <p:cNvPr id="16" name="CMF logo"/>
          <p:cNvPicPr>
            <a:picLocks noChangeAspect="1"/>
          </p:cNvPicPr>
          <p:nvPr/>
        </p:nvPicPr>
        <p:blipFill>
          <a:blip r:embed="rId8"/>
          <a:stretch>
            <a:fillRect/>
          </a:stretch>
        </p:blipFill>
        <p:spPr>
          <a:xfrm>
            <a:off x="5473304" y="6125720"/>
            <a:ext cx="1245393" cy="228600"/>
          </a:xfrm>
          <a:prstGeom prst="rect">
            <a:avLst/>
          </a:prstGeom>
        </p:spPr>
      </p:pic>
      <p:pic>
        <p:nvPicPr>
          <p:cNvPr id="17" name="UAF logo"/>
          <p:cNvPicPr>
            <a:picLocks noChangeAspect="1"/>
          </p:cNvPicPr>
          <p:nvPr/>
        </p:nvPicPr>
        <p:blipFill>
          <a:blip r:embed="rId9"/>
          <a:stretch>
            <a:fillRect/>
          </a:stretch>
        </p:blipFill>
        <p:spPr>
          <a:xfrm>
            <a:off x="7675626" y="6125720"/>
            <a:ext cx="498348" cy="228600"/>
          </a:xfrm>
          <a:prstGeom prst="rect">
            <a:avLst/>
          </a:prstGeom>
        </p:spPr>
      </p:pic>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Header left"/>
          <p:cNvSpPr/>
          <p:nvPr/>
        </p:nvSpPr>
        <p:spPr>
          <a:xfrm>
            <a:off x="457200" y="182880"/>
            <a:ext cx="2286000" cy="228600"/>
          </a:xfrm>
          <a:prstGeom prst="rect">
            <a:avLst/>
          </a:prstGeom>
          <a:noFill/>
          <a:ln/>
        </p:spPr>
        <p:txBody>
          <a:bodyPr wrap="square" rtlCol="0" anchor="ctr"/>
          <a:lstStyle/>
          <a:p>
            <a:pPr marL="0" indent="0">
              <a:buNone/>
            </a:pPr>
            <a:r>
              <a:rPr lang="en-US" sz="900" b="1" spc="300" dirty="0">
                <a:solidFill>
                  <a:srgbClr val="823DBC"/>
                </a:solidFill>
                <a:latin typeface="Helvetica" pitchFamily="34" charset="0"/>
              </a:rPr>
              <a:t>CEHTA CAPITAL</a:t>
            </a:r>
          </a:p>
        </p:txBody>
      </p:sp>
      <p:sp>
        <p:nvSpPr>
          <p:cNvPr id="3" name="Header center"/>
          <p:cNvSpPr/>
          <p:nvPr/>
        </p:nvSpPr>
        <p:spPr>
          <a:xfrm>
            <a:off x="3429000" y="182880"/>
            <a:ext cx="5334000" cy="228600"/>
          </a:xfrm>
          <a:prstGeom prst="rect">
            <a:avLst/>
          </a:prstGeom>
          <a:noFill/>
          <a:ln/>
        </p:spPr>
        <p:txBody>
          <a:bodyPr wrap="square" rtlCol="0" anchor="ctr"/>
          <a:lstStyle/>
          <a:p>
            <a:pPr marL="0" indent="0" algn="ctr">
              <a:buNone/>
            </a:pPr>
            <a:r>
              <a:rPr lang="en-US" sz="900" spc="200" dirty="0">
                <a:solidFill>
                  <a:srgbClr val="C7B8E8"/>
                </a:solidFill>
                <a:latin typeface="Helvetica" pitchFamily="34" charset="0"/>
              </a:rPr>
              <a:t>ASAMBLEA ORDINARIA · 27 DE MAYO, 2026</a:t>
            </a:r>
          </a:p>
        </p:txBody>
      </p:sp>
      <p:sp>
        <p:nvSpPr>
          <p:cNvPr id="4" name="Header right"/>
          <p:cNvSpPr/>
          <p:nvPr/>
        </p:nvSpPr>
        <p:spPr>
          <a:xfrm>
            <a:off x="9449400" y="182880"/>
            <a:ext cx="2286000" cy="228600"/>
          </a:xfrm>
          <a:prstGeom prst="rect">
            <a:avLst/>
          </a:prstGeom>
          <a:noFill/>
          <a:ln/>
        </p:spPr>
        <p:txBody>
          <a:bodyPr wrap="square" rtlCol="0" anchor="ctr"/>
          <a:lstStyle/>
          <a:p>
            <a:pPr marL="0" indent="0" algn="r">
              <a:buNone/>
            </a:pPr>
            <a:r>
              <a:rPr lang="en-US" sz="900" spc="200" dirty="0">
                <a:solidFill>
                  <a:srgbClr val="C7B8E8"/>
                </a:solidFill>
                <a:latin typeface="Helvetica" pitchFamily="34" charset="0"/>
              </a:rPr>
              <a:t>07 — 18</a:t>
            </a:r>
          </a:p>
        </p:txBody>
      </p:sp>
      <p:sp>
        <p:nvSpPr>
          <p:cNvPr id="5" name="Eyebrow"/>
          <p:cNvSpPr/>
          <p:nvPr/>
        </p:nvSpPr>
        <p:spPr>
          <a:xfrm>
            <a:off x="457200" y="731520"/>
            <a:ext cx="6400800" cy="320040"/>
          </a:xfrm>
          <a:prstGeom prst="rect">
            <a:avLst/>
          </a:prstGeom>
          <a:noFill/>
          <a:ln/>
        </p:spPr>
        <p:txBody>
          <a:bodyPr wrap="square" rtlCol="0" anchor="ctr"/>
          <a:lstStyle/>
          <a:p>
            <a:pPr marL="0" indent="0">
              <a:buNone/>
            </a:pPr>
            <a:r>
              <a:rPr lang="en-US" sz="1200" b="1" spc="300" dirty="0">
                <a:solidFill>
                  <a:srgbClr val="4D0F96"/>
                </a:solidFill>
                <a:latin typeface="Helvetica" pitchFamily="34" charset="0"/>
              </a:rPr>
              <a:t>2025 IN NUMBERS · Highlights del ejercicio</a:t>
            </a:r>
          </a:p>
        </p:txBody>
      </p:sp>
      <p:sp>
        <p:nvSpPr>
          <p:cNvPr id="6" name="Title"/>
          <p:cNvSpPr/>
          <p:nvPr/>
        </p:nvSpPr>
        <p:spPr>
          <a:xfrm>
            <a:off x="457200" y="1051560"/>
            <a:ext cx="11277600" cy="731520"/>
          </a:xfrm>
          <a:prstGeom prst="rect">
            <a:avLst/>
          </a:prstGeom>
          <a:noFill/>
          <a:ln/>
        </p:spPr>
        <p:txBody>
          <a:bodyPr wrap="square" rtlCol="0" anchor="ctr"/>
          <a:lstStyle/>
          <a:p>
            <a:pPr marL="0" indent="0">
              <a:buNone/>
            </a:pPr>
            <a:r>
              <a:rPr lang="en-US" sz="4400" b="1" dirty="0">
                <a:solidFill>
                  <a:srgbClr val="1D1D1F"/>
                </a:solidFill>
                <a:latin typeface="Helvetica" pitchFamily="34" charset="0"/>
              </a:rPr>
              <a:t>Un año de evidencia</a:t>
            </a:r>
          </a:p>
        </p:txBody>
      </p:sp>
      <p:sp>
        <p:nvSpPr>
          <p:cNvPr id="7" name="Title underline"/>
          <p:cNvSpPr/>
          <p:nvPr/>
        </p:nvSpPr>
        <p:spPr>
          <a:xfrm>
            <a:off x="457200" y="1828800"/>
            <a:ext cx="548640" cy="0"/>
          </a:xfrm>
          <a:prstGeom prst="line">
            <a:avLst/>
          </a:prstGeom>
          <a:noFill/>
          <a:ln w="31750">
            <a:solidFill>
              <a:srgbClr val="2C74FF"/>
            </a:solidFill>
          </a:ln>
        </p:spPr>
      </p:sp>
      <p:sp>
        <p:nvSpPr>
          <p:cNvPr id="100" name="KPI bg 100"/>
          <p:cNvSpPr/>
          <p:nvPr/>
        </p:nvSpPr>
        <p:spPr>
          <a:xfrm>
            <a:off x="457200" y="2286000"/>
            <a:ext cx="3637280" cy="1828800"/>
          </a:xfrm>
          <a:prstGeom prst="roundRect">
            <a:avLst>
              <a:gd name="adj" fmla="val 8000"/>
            </a:avLst>
          </a:prstGeom>
          <a:solidFill>
            <a:srgbClr val="F5F3FE"/>
          </a:solidFill>
          <a:ln/>
        </p:spPr>
      </p:sp>
      <p:sp>
        <p:nvSpPr>
          <p:cNvPr id="101" name="KPI big 101"/>
          <p:cNvSpPr/>
          <p:nvPr/>
        </p:nvSpPr>
        <p:spPr>
          <a:xfrm>
            <a:off x="731520" y="2651760"/>
            <a:ext cx="3088640" cy="731520"/>
          </a:xfrm>
          <a:prstGeom prst="rect">
            <a:avLst/>
          </a:prstGeom>
          <a:noFill/>
          <a:ln/>
        </p:spPr>
        <p:txBody>
          <a:bodyPr wrap="square" rtlCol="0" anchor="ctr"/>
          <a:lstStyle/>
          <a:p>
            <a:pPr marL="0" indent="0">
              <a:buNone/>
            </a:pPr>
            <a:r>
              <a:rPr lang="en-US" sz="4400" b="1" dirty="0">
                <a:solidFill>
                  <a:srgbClr val="4D0F96"/>
                </a:solidFill>
                <a:latin typeface="Helvetica" pitchFamily="34" charset="0"/>
              </a:rPr>
              <a:t>6</a:t>
            </a:r>
          </a:p>
        </p:txBody>
      </p:sp>
      <p:sp>
        <p:nvSpPr>
          <p:cNvPr id="102" name="KPI label 102"/>
          <p:cNvSpPr/>
          <p:nvPr/>
        </p:nvSpPr>
        <p:spPr>
          <a:xfrm>
            <a:off x="731520" y="3474720"/>
            <a:ext cx="308864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rPr>
              <a:t>Portfolio companies</a:t>
            </a:r>
          </a:p>
        </p:txBody>
      </p:sp>
      <p:sp>
        <p:nvSpPr>
          <p:cNvPr id="103" name="KPI sub 103"/>
          <p:cNvSpPr/>
          <p:nvPr/>
        </p:nvSpPr>
        <p:spPr>
          <a:xfrm>
            <a:off x="731520" y="3794760"/>
            <a:ext cx="3088640" cy="228600"/>
          </a:xfrm>
          <a:prstGeom prst="rect">
            <a:avLst/>
          </a:prstGeom>
          <a:noFill/>
          <a:ln/>
        </p:spPr>
        <p:txBody>
          <a:bodyPr wrap="square" rtlCol="0" anchor="ctr"/>
          <a:lstStyle/>
          <a:p>
            <a:pPr marL="0" indent="0">
              <a:buNone/>
            </a:pPr>
            <a:r>
              <a:rPr lang="en-US" sz="1000" dirty="0">
                <a:solidFill>
                  <a:srgbClr val="7A7A85"/>
                </a:solidFill>
                <a:latin typeface="Helvetica" pitchFamily="34" charset="0"/>
              </a:rPr>
              <a:t>Activas en cartera FIP CEHTA ESG</a:t>
            </a:r>
          </a:p>
        </p:txBody>
      </p:sp>
      <p:sp>
        <p:nvSpPr>
          <p:cNvPr id="110" name="KPI bg 110"/>
          <p:cNvSpPr/>
          <p:nvPr/>
        </p:nvSpPr>
        <p:spPr>
          <a:xfrm>
            <a:off x="4368800" y="2286000"/>
            <a:ext cx="3637280" cy="1828800"/>
          </a:xfrm>
          <a:prstGeom prst="roundRect">
            <a:avLst>
              <a:gd name="adj" fmla="val 8000"/>
            </a:avLst>
          </a:prstGeom>
          <a:solidFill>
            <a:srgbClr val="F5F3FE"/>
          </a:solidFill>
          <a:ln/>
        </p:spPr>
      </p:sp>
      <p:sp>
        <p:nvSpPr>
          <p:cNvPr id="111" name="KPI big 111"/>
          <p:cNvSpPr/>
          <p:nvPr/>
        </p:nvSpPr>
        <p:spPr>
          <a:xfrm>
            <a:off x="4643120" y="2651760"/>
            <a:ext cx="3088640" cy="731520"/>
          </a:xfrm>
          <a:prstGeom prst="rect">
            <a:avLst/>
          </a:prstGeom>
          <a:noFill/>
          <a:ln/>
        </p:spPr>
        <p:txBody>
          <a:bodyPr wrap="square" rtlCol="0" anchor="ctr"/>
          <a:lstStyle/>
          <a:p>
            <a:pPr marL="0" indent="0">
              <a:buNone/>
            </a:pPr>
            <a:r>
              <a:rPr lang="en-US" sz="4400" b="1" dirty="0">
                <a:solidFill>
                  <a:srgbClr val="4D0F96"/>
                </a:solidFill>
                <a:latin typeface="Helvetica" pitchFamily="34" charset="0"/>
              </a:rPr>
              <a:t>150+</a:t>
            </a:r>
          </a:p>
        </p:txBody>
      </p:sp>
      <p:sp>
        <p:nvSpPr>
          <p:cNvPr id="112" name="KPI label 112"/>
          <p:cNvSpPr/>
          <p:nvPr/>
        </p:nvSpPr>
        <p:spPr>
          <a:xfrm>
            <a:off x="4643120" y="3474720"/>
            <a:ext cx="308864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rPr>
              <a:t>MW en pipeline R2B</a:t>
            </a:r>
          </a:p>
        </p:txBody>
      </p:sp>
      <p:sp>
        <p:nvSpPr>
          <p:cNvPr id="113" name="KPI sub 113"/>
          <p:cNvSpPr/>
          <p:nvPr/>
        </p:nvSpPr>
        <p:spPr>
          <a:xfrm>
            <a:off x="4643120" y="3794760"/>
            <a:ext cx="3088640" cy="228600"/>
          </a:xfrm>
          <a:prstGeom prst="rect">
            <a:avLst/>
          </a:prstGeom>
          <a:noFill/>
          <a:ln/>
        </p:spPr>
        <p:txBody>
          <a:bodyPr wrap="square" rtlCol="0" anchor="ctr"/>
          <a:lstStyle/>
          <a:p>
            <a:pPr marL="0" indent="0">
              <a:buNone/>
            </a:pPr>
            <a:r>
              <a:rPr lang="en-US" sz="1000" dirty="0">
                <a:solidFill>
                  <a:srgbClr val="7A7A85"/>
                </a:solidFill>
                <a:latin typeface="Helvetica" pitchFamily="34" charset="0"/>
              </a:rPr>
              <a:t>6 proyectos energéticos · 360 MWh</a:t>
            </a:r>
          </a:p>
        </p:txBody>
      </p:sp>
      <p:sp>
        <p:nvSpPr>
          <p:cNvPr id="120" name="KPI bg 120"/>
          <p:cNvSpPr/>
          <p:nvPr/>
        </p:nvSpPr>
        <p:spPr>
          <a:xfrm>
            <a:off x="8280400" y="2286000"/>
            <a:ext cx="3637280" cy="1828800"/>
          </a:xfrm>
          <a:prstGeom prst="roundRect">
            <a:avLst>
              <a:gd name="adj" fmla="val 8000"/>
            </a:avLst>
          </a:prstGeom>
          <a:solidFill>
            <a:srgbClr val="F5F3FE"/>
          </a:solidFill>
          <a:ln/>
        </p:spPr>
      </p:sp>
      <p:sp>
        <p:nvSpPr>
          <p:cNvPr id="121" name="KPI big 121"/>
          <p:cNvSpPr/>
          <p:nvPr/>
        </p:nvSpPr>
        <p:spPr>
          <a:xfrm>
            <a:off x="8554720" y="2651760"/>
            <a:ext cx="3088640" cy="731520"/>
          </a:xfrm>
          <a:prstGeom prst="rect">
            <a:avLst/>
          </a:prstGeom>
          <a:noFill/>
          <a:ln/>
        </p:spPr>
        <p:txBody>
          <a:bodyPr wrap="square" rtlCol="0" anchor="ctr"/>
          <a:lstStyle/>
          <a:p>
            <a:pPr marL="0" indent="0">
              <a:buNone/>
            </a:pPr>
            <a:r>
              <a:rPr lang="en-US" sz="4400" b="1" dirty="0">
                <a:solidFill>
                  <a:srgbClr val="4D0F96"/>
                </a:solidFill>
                <a:latin typeface="Helvetica" pitchFamily="34" charset="0"/>
              </a:rPr>
              <a:t>820</a:t>
            </a:r>
          </a:p>
        </p:txBody>
      </p:sp>
      <p:sp>
        <p:nvSpPr>
          <p:cNvPr id="122" name="KPI label 122"/>
          <p:cNvSpPr/>
          <p:nvPr/>
        </p:nvSpPr>
        <p:spPr>
          <a:xfrm>
            <a:off x="8554720" y="3474720"/>
            <a:ext cx="308864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rPr>
              <a:t>Viviendas sociales (fuera R2B)</a:t>
            </a:r>
          </a:p>
        </p:txBody>
      </p:sp>
      <p:sp>
        <p:nvSpPr>
          <p:cNvPr id="123" name="KPI sub 123"/>
          <p:cNvSpPr/>
          <p:nvPr/>
        </p:nvSpPr>
        <p:spPr>
          <a:xfrm>
            <a:off x="8554720" y="3794760"/>
            <a:ext cx="3088640" cy="228600"/>
          </a:xfrm>
          <a:prstGeom prst="rect">
            <a:avLst/>
          </a:prstGeom>
          <a:noFill/>
          <a:ln/>
        </p:spPr>
        <p:txBody>
          <a:bodyPr wrap="square" rtlCol="0" anchor="ctr"/>
          <a:lstStyle/>
          <a:p>
            <a:pPr marL="0" indent="0">
              <a:buNone/>
            </a:pPr>
            <a:r>
              <a:rPr lang="en-US" sz="1000" dirty="0">
                <a:solidFill>
                  <a:srgbClr val="7A7A85"/>
                </a:solidFill>
                <a:latin typeface="Helvetica" pitchFamily="34" charset="0"/>
              </a:rPr>
              <a:t>DS49 · DTE Consulting · La Serena</a:t>
            </a:r>
          </a:p>
        </p:txBody>
      </p:sp>
      <p:sp>
        <p:nvSpPr>
          <p:cNvPr id="130" name="KPI bg 130"/>
          <p:cNvSpPr/>
          <p:nvPr/>
        </p:nvSpPr>
        <p:spPr>
          <a:xfrm>
            <a:off x="457200" y="4389120"/>
            <a:ext cx="3637280" cy="1828800"/>
          </a:xfrm>
          <a:prstGeom prst="roundRect">
            <a:avLst>
              <a:gd name="adj" fmla="val 8000"/>
            </a:avLst>
          </a:prstGeom>
          <a:solidFill>
            <a:srgbClr val="F5F3FE"/>
          </a:solidFill>
          <a:ln/>
        </p:spPr>
      </p:sp>
      <p:sp>
        <p:nvSpPr>
          <p:cNvPr id="131" name="KPI big 131"/>
          <p:cNvSpPr/>
          <p:nvPr/>
        </p:nvSpPr>
        <p:spPr>
          <a:xfrm>
            <a:off x="731520" y="4754880"/>
            <a:ext cx="3088640" cy="731520"/>
          </a:xfrm>
          <a:prstGeom prst="rect">
            <a:avLst/>
          </a:prstGeom>
          <a:noFill/>
          <a:ln/>
        </p:spPr>
        <p:txBody>
          <a:bodyPr wrap="square" rtlCol="0" anchor="ctr"/>
          <a:lstStyle/>
          <a:p>
            <a:pPr marL="0" indent="0">
              <a:buNone/>
            </a:pPr>
            <a:r>
              <a:rPr lang="en-US" sz="4400" b="1" dirty="0">
                <a:solidFill>
                  <a:srgbClr val="4D0F96"/>
                </a:solidFill>
                <a:latin typeface="Helvetica" pitchFamily="34" charset="0"/>
              </a:rPr>
              <a:t>36.978</a:t>
            </a:r>
          </a:p>
        </p:txBody>
      </p:sp>
      <p:sp>
        <p:nvSpPr>
          <p:cNvPr id="132" name="KPI label 132"/>
          <p:cNvSpPr/>
          <p:nvPr/>
        </p:nvSpPr>
        <p:spPr>
          <a:xfrm>
            <a:off x="731520" y="5577840"/>
            <a:ext cx="308864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rPr>
              <a:t>t/año CaCO₃</a:t>
            </a:r>
          </a:p>
        </p:txBody>
      </p:sp>
      <p:sp>
        <p:nvSpPr>
          <p:cNvPr id="133" name="KPI sub 133"/>
          <p:cNvSpPr/>
          <p:nvPr/>
        </p:nvSpPr>
        <p:spPr>
          <a:xfrm>
            <a:off x="731520" y="5897880"/>
            <a:ext cx="3088640" cy="228600"/>
          </a:xfrm>
          <a:prstGeom prst="rect">
            <a:avLst/>
          </a:prstGeom>
          <a:noFill/>
          <a:ln/>
        </p:spPr>
        <p:txBody>
          <a:bodyPr wrap="square" rtlCol="0" anchor="ctr"/>
          <a:lstStyle/>
          <a:p>
            <a:pPr marL="0" indent="0">
              <a:buNone/>
            </a:pPr>
            <a:r>
              <a:rPr lang="en-US" sz="1000" dirty="0">
                <a:solidFill>
                  <a:srgbClr val="7A7A85"/>
                </a:solidFill>
                <a:latin typeface="Helvetica" pitchFamily="34" charset="0"/>
              </a:rPr>
              <a:t>Evoque Energy · Chiloé · Linares</a:t>
            </a:r>
          </a:p>
        </p:txBody>
      </p:sp>
      <p:sp>
        <p:nvSpPr>
          <p:cNvPr id="140" name="KPI bg 140"/>
          <p:cNvSpPr/>
          <p:nvPr/>
        </p:nvSpPr>
        <p:spPr>
          <a:xfrm>
            <a:off x="4368800" y="4389120"/>
            <a:ext cx="3637280" cy="1828800"/>
          </a:xfrm>
          <a:prstGeom prst="roundRect">
            <a:avLst>
              <a:gd name="adj" fmla="val 8000"/>
            </a:avLst>
          </a:prstGeom>
          <a:solidFill>
            <a:srgbClr val="F5F3FE"/>
          </a:solidFill>
          <a:ln/>
        </p:spPr>
      </p:sp>
      <p:sp>
        <p:nvSpPr>
          <p:cNvPr id="141" name="KPI big 141"/>
          <p:cNvSpPr/>
          <p:nvPr/>
        </p:nvSpPr>
        <p:spPr>
          <a:xfrm>
            <a:off x="4643120" y="4754880"/>
            <a:ext cx="3088640" cy="731520"/>
          </a:xfrm>
          <a:prstGeom prst="rect">
            <a:avLst/>
          </a:prstGeom>
          <a:noFill/>
          <a:ln/>
        </p:spPr>
        <p:txBody>
          <a:bodyPr wrap="square" rtlCol="0" anchor="ctr"/>
          <a:lstStyle/>
          <a:p>
            <a:pPr marL="0" indent="0">
              <a:buNone/>
            </a:pPr>
            <a:r>
              <a:rPr lang="en-US" sz="4400" b="1" dirty="0">
                <a:solidFill>
                  <a:srgbClr val="4D0F96"/>
                </a:solidFill>
                <a:latin typeface="Helvetica" pitchFamily="34" charset="0"/>
              </a:rPr>
              <a:t>16.270</a:t>
            </a:r>
          </a:p>
        </p:txBody>
      </p:sp>
      <p:sp>
        <p:nvSpPr>
          <p:cNvPr id="142" name="KPI label 142"/>
          <p:cNvSpPr/>
          <p:nvPr/>
        </p:nvSpPr>
        <p:spPr>
          <a:xfrm>
            <a:off x="4643120" y="5577840"/>
            <a:ext cx="308864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rPr>
              <a:t>t CO₂ mitigadas</a:t>
            </a:r>
          </a:p>
        </p:txBody>
      </p:sp>
      <p:sp>
        <p:nvSpPr>
          <p:cNvPr id="143" name="KPI sub 143"/>
          <p:cNvSpPr/>
          <p:nvPr/>
        </p:nvSpPr>
        <p:spPr>
          <a:xfrm>
            <a:off x="4643120" y="5897880"/>
            <a:ext cx="3088640" cy="228600"/>
          </a:xfrm>
          <a:prstGeom prst="rect">
            <a:avLst/>
          </a:prstGeom>
          <a:noFill/>
          <a:ln/>
        </p:spPr>
        <p:txBody>
          <a:bodyPr wrap="square" rtlCol="0" anchor="ctr"/>
          <a:lstStyle/>
          <a:p>
            <a:pPr marL="0" indent="0">
              <a:buNone/>
            </a:pPr>
            <a:r>
              <a:rPr lang="en-US" sz="1000" dirty="0">
                <a:solidFill>
                  <a:srgbClr val="7A7A85"/>
                </a:solidFill>
                <a:latin typeface="Helvetica" pitchFamily="34" charset="0"/>
              </a:rPr>
              <a:t>Estimación anual portfolio combinada</a:t>
            </a:r>
          </a:p>
        </p:txBody>
      </p:sp>
      <p:sp>
        <p:nvSpPr>
          <p:cNvPr id="150" name="KPI bg 150"/>
          <p:cNvSpPr/>
          <p:nvPr/>
        </p:nvSpPr>
        <p:spPr>
          <a:xfrm>
            <a:off x="8280400" y="4389120"/>
            <a:ext cx="3637280" cy="1828800"/>
          </a:xfrm>
          <a:prstGeom prst="roundRect">
            <a:avLst>
              <a:gd name="adj" fmla="val 8000"/>
            </a:avLst>
          </a:prstGeom>
          <a:solidFill>
            <a:srgbClr val="F5F3FE"/>
          </a:solidFill>
          <a:ln/>
        </p:spPr>
      </p:sp>
      <p:sp>
        <p:nvSpPr>
          <p:cNvPr id="151" name="KPI big 151"/>
          <p:cNvSpPr/>
          <p:nvPr/>
        </p:nvSpPr>
        <p:spPr>
          <a:xfrm>
            <a:off x="8554720" y="4754880"/>
            <a:ext cx="3088640" cy="731520"/>
          </a:xfrm>
          <a:prstGeom prst="rect">
            <a:avLst/>
          </a:prstGeom>
          <a:noFill/>
          <a:ln/>
        </p:spPr>
        <p:txBody>
          <a:bodyPr wrap="square" rtlCol="0" anchor="ctr"/>
          <a:lstStyle/>
          <a:p>
            <a:pPr marL="0" indent="0">
              <a:buNone/>
            </a:pPr>
            <a:r>
              <a:rPr lang="en-US" sz="4400" b="1" dirty="0">
                <a:solidFill>
                  <a:srgbClr val="4D0F96"/>
                </a:solidFill>
                <a:latin typeface="Helvetica" pitchFamily="34" charset="0"/>
              </a:rPr>
              <a:t>2</a:t>
            </a:r>
          </a:p>
        </p:txBody>
      </p:sp>
      <p:sp>
        <p:nvSpPr>
          <p:cNvPr id="152" name="KPI label 152"/>
          <p:cNvSpPr/>
          <p:nvPr/>
        </p:nvSpPr>
        <p:spPr>
          <a:xfrm>
            <a:off x="8554720" y="5577840"/>
            <a:ext cx="308864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rPr>
              <a:t>Financiamiento CORFO</a:t>
            </a:r>
          </a:p>
        </p:txBody>
      </p:sp>
      <p:sp>
        <p:nvSpPr>
          <p:cNvPr id="153" name="KPI sub 153"/>
          <p:cNvSpPr/>
          <p:nvPr/>
        </p:nvSpPr>
        <p:spPr>
          <a:xfrm>
            <a:off x="8554720" y="5897880"/>
            <a:ext cx="3088640" cy="228600"/>
          </a:xfrm>
          <a:prstGeom prst="rect">
            <a:avLst/>
          </a:prstGeom>
          <a:noFill/>
          <a:ln/>
        </p:spPr>
        <p:txBody>
          <a:bodyPr wrap="square" rtlCol="0" anchor="ctr"/>
          <a:lstStyle/>
          <a:p>
            <a:pPr marL="0" indent="0">
              <a:buNone/>
            </a:pPr>
            <a:r>
              <a:rPr lang="en-US" sz="1000" dirty="0">
                <a:solidFill>
                  <a:srgbClr val="7A7A85"/>
                </a:solidFill>
                <a:latin typeface="Helvetica" pitchFamily="34" charset="0"/>
              </a:rPr>
              <a:t>Programas Tecnológicos · Trongkai + Revtech</a:t>
            </a:r>
          </a:p>
        </p:txBody>
      </p:sp>
      <p:sp>
        <p:nvSpPr>
          <p:cNvPr id="200" name="Footer line"/>
          <p:cNvSpPr/>
          <p:nvPr/>
        </p:nvSpPr>
        <p:spPr>
          <a:xfrm>
            <a:off x="457200" y="6492240"/>
            <a:ext cx="11277600" cy="0"/>
          </a:xfrm>
          <a:prstGeom prst="line">
            <a:avLst/>
          </a:prstGeom>
          <a:noFill/>
          <a:ln w="6350">
            <a:solidFill>
              <a:srgbClr val="D2D2D7"/>
            </a:solidFill>
          </a:ln>
        </p:spPr>
      </p:sp>
      <p:sp>
        <p:nvSpPr>
          <p:cNvPr id="201" name="Footer left"/>
          <p:cNvSpPr/>
          <p:nvPr/>
        </p:nvSpPr>
        <p:spPr>
          <a:xfrm>
            <a:off x="457200" y="6583680"/>
            <a:ext cx="4572000" cy="228600"/>
          </a:xfrm>
          <a:prstGeom prst="rect">
            <a:avLst/>
          </a:prstGeom>
          <a:noFill/>
          <a:ln/>
        </p:spPr>
        <p:txBody>
          <a:bodyPr wrap="square" rtlCol="0" anchor="ctr"/>
          <a:lstStyle/>
          <a:p>
            <a:pPr marL="0" indent="0">
              <a:buNone/>
            </a:pPr>
            <a:r>
              <a:rPr lang="en-US" sz="900" dirty="0">
                <a:solidFill>
                  <a:srgbClr val="7A7A85"/>
                </a:solidFill>
                <a:latin typeface="Helvetica" pitchFamily="34" charset="0"/>
              </a:rPr>
              <a:t>FIP CEHTA ESG · RUT 77.751.766-K</a:t>
            </a:r>
          </a:p>
        </p:txBody>
      </p:sp>
      <p:sp>
        <p:nvSpPr>
          <p:cNvPr id="202" name="Footer right"/>
          <p:cNvSpPr/>
          <p:nvPr/>
        </p:nvSpPr>
        <p:spPr>
          <a:xfrm>
            <a:off x="7162800" y="6583680"/>
            <a:ext cx="4572000" cy="228600"/>
          </a:xfrm>
          <a:prstGeom prst="rect">
            <a:avLst/>
          </a:prstGeom>
          <a:noFill/>
          <a:ln/>
        </p:spPr>
        <p:txBody>
          <a:bodyPr wrap="square" rtlCol="0" anchor="ctr"/>
          <a:lstStyle/>
          <a:p>
            <a:pPr marL="0" indent="0" algn="r">
              <a:buNone/>
            </a:pPr>
            <a:r>
              <a:rPr lang="en-US" sz="900" i="1" dirty="0">
                <a:solidFill>
                  <a:srgbClr val="7A7A85"/>
                </a:solidFill>
                <a:latin typeface="Helvetica" pitchFamily="34" charset="0"/>
              </a:rPr>
              <a:t>Documento preparatorio · Uso interno</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10" fill="hold">
                                  <p:stCondLst>
                                    <p:cond delay="0"/>
                                  </p:stCondLst>
                                  <p:childTnLst>
                                    <p:par>
                                      <p:cTn id="11" presetID="10" presetClass="entr" presetSubtype="0" fill="hold" grpId="0" nodeType="afterEffect">
                                        <p:stCondLst>
                                          <p:cond delay="0"/>
                                        </p:stCondLst>
                                        <p:childTnLst>
                                          <p:set>
                                            <p:cBhvr>
                                              <p:cTn id="12" dur="1" fill="hold">
                                                <p:stCondLst>
                                                  <p:cond delay="0"/>
                                                </p:stCondLst>
                                              </p:cTn>
                                              <p:tgtEl>
                                                <p:spTgt spid="100"/>
                                              </p:tgtEl>
                                              <p:attrNameLst>
                                                <p:attrName>style.visibility</p:attrName>
                                              </p:attrNameLst>
                                            </p:cBhvr>
                                            <p:to>
                                              <p:strVal val="visible"/>
                                            </p:to>
                                          </p:set>
                                          <p:anim calcmode="lin" valueType="num">
                                            <p:cBhvr additive="base">
                                              <p:cTn id="13" dur="500" fill="hold"/>
                                              <p:tgtEl>
                                                <p:spTgt spid="100"/>
                                              </p:tgtEl>
                                              <p:attrNameLst>
                                                <p:attrName>style.opacity</p:attrName>
                                              </p:attrNameLst>
                                            </p:cBhvr>
                                            <p:tavLst>
                                              <p:tav tm="0">
                                                <p:val>
                                                  <p:fltVal val="0"/>
                                                </p:val>
                                              </p:tav>
                                              <p:tav tm="100000">
                                                <p:val>
                                                  <p:fltVal val="1"/>
                                                </p:val>
                                              </p:tav>
                                            </p:tavLst>
                                          </p:anim>
                                        </p:childTnLst>
                                      </p:cTn>
                                    </p:par>
                                  </p:childTnLst>
                                </p:cTn>
                              </p:par>
                              <p:par>
                                <p:cTn id="14" fill="hold">
                                  <p:stCondLst>
                                    <p:cond delay="400"/>
                                  </p:stCondLst>
                                  <p:childTnLst>
                                    <p:par>
                                      <p:cTn id="15" presetID="10" presetClass="entr" presetSubtype="0" fill="hold" grpId="0" nodeType="afterEffect">
                                        <p:stCondLst>
                                          <p:cond delay="0"/>
                                        </p:stCondLst>
                                        <p:childTnLst>
                                          <p:set>
                                            <p:cBhvr>
                                              <p:cTn id="16" dur="1" fill="hold">
                                                <p:stCondLst>
                                                  <p:cond delay="0"/>
                                                </p:stCondLst>
                                              </p:cTn>
                                              <p:tgtEl>
                                                <p:spTgt spid="110"/>
                                              </p:tgtEl>
                                              <p:attrNameLst>
                                                <p:attrName>style.visibility</p:attrName>
                                              </p:attrNameLst>
                                            </p:cBhvr>
                                            <p:to>
                                              <p:strVal val="visible"/>
                                            </p:to>
                                          </p:set>
                                          <p:anim calcmode="lin" valueType="num">
                                            <p:cBhvr additive="base">
                                              <p:cTn id="17" dur="500" fill="hold"/>
                                              <p:tgtEl>
                                                <p:spTgt spid="110"/>
                                              </p:tgtEl>
                                              <p:attrNameLst>
                                                <p:attrName>style.opacity</p:attrName>
                                              </p:attrNameLst>
                                            </p:cBhvr>
                                            <p:tavLst>
                                              <p:tav tm="0">
                                                <p:val>
                                                  <p:fltVal val="0"/>
                                                </p:val>
                                              </p:tav>
                                              <p:tav tm="100000">
                                                <p:val>
                                                  <p:fltVal val="1"/>
                                                </p:val>
                                              </p:tav>
                                            </p:tavLst>
                                          </p:anim>
                                        </p:childTnLst>
                                      </p:cTn>
                                    </p:par>
                                  </p:childTnLst>
                                </p:cTn>
                              </p:par>
                              <p:par>
                                <p:cTn id="18" fill="hold">
                                  <p:stCondLst>
                                    <p:cond delay="800"/>
                                  </p:stCondLst>
                                  <p:childTnLst>
                                    <p:par>
                                      <p:cTn id="19" presetID="10" presetClass="entr" presetSubtype="0" fill="hold" grpId="0" nodeType="afterEffect">
                                        <p:stCondLst>
                                          <p:cond delay="0"/>
                                        </p:stCondLst>
                                        <p:childTnLst>
                                          <p:set>
                                            <p:cBhvr>
                                              <p:cTn id="20" dur="1" fill="hold">
                                                <p:stCondLst>
                                                  <p:cond delay="0"/>
                                                </p:stCondLst>
                                              </p:cTn>
                                              <p:tgtEl>
                                                <p:spTgt spid="120"/>
                                              </p:tgtEl>
                                              <p:attrNameLst>
                                                <p:attrName>style.visibility</p:attrName>
                                              </p:attrNameLst>
                                            </p:cBhvr>
                                            <p:to>
                                              <p:strVal val="visible"/>
                                            </p:to>
                                          </p:set>
                                          <p:anim calcmode="lin" valueType="num">
                                            <p:cBhvr additive="base">
                                              <p:cTn id="21" dur="500" fill="hold"/>
                                              <p:tgtEl>
                                                <p:spTgt spid="120"/>
                                              </p:tgtEl>
                                              <p:attrNameLst>
                                                <p:attrName>style.opacity</p:attrName>
                                              </p:attrNameLst>
                                            </p:cBhvr>
                                            <p:tavLst>
                                              <p:tav tm="0">
                                                <p:val>
                                                  <p:fltVal val="0"/>
                                                </p:val>
                                              </p:tav>
                                              <p:tav tm="100000">
                                                <p:val>
                                                  <p:fltVal val="1"/>
                                                </p:val>
                                              </p:tav>
                                            </p:tavLst>
                                          </p:anim>
                                        </p:childTnLst>
                                      </p:cTn>
                                    </p:par>
                                  </p:childTnLst>
                                </p:cTn>
                              </p:par>
                              <p:par>
                                <p:cTn id="22" fill="hold">
                                  <p:stCondLst>
                                    <p:cond delay="1200"/>
                                  </p:stCondLst>
                                  <p:childTnLst>
                                    <p:par>
                                      <p:cTn id="23" presetID="10" presetClass="entr" presetSubtype="0" fill="hold" grpId="0" nodeType="afterEffect">
                                        <p:stCondLst>
                                          <p:cond delay="0"/>
                                        </p:stCondLst>
                                        <p:childTnLst>
                                          <p:set>
                                            <p:cBhvr>
                                              <p:cTn id="24" dur="1" fill="hold">
                                                <p:stCondLst>
                                                  <p:cond delay="0"/>
                                                </p:stCondLst>
                                              </p:cTn>
                                              <p:tgtEl>
                                                <p:spTgt spid="130"/>
                                              </p:tgtEl>
                                              <p:attrNameLst>
                                                <p:attrName>style.visibility</p:attrName>
                                              </p:attrNameLst>
                                            </p:cBhvr>
                                            <p:to>
                                              <p:strVal val="visible"/>
                                            </p:to>
                                          </p:set>
                                          <p:anim calcmode="lin" valueType="num">
                                            <p:cBhvr additive="base">
                                              <p:cTn id="25" dur="500" fill="hold"/>
                                              <p:tgtEl>
                                                <p:spTgt spid="130"/>
                                              </p:tgtEl>
                                              <p:attrNameLst>
                                                <p:attrName>style.opacity</p:attrName>
                                              </p:attrNameLst>
                                            </p:cBhvr>
                                            <p:tavLst>
                                              <p:tav tm="0">
                                                <p:val>
                                                  <p:fltVal val="0"/>
                                                </p:val>
                                              </p:tav>
                                              <p:tav tm="100000">
                                                <p:val>
                                                  <p:fltVal val="1"/>
                                                </p:val>
                                              </p:tav>
                                            </p:tavLst>
                                          </p:anim>
                                        </p:childTnLst>
                                      </p:cTn>
                                    </p:par>
                                  </p:childTnLst>
                                </p:cTn>
                              </p:par>
                              <p:par>
                                <p:cTn id="26" fill="hold">
                                  <p:stCondLst>
                                    <p:cond delay="1600"/>
                                  </p:stCondLst>
                                  <p:childTnLst>
                                    <p:par>
                                      <p:cTn id="27" presetID="10" presetClass="entr" presetSubtype="0" fill="hold" grpId="0" nodeType="afterEffect">
                                        <p:stCondLst>
                                          <p:cond delay="0"/>
                                        </p:stCondLst>
                                        <p:childTnLst>
                                          <p:set>
                                            <p:cBhvr>
                                              <p:cTn id="28" dur="1" fill="hold">
                                                <p:stCondLst>
                                                  <p:cond delay="0"/>
                                                </p:stCondLst>
                                              </p:cTn>
                                              <p:tgtEl>
                                                <p:spTgt spid="140"/>
                                              </p:tgtEl>
                                              <p:attrNameLst>
                                                <p:attrName>style.visibility</p:attrName>
                                              </p:attrNameLst>
                                            </p:cBhvr>
                                            <p:to>
                                              <p:strVal val="visible"/>
                                            </p:to>
                                          </p:set>
                                          <p:anim calcmode="lin" valueType="num">
                                            <p:cBhvr additive="base">
                                              <p:cTn id="29" dur="500" fill="hold"/>
                                              <p:tgtEl>
                                                <p:spTgt spid="140"/>
                                              </p:tgtEl>
                                              <p:attrNameLst>
                                                <p:attrName>style.opacity</p:attrName>
                                              </p:attrNameLst>
                                            </p:cBhvr>
                                            <p:tavLst>
                                              <p:tav tm="0">
                                                <p:val>
                                                  <p:fltVal val="0"/>
                                                </p:val>
                                              </p:tav>
                                              <p:tav tm="100000">
                                                <p:val>
                                                  <p:fltVal val="1"/>
                                                </p:val>
                                              </p:tav>
                                            </p:tavLst>
                                          </p:anim>
                                        </p:childTnLst>
                                      </p:cTn>
                                    </p:par>
                                  </p:childTnLst>
                                </p:cTn>
                              </p:par>
                              <p:par>
                                <p:cTn id="30" fill="hold">
                                  <p:stCondLst>
                                    <p:cond delay="2000"/>
                                  </p:stCondLst>
                                  <p:childTnLst>
                                    <p:par>
                                      <p:cTn id="31" presetID="10" presetClass="entr" presetSubtype="0" fill="hold" grpId="0" nodeType="afterEffect">
                                        <p:stCondLst>
                                          <p:cond delay="0"/>
                                        </p:stCondLst>
                                        <p:childTnLst>
                                          <p:set>
                                            <p:cBhvr>
                                              <p:cTn id="32" dur="1" fill="hold">
                                                <p:stCondLst>
                                                  <p:cond delay="0"/>
                                                </p:stCondLst>
                                              </p:cTn>
                                              <p:tgtEl>
                                                <p:spTgt spid="150"/>
                                              </p:tgtEl>
                                              <p:attrNameLst>
                                                <p:attrName>style.visibility</p:attrName>
                                              </p:attrNameLst>
                                            </p:cBhvr>
                                            <p:to>
                                              <p:strVal val="visible"/>
                                            </p:to>
                                          </p:set>
                                          <p:anim calcmode="lin" valueType="num">
                                            <p:cBhvr additive="base">
                                              <p:cTn id="33" dur="500" fill="hold"/>
                                              <p:tgtEl>
                                                <p:spTgt spid="150"/>
                                              </p:tgtEl>
                                              <p:attrNameLst>
                                                <p:attrName>style.opacity</p:attrName>
                                              </p:attrNameLst>
                                            </p:cBhvr>
                                            <p:tavLst>
                                              <p:tav tm="0">
                                                <p:val>
                                                  <p:fltVal val="0"/>
                                                </p:val>
                                              </p:tav>
                                              <p:tav tm="100000">
                                                <p:val>
                                                  <p:fltVal val="1"/>
                                                </p:val>
                                              </p:tav>
                                            </p:tavLst>
                                          </p:anim>
                                        </p:childTnLst>
                                      </p:cTn>
                                    </p:pa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opLine"/>
          <p:cNvSpPr/>
          <p:nvPr/>
        </p:nvSpPr>
        <p:spPr>
          <a:xfrm>
            <a:off x="457200" y="320040"/>
            <a:ext cx="11274552" cy="0"/>
          </a:xfrm>
          <a:prstGeom prst="line">
            <a:avLst/>
          </a:prstGeom>
          <a:noFill/>
          <a:ln w="6350">
            <a:solidFill>
              <a:srgbClr val="D2D2D7"/>
            </a:solidFill>
            <a:prstDash val="solid"/>
          </a:ln>
        </p:spPr>
      </p:sp>
      <p:sp>
        <p:nvSpPr>
          <p:cNvPr id="3" name="HeaderL"/>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a:rPr>
              <a:t>CEHTA CAPITAL</a:t>
            </a:r>
          </a:p>
        </p:txBody>
      </p:sp>
      <p:sp>
        <p:nvSpPr>
          <p:cNvPr id="4" name="HeaderC"/>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a:rPr>
              <a:t>ASAMBLEA ORDINARIA · 27 DE MAYO, 2026</a:t>
            </a:r>
          </a:p>
        </p:txBody>
      </p:sp>
      <p:sp>
        <p:nvSpPr>
          <p:cNvPr id="5" name="HeaderR"/>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a:rPr>
              <a:t>10 — 18</a:t>
            </a:r>
          </a:p>
        </p:txBody>
      </p:sp>
      <p:sp>
        <p:nvSpPr>
          <p:cNvPr id="6" name="Kicker"/>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a:rPr>
              <a:t>FINANCIAL STATEMENTS · Art. 32 (1) RI</a:t>
            </a:r>
          </a:p>
        </p:txBody>
      </p:sp>
      <p:sp>
        <p:nvSpPr>
          <p:cNvPr id="7" name="Title"/>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a:rPr>
              <a:t>Resultados y Flujo de Efectivo</a:t>
            </a:r>
          </a:p>
        </p:txBody>
      </p:sp>
      <p:sp>
        <p:nvSpPr>
          <p:cNvPr id="8" name="Subtitle"/>
          <p:cNvSpPr/>
          <p:nvPr/>
        </p:nvSpPr>
        <p:spPr>
          <a:xfrm>
            <a:off x="457200" y="1691640"/>
            <a:ext cx="10972800" cy="274320"/>
          </a:xfrm>
          <a:prstGeom prst="rect">
            <a:avLst/>
          </a:prstGeom>
          <a:noFill/>
          <a:ln/>
        </p:spPr>
        <p:txBody>
          <a:bodyPr wrap="square" rtlCol="0" anchor="ctr"/>
          <a:lstStyle/>
          <a:p>
            <a:pPr marL="0" indent="0">
              <a:buNone/>
            </a:pPr>
            <a:r>
              <a:rPr lang="en-US" sz="1300" i="1" dirty="0">
                <a:solidFill>
                  <a:srgbClr val="424245"/>
                </a:solidFill>
                <a:latin typeface="Georgia"/>
              </a:rPr>
              <a:t>Por los períodos terminados al 31 de diciembre de 2025 y 2024 · M$</a:t>
            </a:r>
          </a:p>
        </p:txBody>
      </p:sp>
      <p:sp>
        <p:nvSpPr>
          <p:cNvPr id="20" name="ResT"/>
          <p:cNvSpPr/>
          <p:nvPr/>
        </p:nvSpPr>
        <p:spPr>
          <a:xfrm>
            <a:off x="457200" y="2103120"/>
            <a:ext cx="5395560" cy="274320"/>
          </a:xfrm>
          <a:prstGeom prst="rect">
            <a:avLst/>
          </a:prstGeom>
          <a:noFill/>
          <a:ln/>
        </p:spPr>
        <p:txBody>
          <a:bodyPr wrap="square" rtlCol="0" anchor="ctr"/>
          <a:lstStyle/>
          <a:p>
            <a:pPr marL="0" indent="0">
              <a:buNone/>
            </a:pPr>
            <a:r>
              <a:rPr lang="en-US" sz="1300" b="1" kern="0" spc="200" dirty="0">
                <a:solidFill>
                  <a:srgbClr val="823DBC"/>
                </a:solidFill>
                <a:latin typeface="Helvetica"/>
              </a:rPr>
              <a:t>ESTADO DE RESULTADOS</a:t>
            </a:r>
          </a:p>
        </p:txBody>
      </p:sp>
      <p:sp>
        <p:nvSpPr>
          <p:cNvPr id="21" name="ResBox"/>
          <p:cNvSpPr/>
          <p:nvPr/>
        </p:nvSpPr>
        <p:spPr>
          <a:xfrm>
            <a:off x="457200" y="2423160"/>
            <a:ext cx="5395560" cy="3886200"/>
          </a:xfrm>
          <a:prstGeom prst="rect">
            <a:avLst/>
          </a:prstGeom>
          <a:noFill/>
          <a:ln/>
        </p:spPr>
        <p:txBody>
          <a:bodyPr wrap="square" rtlCol="0" anchor="t"/>
          <a:lstStyle/>
          <a:p>
            <a:pPr marL="0" indent="0">
              <a:lnSpc>
                <a:spcPts val="2300"/>
              </a:lnSpc>
              <a:buNone/>
            </a:pPr>
            <a:r>
              <a:rPr lang="en-US" sz="1100" b="1" dirty="0">
                <a:solidFill>
                  <a:srgbClr val="1D1D1F"/>
                </a:solidFill>
                <a:latin typeface="Helvetica"/>
              </a:rPr>
              <a:t>Ingresos			2025		2024</a:t>
            </a:r>
          </a:p>
          <a:p>
            <a:pPr marL="0" indent="0">
              <a:lnSpc>
                <a:spcPts val="2100"/>
              </a:lnSpc>
              <a:buNone/>
            </a:pPr>
            <a:r>
              <a:rPr lang="en-US" sz="1050" dirty="0">
                <a:solidFill>
                  <a:srgbClr val="424245"/>
                </a:solidFill>
                <a:latin typeface="Helvetica"/>
              </a:rPr>
              <a:t>Intereses y reajustes		1.022		201</a:t>
            </a:r>
          </a:p>
          <a:p>
            <a:pPr marL="0" indent="0">
              <a:lnSpc>
                <a:spcPts val="2100"/>
              </a:lnSpc>
              <a:buNone/>
            </a:pPr>
            <a:r>
              <a:rPr lang="en-US" sz="1050" dirty="0">
                <a:solidFill>
                  <a:srgbClr val="424245"/>
                </a:solidFill>
                <a:latin typeface="Helvetica"/>
              </a:rPr>
              <a:t>Resultado inv. método particip.	(574.130)	(142.939)</a:t>
            </a:r>
          </a:p>
          <a:p>
            <a:pPr marL="0" indent="0">
              <a:lnSpc>
                <a:spcPts val="2300"/>
              </a:lnSpc>
              <a:buNone/>
            </a:pPr>
            <a:r>
              <a:rPr lang="en-US" sz="1100" b="1" dirty="0">
                <a:solidFill>
                  <a:srgbClr val="1D1D1F"/>
                </a:solidFill>
                <a:latin typeface="Helvetica"/>
              </a:rPr>
              <a:t>Total ingresos netos		(573.108)	(142.738)</a:t>
            </a:r>
          </a:p>
          <a:p>
            <a:pPr marL="0" indent="0">
              <a:lnSpc>
                <a:spcPts val="2300"/>
              </a:lnSpc>
              <a:buNone/>
            </a:pPr>
            <a:r>
              <a:rPr lang="en-US" sz="1100" b="1" dirty="0">
                <a:solidFill>
                  <a:srgbClr val="1D1D1F"/>
                </a:solidFill>
                <a:latin typeface="Helvetica"/>
              </a:rPr>
              <a:t>Gastos</a:t>
            </a:r>
          </a:p>
          <a:p>
            <a:pPr marL="0" indent="0">
              <a:lnSpc>
                <a:spcPts val="2100"/>
              </a:lnSpc>
              <a:buNone/>
            </a:pPr>
            <a:r>
              <a:rPr lang="en-US" sz="1050" dirty="0">
                <a:solidFill>
                  <a:srgbClr val="424245"/>
                </a:solidFill>
                <a:latin typeface="Helvetica"/>
              </a:rPr>
              <a:t>Comisión administración		(516.309)	(163.643)</a:t>
            </a:r>
          </a:p>
          <a:p>
            <a:pPr marL="0" indent="0">
              <a:lnSpc>
                <a:spcPts val="2100"/>
              </a:lnSpc>
              <a:buNone/>
            </a:pPr>
            <a:r>
              <a:rPr lang="en-US" sz="1050" dirty="0">
                <a:solidFill>
                  <a:srgbClr val="424245"/>
                </a:solidFill>
                <a:latin typeface="Helvetica"/>
              </a:rPr>
              <a:t>Impuesto no recuperable		(129.191)	—</a:t>
            </a:r>
          </a:p>
          <a:p>
            <a:pPr marL="0" indent="0">
              <a:lnSpc>
                <a:spcPts val="2100"/>
              </a:lnSpc>
              <a:buNone/>
            </a:pPr>
            <a:r>
              <a:rPr lang="en-US" sz="1050" dirty="0">
                <a:solidFill>
                  <a:srgbClr val="424245"/>
                </a:solidFill>
                <a:latin typeface="Helvetica"/>
              </a:rPr>
              <a:t>Gastos habituales AFIS		(20.107)	—</a:t>
            </a:r>
          </a:p>
          <a:p>
            <a:pPr marL="0" indent="0">
              <a:lnSpc>
                <a:spcPts val="2300"/>
              </a:lnSpc>
              <a:buNone/>
            </a:pPr>
            <a:r>
              <a:rPr lang="en-US" sz="1100" b="1" dirty="0">
                <a:solidFill>
                  <a:srgbClr val="1D1D1F"/>
                </a:solidFill>
                <a:latin typeface="Helvetica"/>
              </a:rPr>
              <a:t>Total gastos			(665.607)	(163.643)</a:t>
            </a:r>
          </a:p>
          <a:p>
            <a:pPr marL="0" indent="0">
              <a:lnSpc>
                <a:spcPts val="2300"/>
              </a:lnSpc>
              <a:buNone/>
            </a:pPr>
            <a:r>
              <a:rPr lang="en-US" sz="1100" b="1" dirty="0">
                <a:solidFill>
                  <a:srgbClr val="1D1D1F"/>
                </a:solidFill>
                <a:latin typeface="Helvetica"/>
              </a:rPr>
              <a:t>Pérdida de operación		(1.238.715)	(306.381)</a:t>
            </a:r>
          </a:p>
          <a:p>
            <a:pPr marL="0" indent="0">
              <a:lnSpc>
                <a:spcPts val="2100"/>
              </a:lnSpc>
              <a:buNone/>
            </a:pPr>
            <a:r>
              <a:rPr lang="en-US" sz="1050" dirty="0">
                <a:solidFill>
                  <a:srgbClr val="424245"/>
                </a:solidFill>
                <a:latin typeface="Helvetica"/>
              </a:rPr>
              <a:t>Costos financieros (CORFO)	(68.941)		(12.024)</a:t>
            </a:r>
          </a:p>
          <a:p>
            <a:pPr marL="0" indent="0">
              <a:lnSpc>
                <a:spcPts val="2500"/>
              </a:lnSpc>
              <a:buNone/>
            </a:pPr>
            <a:r>
              <a:rPr lang="en-US" sz="1200" b="1" dirty="0">
                <a:solidFill>
                  <a:srgbClr val="6B2DA8"/>
                </a:solidFill>
                <a:latin typeface="Helvetica"/>
              </a:rPr>
              <a:t>RESULTADO EJERCICIO	(1.307.656)	(318.405)</a:t>
            </a:r>
          </a:p>
        </p:txBody>
      </p:sp>
      <p:sp>
        <p:nvSpPr>
          <p:cNvPr id="22" name="FluT"/>
          <p:cNvSpPr/>
          <p:nvPr/>
        </p:nvSpPr>
        <p:spPr>
          <a:xfrm>
            <a:off x="6336000" y="2103120"/>
            <a:ext cx="5395560" cy="274320"/>
          </a:xfrm>
          <a:prstGeom prst="rect">
            <a:avLst/>
          </a:prstGeom>
          <a:noFill/>
          <a:ln/>
        </p:spPr>
        <p:txBody>
          <a:bodyPr wrap="square" rtlCol="0" anchor="ctr"/>
          <a:lstStyle/>
          <a:p>
            <a:pPr marL="0" indent="0">
              <a:buNone/>
            </a:pPr>
            <a:r>
              <a:rPr lang="en-US" sz="1300" b="1" kern="0" spc="200" dirty="0">
                <a:solidFill>
                  <a:srgbClr val="823DBC"/>
                </a:solidFill>
                <a:latin typeface="Helvetica"/>
              </a:rPr>
              <a:t>FLUJO DE EFECTIVO</a:t>
            </a:r>
          </a:p>
        </p:txBody>
      </p:sp>
      <p:sp>
        <p:nvSpPr>
          <p:cNvPr id="23" name="FluBox"/>
          <p:cNvSpPr/>
          <p:nvPr/>
        </p:nvSpPr>
        <p:spPr>
          <a:xfrm>
            <a:off x="6336000" y="2423160"/>
            <a:ext cx="5395560" cy="3886200"/>
          </a:xfrm>
          <a:prstGeom prst="rect">
            <a:avLst/>
          </a:prstGeom>
          <a:noFill/>
          <a:ln/>
        </p:spPr>
        <p:txBody>
          <a:bodyPr wrap="square" rtlCol="0" anchor="t"/>
          <a:lstStyle/>
          <a:p>
            <a:pPr marL="0" indent="0">
              <a:lnSpc>
                <a:spcPts val="2300"/>
              </a:lnSpc>
              <a:buNone/>
            </a:pPr>
            <a:r>
              <a:rPr lang="en-US" sz="1100" b="1" dirty="0">
                <a:solidFill>
                  <a:srgbClr val="1D1D1F"/>
                </a:solidFill>
                <a:latin typeface="Helvetica"/>
              </a:rPr>
              <a:t>Actividades de operación	2025		2024</a:t>
            </a:r>
          </a:p>
          <a:p>
            <a:pPr marL="0" indent="0">
              <a:lnSpc>
                <a:spcPts val="2100"/>
              </a:lnSpc>
              <a:buNone/>
            </a:pPr>
            <a:r>
              <a:rPr lang="en-US" sz="1050" dirty="0">
                <a:solidFill>
                  <a:srgbClr val="424245"/>
                </a:solidFill>
                <a:latin typeface="Helvetica"/>
              </a:rPr>
              <a:t>Pagos a proveedores		(398.464)	(194.735)</a:t>
            </a:r>
          </a:p>
          <a:p>
            <a:pPr marL="0" indent="0">
              <a:lnSpc>
                <a:spcPts val="2300"/>
              </a:lnSpc>
              <a:buNone/>
            </a:pPr>
            <a:r>
              <a:rPr lang="en-US" sz="1100" b="1" dirty="0">
                <a:solidFill>
                  <a:srgbClr val="1D1D1F"/>
                </a:solidFill>
                <a:latin typeface="Helvetica"/>
              </a:rPr>
              <a:t>Actividades de inversión</a:t>
            </a:r>
          </a:p>
          <a:p>
            <a:pPr marL="0" indent="0">
              <a:lnSpc>
                <a:spcPts val="2100"/>
              </a:lnSpc>
              <a:buNone/>
            </a:pPr>
            <a:r>
              <a:rPr lang="en-US" sz="1050" dirty="0">
                <a:solidFill>
                  <a:srgbClr val="424245"/>
                </a:solidFill>
                <a:latin typeface="Helvetica"/>
              </a:rPr>
              <a:t>Aportes a subsidiarias		(1.763.053)	(426.943)</a:t>
            </a:r>
          </a:p>
          <a:p>
            <a:pPr marL="0" indent="0">
              <a:lnSpc>
                <a:spcPts val="2100"/>
              </a:lnSpc>
              <a:buNone/>
            </a:pPr>
            <a:r>
              <a:rPr lang="en-US" sz="1050" dirty="0">
                <a:solidFill>
                  <a:srgbClr val="424245"/>
                </a:solidFill>
                <a:latin typeface="Helvetica"/>
              </a:rPr>
              <a:t>Otros activos financieros		1.022		201</a:t>
            </a:r>
          </a:p>
          <a:p>
            <a:pPr marL="0" indent="0">
              <a:lnSpc>
                <a:spcPts val="2300"/>
              </a:lnSpc>
              <a:buNone/>
            </a:pPr>
            <a:r>
              <a:rPr lang="en-US" sz="1100" b="1" dirty="0">
                <a:solidFill>
                  <a:srgbClr val="1D1D1F"/>
                </a:solidFill>
                <a:latin typeface="Helvetica"/>
              </a:rPr>
              <a:t>Total inversión			(1.762.031)	(426.742)</a:t>
            </a:r>
          </a:p>
          <a:p>
            <a:pPr marL="0" indent="0">
              <a:lnSpc>
                <a:spcPts val="2300"/>
              </a:lnSpc>
              <a:buNone/>
            </a:pPr>
            <a:r>
              <a:rPr lang="en-US" sz="1100" b="1" dirty="0">
                <a:solidFill>
                  <a:srgbClr val="1D1D1F"/>
                </a:solidFill>
                <a:latin typeface="Helvetica"/>
              </a:rPr>
              <a:t>Actividades de financiación</a:t>
            </a:r>
          </a:p>
          <a:p>
            <a:pPr marL="0" indent="0">
              <a:lnSpc>
                <a:spcPts val="2100"/>
              </a:lnSpc>
              <a:buNone/>
            </a:pPr>
            <a:r>
              <a:rPr lang="en-US" sz="1050" dirty="0">
                <a:solidFill>
                  <a:srgbClr val="424245"/>
                </a:solidFill>
                <a:latin typeface="Helvetica"/>
              </a:rPr>
              <a:t>Préstamos a rel. (neto)		(241.886)	(130.000)</a:t>
            </a:r>
          </a:p>
          <a:p>
            <a:pPr marL="0" indent="0">
              <a:lnSpc>
                <a:spcPts val="2100"/>
              </a:lnSpc>
              <a:buNone/>
            </a:pPr>
            <a:r>
              <a:rPr lang="en-US" sz="1050" dirty="0">
                <a:solidFill>
                  <a:srgbClr val="424245"/>
                </a:solidFill>
                <a:latin typeface="Helvetica"/>
              </a:rPr>
              <a:t>Emisión de cuotas (aportes)	553.017		506.526</a:t>
            </a:r>
          </a:p>
          <a:p>
            <a:pPr marL="0" indent="0">
              <a:lnSpc>
                <a:spcPts val="2100"/>
              </a:lnSpc>
              <a:buNone/>
            </a:pPr>
            <a:r>
              <a:rPr lang="en-US" sz="1050" dirty="0">
                <a:solidFill>
                  <a:srgbClr val="424245"/>
                </a:solidFill>
                <a:latin typeface="Helvetica"/>
              </a:rPr>
              <a:t>Línea de crédito CORFO		1.723.627	426.252</a:t>
            </a:r>
          </a:p>
          <a:p>
            <a:pPr marL="0" indent="0">
              <a:lnSpc>
                <a:spcPts val="2300"/>
              </a:lnSpc>
              <a:buNone/>
            </a:pPr>
            <a:r>
              <a:rPr lang="en-US" sz="1100" b="1" dirty="0">
                <a:solidFill>
                  <a:srgbClr val="1D1D1F"/>
                </a:solidFill>
                <a:latin typeface="Helvetica"/>
              </a:rPr>
              <a:t>Total financiación			2.034.758	802.778</a:t>
            </a:r>
          </a:p>
          <a:p>
            <a:pPr marL="0" indent="0">
              <a:lnSpc>
                <a:spcPts val="2500"/>
              </a:lnSpc>
              <a:buNone/>
            </a:pPr>
            <a:r>
              <a:rPr lang="en-US" sz="1200" b="1" dirty="0">
                <a:solidFill>
                  <a:srgbClr val="6B2DA8"/>
                </a:solidFill>
                <a:latin typeface="Helvetica"/>
              </a:rPr>
              <a:t>VARIACIÓN NETA EFECTIVO	(125.737)	181.301</a:t>
            </a:r>
          </a:p>
          <a:p>
            <a:pPr marL="0" indent="0">
              <a:lnSpc>
                <a:spcPts val="2100"/>
              </a:lnSpc>
              <a:buNone/>
            </a:pPr>
            <a:r>
              <a:rPr lang="en-US" sz="1050" dirty="0">
                <a:solidFill>
                  <a:srgbClr val="86868B"/>
                </a:solidFill>
                <a:latin typeface="Helvetica"/>
              </a:rPr>
              <a:t>Efectivo final del período		55.564		181.301</a:t>
            </a:r>
          </a:p>
        </p:txBody>
      </p:sp>
      <p:sp>
        <p:nvSpPr>
          <p:cNvPr id="100" name="BotLine"/>
          <p:cNvSpPr/>
          <p:nvPr/>
        </p:nvSpPr>
        <p:spPr>
          <a:xfrm>
            <a:off x="457200" y="6492240"/>
            <a:ext cx="11274552" cy="0"/>
          </a:xfrm>
          <a:prstGeom prst="line">
            <a:avLst/>
          </a:prstGeom>
          <a:noFill/>
          <a:ln w="6350">
            <a:solidFill>
              <a:srgbClr val="D2D2D7"/>
            </a:solidFill>
            <a:prstDash val="solid"/>
          </a:ln>
        </p:spPr>
      </p:sp>
      <p:sp>
        <p:nvSpPr>
          <p:cNvPr id="101" name="FooterL"/>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a:rPr>
              <a:t>FIP CEHTA ESG · RUT 77.751.766-K</a:t>
            </a:r>
          </a:p>
        </p:txBody>
      </p:sp>
      <p:sp>
        <p:nvSpPr>
          <p:cNvPr id="102" name="FooterR"/>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a:rPr>
              <a:t>EEFF auditados · Nattero Auditores · 30 abr 2026</a:t>
            </a: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opLine"/>
          <p:cNvSpPr/>
          <p:nvPr/>
        </p:nvSpPr>
        <p:spPr>
          <a:xfrm>
            <a:off x="457200" y="320040"/>
            <a:ext cx="11274552" cy="0"/>
          </a:xfrm>
          <a:prstGeom prst="line">
            <a:avLst/>
          </a:prstGeom>
          <a:noFill/>
          <a:ln w="6350">
            <a:solidFill>
              <a:srgbClr val="D2D2D7"/>
            </a:solidFill>
            <a:prstDash val="solid"/>
          </a:ln>
        </p:spPr>
      </p:sp>
      <p:sp>
        <p:nvSpPr>
          <p:cNvPr id="3" name="HeaderL"/>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a:rPr>
              <a:t>CEHTA CAPITAL</a:t>
            </a:r>
          </a:p>
        </p:txBody>
      </p:sp>
      <p:sp>
        <p:nvSpPr>
          <p:cNvPr id="4" name="HeaderC"/>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a:rPr>
              <a:t>ASAMBLEA ORDINARIA · 27 DE MAYO, 2026</a:t>
            </a:r>
          </a:p>
        </p:txBody>
      </p:sp>
      <p:sp>
        <p:nvSpPr>
          <p:cNvPr id="5" name="HeaderR"/>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a:rPr>
              <a:t>11 — 18</a:t>
            </a:r>
          </a:p>
        </p:txBody>
      </p:sp>
      <p:sp>
        <p:nvSpPr>
          <p:cNvPr id="6" name="Kicker"/>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a:rPr>
              <a:t>FINANCIAL STATEMENTS · Nota 8 + Patrimonio</a:t>
            </a:r>
          </a:p>
        </p:txBody>
      </p:sp>
      <p:sp>
        <p:nvSpPr>
          <p:cNvPr id="7" name="Title"/>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a:rPr>
              <a:t>Cartera y Patrimonio</a:t>
            </a:r>
          </a:p>
        </p:txBody>
      </p:sp>
      <p:sp>
        <p:nvSpPr>
          <p:cNvPr id="8" name="Subtitle"/>
          <p:cNvSpPr/>
          <p:nvPr/>
        </p:nvSpPr>
        <p:spPr>
          <a:xfrm>
            <a:off x="457200" y="1691640"/>
            <a:ext cx="10972800" cy="274320"/>
          </a:xfrm>
          <a:prstGeom prst="rect">
            <a:avLst/>
          </a:prstGeom>
          <a:noFill/>
          <a:ln/>
        </p:spPr>
        <p:txBody>
          <a:bodyPr wrap="square" rtlCol="0" anchor="ctr"/>
          <a:lstStyle/>
          <a:p>
            <a:pPr marL="0" indent="0">
              <a:buNone/>
            </a:pPr>
            <a:r>
              <a:rPr lang="en-US" sz="1300" i="1" dirty="0">
                <a:solidFill>
                  <a:srgbClr val="424245"/>
                </a:solidFill>
                <a:latin typeface="Georgia"/>
              </a:rPr>
              <a:t>Inversiones método de la participación y composición de aportes · M$</a:t>
            </a:r>
          </a:p>
        </p:txBody>
      </p:sp>
      <p:sp>
        <p:nvSpPr>
          <p:cNvPr id="20" name="PortT"/>
          <p:cNvSpPr/>
          <p:nvPr/>
        </p:nvSpPr>
        <p:spPr>
          <a:xfrm>
            <a:off x="457200" y="2103120"/>
            <a:ext cx="7315200" cy="274320"/>
          </a:xfrm>
          <a:prstGeom prst="rect">
            <a:avLst/>
          </a:prstGeom>
          <a:noFill/>
          <a:ln/>
        </p:spPr>
        <p:txBody>
          <a:bodyPr wrap="square" rtlCol="0" anchor="ctr"/>
          <a:lstStyle/>
          <a:p>
            <a:pPr marL="0" indent="0">
              <a:buNone/>
            </a:pPr>
            <a:r>
              <a:rPr lang="en-US" sz="1300" b="1" kern="0" spc="200" dirty="0">
                <a:solidFill>
                  <a:srgbClr val="823DBC"/>
                </a:solidFill>
                <a:latin typeface="Helvetica"/>
              </a:rPr>
              <a:t>INVERSIONES POR MÉTODO DE LA PARTICIPACIÓN · NOTA 8</a:t>
            </a:r>
          </a:p>
        </p:txBody>
      </p:sp>
      <p:sp>
        <p:nvSpPr>
          <p:cNvPr id="30" name="PC0Bg"/>
          <p:cNvSpPr/>
          <p:nvPr/>
        </p:nvSpPr>
        <p:spPr>
          <a:xfrm>
            <a:off x="457200" y="2423160"/>
            <a:ext cx="2400840" cy="1600000"/>
          </a:xfrm>
          <a:prstGeom prst="roundRect">
            <a:avLst>
              <a:gd name="adj" fmla="val 6000"/>
            </a:avLst>
          </a:prstGeom>
          <a:solidFill>
            <a:srgbClr val="F2EAFB"/>
          </a:solidFill>
          <a:ln>
            <a:noFill/>
          </a:ln>
        </p:spPr>
        <p:txBody>
          <a:bodyPr wrap="square" rtlCol="0" anchor="ctr"/>
          <a:lstStyle/>
          <a:p>
            <a:pPr>
              <a:buNone/>
            </a:pPr>
            <a:endParaRPr lang="en-US"/>
          </a:p>
        </p:txBody>
      </p:sp>
      <p:sp>
        <p:nvSpPr>
          <p:cNvPr id="31" name="PC0Name"/>
          <p:cNvSpPr/>
          <p:nvPr/>
        </p:nvSpPr>
        <p:spPr>
          <a:xfrm>
            <a:off x="594360" y="2560320"/>
            <a:ext cx="2126520" cy="320040"/>
          </a:xfrm>
          <a:prstGeom prst="rect">
            <a:avLst/>
          </a:prstGeom>
          <a:noFill/>
          <a:ln/>
        </p:spPr>
        <p:txBody>
          <a:bodyPr wrap="square" rtlCol="0" anchor="t"/>
          <a:lstStyle/>
          <a:p>
            <a:pPr marL="0" indent="0">
              <a:buNone/>
            </a:pPr>
            <a:r>
              <a:rPr lang="en-US" sz="1100" b="1" dirty="0">
                <a:solidFill>
                  <a:srgbClr val="1D1D1F"/>
                </a:solidFill>
                <a:latin typeface="Helvetica"/>
              </a:rPr>
              <a:t>Climate Smart Leasing</a:t>
            </a:r>
          </a:p>
        </p:txBody>
      </p:sp>
      <p:sp>
        <p:nvSpPr>
          <p:cNvPr id="32" name="PC0Pct"/>
          <p:cNvSpPr/>
          <p:nvPr/>
        </p:nvSpPr>
        <p:spPr>
          <a:xfrm>
            <a:off x="594360" y="2880360"/>
            <a:ext cx="2126520" cy="200000"/>
          </a:xfrm>
          <a:prstGeom prst="rect">
            <a:avLst/>
          </a:prstGeom>
          <a:noFill/>
          <a:ln/>
        </p:spPr>
        <p:txBody>
          <a:bodyPr wrap="square" rtlCol="0" anchor="t"/>
          <a:lstStyle/>
          <a:p>
            <a:pPr marL="0" indent="0">
              <a:buNone/>
            </a:pPr>
            <a:r>
              <a:rPr lang="en-US" sz="850" kern="0" spc="200" dirty="0">
                <a:solidFill>
                  <a:srgbClr val="86868B"/>
                </a:solidFill>
                <a:latin typeface="Helvetica"/>
              </a:rPr>
              <a:t>PARTICIPACIÓN 85%</a:t>
            </a:r>
          </a:p>
        </p:txBody>
      </p:sp>
      <p:sp>
        <p:nvSpPr>
          <p:cNvPr id="33" name="PC0Val"/>
          <p:cNvSpPr/>
          <p:nvPr/>
        </p:nvSpPr>
        <p:spPr>
          <a:xfrm>
            <a:off x="594360" y="3108960"/>
            <a:ext cx="2126520" cy="450000"/>
          </a:xfrm>
          <a:prstGeom prst="rect">
            <a:avLst/>
          </a:prstGeom>
          <a:noFill/>
          <a:ln/>
        </p:spPr>
        <p:txBody>
          <a:bodyPr wrap="square" rtlCol="0" anchor="t"/>
          <a:lstStyle/>
          <a:p>
            <a:pPr marL="0" indent="0">
              <a:buNone/>
            </a:pPr>
            <a:r>
              <a:rPr lang="en-US" sz="2200" b="1" dirty="0">
                <a:solidFill>
                  <a:srgbClr val="6B2DA8"/>
                </a:solidFill>
                <a:latin typeface="Helvetica"/>
              </a:rPr>
              <a:t>550.042</a:t>
            </a:r>
          </a:p>
          <a:p>
            <a:pPr marL="0" indent="0">
              <a:buNone/>
            </a:pPr>
            <a:r>
              <a:rPr lang="en-US" sz="800" dirty="0">
                <a:solidFill>
                  <a:srgbClr val="86868B"/>
                </a:solidFill>
                <a:latin typeface="Helvetica"/>
              </a:rPr>
              <a:t>Valor libro M$</a:t>
            </a:r>
          </a:p>
        </p:txBody>
      </p:sp>
      <p:sp>
        <p:nvSpPr>
          <p:cNvPr id="34" name="PC0Eff"/>
          <p:cNvSpPr/>
          <p:nvPr/>
        </p:nvSpPr>
        <p:spPr>
          <a:xfrm>
            <a:off x="594360" y="3703320"/>
            <a:ext cx="2126520" cy="240000"/>
          </a:xfrm>
          <a:prstGeom prst="rect">
            <a:avLst/>
          </a:prstGeom>
          <a:noFill/>
          <a:ln/>
        </p:spPr>
        <p:txBody>
          <a:bodyPr wrap="square" rtlCol="0" anchor="t"/>
          <a:lstStyle/>
          <a:p>
            <a:pPr marL="0" indent="0">
              <a:buNone/>
            </a:pPr>
            <a:r>
              <a:rPr lang="en-US" sz="900" dirty="0">
                <a:solidFill>
                  <a:srgbClr val="424245"/>
                </a:solidFill>
                <a:latin typeface="Helvetica"/>
              </a:rPr>
              <a:t xml:space="preserve">Efecto resultado: </a:t>
            </a:r>
            <a:r>
              <a:rPr lang="en-US" sz="900" b="1" dirty="0">
                <a:solidFill>
                  <a:srgbClr val="1D1D1F"/>
                </a:solidFill>
                <a:latin typeface="Helvetica"/>
              </a:rPr>
              <a:t>(134.928)</a:t>
            </a:r>
          </a:p>
        </p:txBody>
      </p:sp>
      <p:sp>
        <p:nvSpPr>
          <p:cNvPr id="40" name="PC1Bg"/>
          <p:cNvSpPr/>
          <p:nvPr/>
        </p:nvSpPr>
        <p:spPr>
          <a:xfrm>
            <a:off x="2888520" y="2423160"/>
            <a:ext cx="2400840" cy="1600000"/>
          </a:xfrm>
          <a:prstGeom prst="roundRect">
            <a:avLst>
              <a:gd name="adj" fmla="val 6000"/>
            </a:avLst>
          </a:prstGeom>
          <a:solidFill>
            <a:srgbClr val="F2EAFB"/>
          </a:solidFill>
          <a:ln>
            <a:noFill/>
          </a:ln>
        </p:spPr>
        <p:txBody>
          <a:bodyPr wrap="square" rtlCol="0" anchor="ctr"/>
          <a:lstStyle/>
          <a:p>
            <a:pPr>
              <a:buNone/>
            </a:pPr>
            <a:endParaRPr lang="en-US"/>
          </a:p>
        </p:txBody>
      </p:sp>
      <p:sp>
        <p:nvSpPr>
          <p:cNvPr id="41" name="PC1Name"/>
          <p:cNvSpPr/>
          <p:nvPr/>
        </p:nvSpPr>
        <p:spPr>
          <a:xfrm>
            <a:off x="3025680" y="2560320"/>
            <a:ext cx="2126520" cy="320040"/>
          </a:xfrm>
          <a:prstGeom prst="rect">
            <a:avLst/>
          </a:prstGeom>
          <a:noFill/>
          <a:ln/>
        </p:spPr>
        <p:txBody>
          <a:bodyPr wrap="square" rtlCol="0" anchor="t"/>
          <a:lstStyle/>
          <a:p>
            <a:pPr marL="0" indent="0">
              <a:buNone/>
            </a:pPr>
            <a:r>
              <a:rPr lang="en-US" sz="1100" b="1" dirty="0">
                <a:solidFill>
                  <a:srgbClr val="1D1D1F"/>
                </a:solidFill>
                <a:latin typeface="Helvetica"/>
              </a:rPr>
              <a:t>Rho Generación</a:t>
            </a:r>
          </a:p>
        </p:txBody>
      </p:sp>
      <p:sp>
        <p:nvSpPr>
          <p:cNvPr id="42" name="PC1Pct"/>
          <p:cNvSpPr/>
          <p:nvPr/>
        </p:nvSpPr>
        <p:spPr>
          <a:xfrm>
            <a:off x="3025680" y="2880360"/>
            <a:ext cx="2126520" cy="200000"/>
          </a:xfrm>
          <a:prstGeom prst="rect">
            <a:avLst/>
          </a:prstGeom>
          <a:noFill/>
          <a:ln/>
        </p:spPr>
        <p:txBody>
          <a:bodyPr wrap="square" rtlCol="0" anchor="t"/>
          <a:lstStyle/>
          <a:p>
            <a:pPr marL="0" indent="0">
              <a:buNone/>
            </a:pPr>
            <a:r>
              <a:rPr lang="en-US" sz="850" kern="0" spc="200" dirty="0">
                <a:solidFill>
                  <a:srgbClr val="86868B"/>
                </a:solidFill>
                <a:latin typeface="Helvetica"/>
              </a:rPr>
              <a:t>PARTICIPACIÓN 85%</a:t>
            </a:r>
          </a:p>
        </p:txBody>
      </p:sp>
      <p:sp>
        <p:nvSpPr>
          <p:cNvPr id="43" name="PC1Val"/>
          <p:cNvSpPr/>
          <p:nvPr/>
        </p:nvSpPr>
        <p:spPr>
          <a:xfrm>
            <a:off x="3025680" y="3108960"/>
            <a:ext cx="2126520" cy="450000"/>
          </a:xfrm>
          <a:prstGeom prst="rect">
            <a:avLst/>
          </a:prstGeom>
          <a:noFill/>
          <a:ln/>
        </p:spPr>
        <p:txBody>
          <a:bodyPr wrap="square" rtlCol="0" anchor="t"/>
          <a:lstStyle/>
          <a:p>
            <a:pPr marL="0" indent="0">
              <a:buNone/>
            </a:pPr>
            <a:r>
              <a:rPr lang="en-US" sz="2200" b="1" dirty="0">
                <a:solidFill>
                  <a:srgbClr val="6B2DA8"/>
                </a:solidFill>
                <a:latin typeface="Helvetica"/>
              </a:rPr>
              <a:t>542.169</a:t>
            </a:r>
          </a:p>
          <a:p>
            <a:pPr marL="0" indent="0">
              <a:buNone/>
            </a:pPr>
            <a:r>
              <a:rPr lang="en-US" sz="800" dirty="0">
                <a:solidFill>
                  <a:srgbClr val="86868B"/>
                </a:solidFill>
                <a:latin typeface="Helvetica"/>
              </a:rPr>
              <a:t>Valor libro M$</a:t>
            </a:r>
          </a:p>
        </p:txBody>
      </p:sp>
      <p:sp>
        <p:nvSpPr>
          <p:cNvPr id="44" name="PC1Eff"/>
          <p:cNvSpPr/>
          <p:nvPr/>
        </p:nvSpPr>
        <p:spPr>
          <a:xfrm>
            <a:off x="3025680" y="3703320"/>
            <a:ext cx="2126520" cy="240000"/>
          </a:xfrm>
          <a:prstGeom prst="rect">
            <a:avLst/>
          </a:prstGeom>
          <a:noFill/>
          <a:ln/>
        </p:spPr>
        <p:txBody>
          <a:bodyPr wrap="square" rtlCol="0" anchor="t"/>
          <a:lstStyle/>
          <a:p>
            <a:pPr marL="0" indent="0">
              <a:buNone/>
            </a:pPr>
            <a:r>
              <a:rPr lang="en-US" sz="900" dirty="0">
                <a:solidFill>
                  <a:srgbClr val="424245"/>
                </a:solidFill>
                <a:latin typeface="Helvetica"/>
              </a:rPr>
              <a:t xml:space="preserve">Efecto resultado: </a:t>
            </a:r>
            <a:r>
              <a:rPr lang="en-US" sz="900" b="1" dirty="0">
                <a:solidFill>
                  <a:srgbClr val="1D1D1F"/>
                </a:solidFill>
                <a:latin typeface="Helvetica"/>
              </a:rPr>
              <a:t>(257.203)</a:t>
            </a:r>
          </a:p>
        </p:txBody>
      </p:sp>
      <p:sp>
        <p:nvSpPr>
          <p:cNvPr id="50" name="PC2Bg"/>
          <p:cNvSpPr/>
          <p:nvPr/>
        </p:nvSpPr>
        <p:spPr>
          <a:xfrm>
            <a:off x="5319840" y="2423160"/>
            <a:ext cx="2400840" cy="1600000"/>
          </a:xfrm>
          <a:prstGeom prst="roundRect">
            <a:avLst>
              <a:gd name="adj" fmla="val 6000"/>
            </a:avLst>
          </a:prstGeom>
          <a:solidFill>
            <a:srgbClr val="F2EAFB"/>
          </a:solidFill>
          <a:ln>
            <a:noFill/>
          </a:ln>
        </p:spPr>
        <p:txBody>
          <a:bodyPr wrap="square" rtlCol="0" anchor="ctr"/>
          <a:lstStyle/>
          <a:p>
            <a:pPr>
              <a:buNone/>
            </a:pPr>
            <a:endParaRPr lang="en-US"/>
          </a:p>
        </p:txBody>
      </p:sp>
      <p:sp>
        <p:nvSpPr>
          <p:cNvPr id="51" name="PC2Name"/>
          <p:cNvSpPr/>
          <p:nvPr/>
        </p:nvSpPr>
        <p:spPr>
          <a:xfrm>
            <a:off x="5457000" y="2560320"/>
            <a:ext cx="2126520" cy="320040"/>
          </a:xfrm>
          <a:prstGeom prst="rect">
            <a:avLst/>
          </a:prstGeom>
          <a:noFill/>
          <a:ln/>
        </p:spPr>
        <p:txBody>
          <a:bodyPr wrap="square" rtlCol="0" anchor="t"/>
          <a:lstStyle/>
          <a:p>
            <a:pPr marL="0" indent="0">
              <a:buNone/>
            </a:pPr>
            <a:r>
              <a:rPr lang="en-US" sz="1100" b="1" dirty="0">
                <a:solidFill>
                  <a:srgbClr val="1D1D1F"/>
                </a:solidFill>
                <a:latin typeface="Helvetica"/>
              </a:rPr>
              <a:t>DTE Consulting &amp; Dev.</a:t>
            </a:r>
          </a:p>
        </p:txBody>
      </p:sp>
      <p:sp>
        <p:nvSpPr>
          <p:cNvPr id="52" name="PC2Pct"/>
          <p:cNvSpPr/>
          <p:nvPr/>
        </p:nvSpPr>
        <p:spPr>
          <a:xfrm>
            <a:off x="5457000" y="2880360"/>
            <a:ext cx="2126520" cy="200000"/>
          </a:xfrm>
          <a:prstGeom prst="rect">
            <a:avLst/>
          </a:prstGeom>
          <a:noFill/>
          <a:ln/>
        </p:spPr>
        <p:txBody>
          <a:bodyPr wrap="square" rtlCol="0" anchor="t"/>
          <a:lstStyle/>
          <a:p>
            <a:pPr marL="0" indent="0">
              <a:buNone/>
            </a:pPr>
            <a:r>
              <a:rPr lang="en-US" sz="850" kern="0" spc="200" dirty="0">
                <a:solidFill>
                  <a:srgbClr val="86868B"/>
                </a:solidFill>
                <a:latin typeface="Helvetica"/>
              </a:rPr>
              <a:t>PARTICIPACIÓN 85%</a:t>
            </a:r>
          </a:p>
        </p:txBody>
      </p:sp>
      <p:sp>
        <p:nvSpPr>
          <p:cNvPr id="53" name="PC2Val"/>
          <p:cNvSpPr/>
          <p:nvPr/>
        </p:nvSpPr>
        <p:spPr>
          <a:xfrm>
            <a:off x="5457000" y="3108960"/>
            <a:ext cx="2126520" cy="450000"/>
          </a:xfrm>
          <a:prstGeom prst="rect">
            <a:avLst/>
          </a:prstGeom>
          <a:noFill/>
          <a:ln/>
        </p:spPr>
        <p:txBody>
          <a:bodyPr wrap="square" rtlCol="0" anchor="t"/>
          <a:lstStyle/>
          <a:p>
            <a:pPr marL="0" indent="0">
              <a:buNone/>
            </a:pPr>
            <a:r>
              <a:rPr lang="en-US" sz="2200" b="1" dirty="0">
                <a:solidFill>
                  <a:srgbClr val="6B2DA8"/>
                </a:solidFill>
                <a:latin typeface="Helvetica"/>
              </a:rPr>
              <a:t>167.169</a:t>
            </a:r>
          </a:p>
          <a:p>
            <a:pPr marL="0" indent="0">
              <a:buNone/>
            </a:pPr>
            <a:r>
              <a:rPr lang="en-US" sz="800" dirty="0">
                <a:solidFill>
                  <a:srgbClr val="86868B"/>
                </a:solidFill>
                <a:latin typeface="Helvetica"/>
              </a:rPr>
              <a:t>Valor libro M$</a:t>
            </a:r>
          </a:p>
        </p:txBody>
      </p:sp>
      <p:sp>
        <p:nvSpPr>
          <p:cNvPr id="54" name="PC2Eff"/>
          <p:cNvSpPr/>
          <p:nvPr/>
        </p:nvSpPr>
        <p:spPr>
          <a:xfrm>
            <a:off x="5457000" y="3703320"/>
            <a:ext cx="2126520" cy="240000"/>
          </a:xfrm>
          <a:prstGeom prst="rect">
            <a:avLst/>
          </a:prstGeom>
          <a:noFill/>
          <a:ln/>
        </p:spPr>
        <p:txBody>
          <a:bodyPr wrap="square" rtlCol="0" anchor="t"/>
          <a:lstStyle/>
          <a:p>
            <a:pPr marL="0" indent="0">
              <a:buNone/>
            </a:pPr>
            <a:r>
              <a:rPr lang="en-US" sz="900" dirty="0">
                <a:solidFill>
                  <a:srgbClr val="424245"/>
                </a:solidFill>
                <a:latin typeface="Helvetica"/>
              </a:rPr>
              <a:t xml:space="preserve">Efecto resultado: </a:t>
            </a:r>
            <a:r>
              <a:rPr lang="en-US" sz="900" b="1" dirty="0">
                <a:solidFill>
                  <a:srgbClr val="1D1D1F"/>
                </a:solidFill>
                <a:latin typeface="Helvetica"/>
              </a:rPr>
              <a:t>(127.643)</a:t>
            </a:r>
          </a:p>
        </p:txBody>
      </p:sp>
      <p:sp>
        <p:nvSpPr>
          <p:cNvPr id="60" name="PC3Bg"/>
          <p:cNvSpPr/>
          <p:nvPr/>
        </p:nvSpPr>
        <p:spPr>
          <a:xfrm>
            <a:off x="457200" y="4084120"/>
            <a:ext cx="2400840" cy="1600000"/>
          </a:xfrm>
          <a:prstGeom prst="roundRect">
            <a:avLst>
              <a:gd name="adj" fmla="val 6000"/>
            </a:avLst>
          </a:prstGeom>
          <a:solidFill>
            <a:srgbClr val="F2EAFB"/>
          </a:solidFill>
          <a:ln>
            <a:noFill/>
          </a:ln>
        </p:spPr>
        <p:txBody>
          <a:bodyPr wrap="square" rtlCol="0" anchor="ctr"/>
          <a:lstStyle/>
          <a:p>
            <a:pPr>
              <a:buNone/>
            </a:pPr>
            <a:endParaRPr lang="en-US"/>
          </a:p>
        </p:txBody>
      </p:sp>
      <p:sp>
        <p:nvSpPr>
          <p:cNvPr id="61" name="PC3Name"/>
          <p:cNvSpPr/>
          <p:nvPr/>
        </p:nvSpPr>
        <p:spPr>
          <a:xfrm>
            <a:off x="594360" y="4221280"/>
            <a:ext cx="2126520" cy="320040"/>
          </a:xfrm>
          <a:prstGeom prst="rect">
            <a:avLst/>
          </a:prstGeom>
          <a:noFill/>
          <a:ln/>
        </p:spPr>
        <p:txBody>
          <a:bodyPr wrap="square" rtlCol="0" anchor="t"/>
          <a:lstStyle/>
          <a:p>
            <a:pPr marL="0" indent="0">
              <a:buNone/>
            </a:pPr>
            <a:r>
              <a:rPr lang="en-US" sz="1100" b="1" dirty="0">
                <a:solidFill>
                  <a:srgbClr val="1D1D1F"/>
                </a:solidFill>
                <a:latin typeface="Helvetica"/>
              </a:rPr>
              <a:t>Ingeniería e Innovación</a:t>
            </a:r>
          </a:p>
        </p:txBody>
      </p:sp>
      <p:sp>
        <p:nvSpPr>
          <p:cNvPr id="62" name="PC3Pct"/>
          <p:cNvSpPr/>
          <p:nvPr/>
        </p:nvSpPr>
        <p:spPr>
          <a:xfrm>
            <a:off x="594360" y="4541320"/>
            <a:ext cx="2126520" cy="200000"/>
          </a:xfrm>
          <a:prstGeom prst="rect">
            <a:avLst/>
          </a:prstGeom>
          <a:noFill/>
          <a:ln/>
        </p:spPr>
        <p:txBody>
          <a:bodyPr wrap="square" rtlCol="0" anchor="t"/>
          <a:lstStyle/>
          <a:p>
            <a:pPr marL="0" indent="0">
              <a:buNone/>
            </a:pPr>
            <a:r>
              <a:rPr lang="en-US" sz="850" kern="0" spc="200" dirty="0">
                <a:solidFill>
                  <a:srgbClr val="86868B"/>
                </a:solidFill>
                <a:latin typeface="Helvetica"/>
              </a:rPr>
              <a:t>PARTICIPACIÓN 85%</a:t>
            </a:r>
          </a:p>
        </p:txBody>
      </p:sp>
      <p:sp>
        <p:nvSpPr>
          <p:cNvPr id="63" name="PC3Val"/>
          <p:cNvSpPr/>
          <p:nvPr/>
        </p:nvSpPr>
        <p:spPr>
          <a:xfrm>
            <a:off x="594360" y="4769920"/>
            <a:ext cx="2126520" cy="450000"/>
          </a:xfrm>
          <a:prstGeom prst="rect">
            <a:avLst/>
          </a:prstGeom>
          <a:noFill/>
          <a:ln/>
        </p:spPr>
        <p:txBody>
          <a:bodyPr wrap="square" rtlCol="0" anchor="t"/>
          <a:lstStyle/>
          <a:p>
            <a:pPr marL="0" indent="0">
              <a:buNone/>
            </a:pPr>
            <a:r>
              <a:rPr lang="en-US" sz="2200" b="1" dirty="0">
                <a:solidFill>
                  <a:srgbClr val="6B2DA8"/>
                </a:solidFill>
                <a:latin typeface="Helvetica"/>
              </a:rPr>
              <a:t>138.490</a:t>
            </a:r>
          </a:p>
          <a:p>
            <a:pPr marL="0" indent="0">
              <a:buNone/>
            </a:pPr>
            <a:r>
              <a:rPr lang="en-US" sz="800" dirty="0">
                <a:solidFill>
                  <a:srgbClr val="86868B"/>
                </a:solidFill>
                <a:latin typeface="Helvetica"/>
              </a:rPr>
              <a:t>Valor libro M$</a:t>
            </a:r>
          </a:p>
        </p:txBody>
      </p:sp>
      <p:sp>
        <p:nvSpPr>
          <p:cNvPr id="64" name="PC3Eff"/>
          <p:cNvSpPr/>
          <p:nvPr/>
        </p:nvSpPr>
        <p:spPr>
          <a:xfrm>
            <a:off x="594360" y="5364280"/>
            <a:ext cx="2126520" cy="240000"/>
          </a:xfrm>
          <a:prstGeom prst="rect">
            <a:avLst/>
          </a:prstGeom>
          <a:noFill/>
          <a:ln/>
        </p:spPr>
        <p:txBody>
          <a:bodyPr wrap="square" rtlCol="0" anchor="t"/>
          <a:lstStyle/>
          <a:p>
            <a:pPr marL="0" indent="0">
              <a:buNone/>
            </a:pPr>
            <a:r>
              <a:rPr lang="en-US" sz="900" dirty="0">
                <a:solidFill>
                  <a:srgbClr val="424245"/>
                </a:solidFill>
                <a:latin typeface="Helvetica"/>
              </a:rPr>
              <a:t xml:space="preserve">Efecto resultado: </a:t>
            </a:r>
            <a:r>
              <a:rPr lang="en-US" sz="900" b="1" dirty="0">
                <a:solidFill>
                  <a:srgbClr val="1D1D1F"/>
                </a:solidFill>
                <a:latin typeface="Helvetica"/>
              </a:rPr>
              <a:t>(11.572)</a:t>
            </a:r>
          </a:p>
        </p:txBody>
      </p:sp>
      <p:sp>
        <p:nvSpPr>
          <p:cNvPr id="70" name="PC4Bg"/>
          <p:cNvSpPr/>
          <p:nvPr/>
        </p:nvSpPr>
        <p:spPr>
          <a:xfrm>
            <a:off x="2888520" y="4084120"/>
            <a:ext cx="2400840" cy="1600000"/>
          </a:xfrm>
          <a:prstGeom prst="roundRect">
            <a:avLst>
              <a:gd name="adj" fmla="val 6000"/>
            </a:avLst>
          </a:prstGeom>
          <a:solidFill>
            <a:srgbClr val="F2EAFB"/>
          </a:solidFill>
          <a:ln>
            <a:noFill/>
          </a:ln>
        </p:spPr>
        <p:txBody>
          <a:bodyPr wrap="square" rtlCol="0" anchor="ctr"/>
          <a:lstStyle/>
          <a:p>
            <a:pPr>
              <a:buNone/>
            </a:pPr>
            <a:endParaRPr lang="en-US"/>
          </a:p>
        </p:txBody>
      </p:sp>
      <p:sp>
        <p:nvSpPr>
          <p:cNvPr id="71" name="PC4Name"/>
          <p:cNvSpPr/>
          <p:nvPr/>
        </p:nvSpPr>
        <p:spPr>
          <a:xfrm>
            <a:off x="3025680" y="4221280"/>
            <a:ext cx="2126520" cy="320040"/>
          </a:xfrm>
          <a:prstGeom prst="rect">
            <a:avLst/>
          </a:prstGeom>
          <a:noFill/>
          <a:ln/>
        </p:spPr>
        <p:txBody>
          <a:bodyPr wrap="square" rtlCol="0" anchor="t"/>
          <a:lstStyle/>
          <a:p>
            <a:pPr marL="0" indent="0">
              <a:buNone/>
            </a:pPr>
            <a:r>
              <a:rPr lang="en-US" sz="1100" b="1" dirty="0">
                <a:solidFill>
                  <a:srgbClr val="1D1D1F"/>
                </a:solidFill>
                <a:latin typeface="Helvetica"/>
              </a:rPr>
              <a:t>Agrotecn. e Ing. (Trongkai)</a:t>
            </a:r>
          </a:p>
        </p:txBody>
      </p:sp>
      <p:sp>
        <p:nvSpPr>
          <p:cNvPr id="72" name="PC4Pct"/>
          <p:cNvSpPr/>
          <p:nvPr/>
        </p:nvSpPr>
        <p:spPr>
          <a:xfrm>
            <a:off x="3025680" y="4541320"/>
            <a:ext cx="2126520" cy="200000"/>
          </a:xfrm>
          <a:prstGeom prst="rect">
            <a:avLst/>
          </a:prstGeom>
          <a:noFill/>
          <a:ln/>
        </p:spPr>
        <p:txBody>
          <a:bodyPr wrap="square" rtlCol="0" anchor="t"/>
          <a:lstStyle/>
          <a:p>
            <a:pPr marL="0" indent="0">
              <a:buNone/>
            </a:pPr>
            <a:r>
              <a:rPr lang="en-US" sz="850" kern="0" spc="200" dirty="0">
                <a:solidFill>
                  <a:srgbClr val="86868B"/>
                </a:solidFill>
                <a:latin typeface="Helvetica"/>
              </a:rPr>
              <a:t>PARTICIPACIÓN 85%</a:t>
            </a:r>
          </a:p>
        </p:txBody>
      </p:sp>
      <p:sp>
        <p:nvSpPr>
          <p:cNvPr id="73" name="PC4Val"/>
          <p:cNvSpPr/>
          <p:nvPr/>
        </p:nvSpPr>
        <p:spPr>
          <a:xfrm>
            <a:off x="3025680" y="4769920"/>
            <a:ext cx="2126520" cy="450000"/>
          </a:xfrm>
          <a:prstGeom prst="rect">
            <a:avLst/>
          </a:prstGeom>
          <a:noFill/>
          <a:ln/>
        </p:spPr>
        <p:txBody>
          <a:bodyPr wrap="square" rtlCol="0" anchor="t"/>
          <a:lstStyle/>
          <a:p>
            <a:pPr marL="0" indent="0">
              <a:buNone/>
            </a:pPr>
            <a:r>
              <a:rPr lang="en-US" sz="2200" b="1" dirty="0">
                <a:solidFill>
                  <a:srgbClr val="6B2DA8"/>
                </a:solidFill>
                <a:latin typeface="Helvetica"/>
              </a:rPr>
              <a:t>31.927</a:t>
            </a:r>
          </a:p>
          <a:p>
            <a:pPr marL="0" indent="0">
              <a:buNone/>
            </a:pPr>
            <a:r>
              <a:rPr lang="en-US" sz="800" dirty="0">
                <a:solidFill>
                  <a:srgbClr val="86868B"/>
                </a:solidFill>
                <a:latin typeface="Helvetica"/>
              </a:rPr>
              <a:t>Valor libro M$</a:t>
            </a:r>
          </a:p>
        </p:txBody>
      </p:sp>
      <p:sp>
        <p:nvSpPr>
          <p:cNvPr id="74" name="PC4Eff"/>
          <p:cNvSpPr/>
          <p:nvPr/>
        </p:nvSpPr>
        <p:spPr>
          <a:xfrm>
            <a:off x="3025680" y="5364280"/>
            <a:ext cx="2126520" cy="240000"/>
          </a:xfrm>
          <a:prstGeom prst="rect">
            <a:avLst/>
          </a:prstGeom>
          <a:noFill/>
          <a:ln/>
        </p:spPr>
        <p:txBody>
          <a:bodyPr wrap="square" rtlCol="0" anchor="t"/>
          <a:lstStyle/>
          <a:p>
            <a:pPr marL="0" indent="0">
              <a:buNone/>
            </a:pPr>
            <a:r>
              <a:rPr lang="en-US" sz="900" dirty="0">
                <a:solidFill>
                  <a:srgbClr val="424245"/>
                </a:solidFill>
                <a:latin typeface="Helvetica"/>
              </a:rPr>
              <a:t xml:space="preserve">Efecto resultado: </a:t>
            </a:r>
            <a:r>
              <a:rPr lang="en-US" sz="900" b="1" dirty="0">
                <a:solidFill>
                  <a:srgbClr val="1D1D1F"/>
                </a:solidFill>
                <a:latin typeface="Helvetica"/>
              </a:rPr>
              <a:t>(18.078)</a:t>
            </a:r>
          </a:p>
        </p:txBody>
      </p:sp>
      <p:sp>
        <p:nvSpPr>
          <p:cNvPr id="80" name="PC5Bg"/>
          <p:cNvSpPr/>
          <p:nvPr/>
        </p:nvSpPr>
        <p:spPr>
          <a:xfrm>
            <a:off x="5319840" y="4084120"/>
            <a:ext cx="2400840" cy="1600000"/>
          </a:xfrm>
          <a:prstGeom prst="roundRect">
            <a:avLst>
              <a:gd name="adj" fmla="val 6000"/>
            </a:avLst>
          </a:prstGeom>
          <a:solidFill>
            <a:srgbClr val="EAF3FB"/>
          </a:solidFill>
          <a:ln>
            <a:noFill/>
          </a:ln>
        </p:spPr>
        <p:txBody>
          <a:bodyPr wrap="square" rtlCol="0" anchor="ctr"/>
          <a:lstStyle/>
          <a:p>
            <a:pPr>
              <a:buNone/>
            </a:pPr>
            <a:endParaRPr lang="en-US"/>
          </a:p>
        </p:txBody>
      </p:sp>
      <p:sp>
        <p:nvSpPr>
          <p:cNvPr id="81" name="PC5Name"/>
          <p:cNvSpPr/>
          <p:nvPr/>
        </p:nvSpPr>
        <p:spPr>
          <a:xfrm>
            <a:off x="5457000" y="4221280"/>
            <a:ext cx="2126520" cy="320040"/>
          </a:xfrm>
          <a:prstGeom prst="rect">
            <a:avLst/>
          </a:prstGeom>
          <a:noFill/>
          <a:ln/>
        </p:spPr>
        <p:txBody>
          <a:bodyPr wrap="square" rtlCol="0" anchor="t"/>
          <a:lstStyle/>
          <a:p>
            <a:pPr marL="0" indent="0">
              <a:buNone/>
            </a:pPr>
            <a:r>
              <a:rPr lang="en-US" sz="1100" b="1" dirty="0">
                <a:solidFill>
                  <a:srgbClr val="1D1D1F"/>
                </a:solidFill>
                <a:latin typeface="Helvetica"/>
              </a:rPr>
              <a:t>Evoque Energy</a:t>
            </a:r>
          </a:p>
        </p:txBody>
      </p:sp>
      <p:sp>
        <p:nvSpPr>
          <p:cNvPr id="82" name="PC5Pct"/>
          <p:cNvSpPr/>
          <p:nvPr/>
        </p:nvSpPr>
        <p:spPr>
          <a:xfrm>
            <a:off x="5457000" y="4541320"/>
            <a:ext cx="2126520" cy="200000"/>
          </a:xfrm>
          <a:prstGeom prst="rect">
            <a:avLst/>
          </a:prstGeom>
          <a:noFill/>
          <a:ln/>
        </p:spPr>
        <p:txBody>
          <a:bodyPr wrap="square" rtlCol="0" anchor="t"/>
          <a:lstStyle/>
          <a:p>
            <a:pPr marL="0" indent="0">
              <a:buNone/>
            </a:pPr>
            <a:r>
              <a:rPr lang="en-US" sz="850" kern="0" spc="200" dirty="0">
                <a:solidFill>
                  <a:srgbClr val="86868B"/>
                </a:solidFill>
                <a:latin typeface="Helvetica"/>
              </a:rPr>
              <a:t>PARTICIPACIÓN 80%</a:t>
            </a:r>
          </a:p>
        </p:txBody>
      </p:sp>
      <p:sp>
        <p:nvSpPr>
          <p:cNvPr id="83" name="PC5Val"/>
          <p:cNvSpPr/>
          <p:nvPr/>
        </p:nvSpPr>
        <p:spPr>
          <a:xfrm>
            <a:off x="5457000" y="4769920"/>
            <a:ext cx="2126520" cy="450000"/>
          </a:xfrm>
          <a:prstGeom prst="rect">
            <a:avLst/>
          </a:prstGeom>
          <a:noFill/>
          <a:ln/>
        </p:spPr>
        <p:txBody>
          <a:bodyPr wrap="square" rtlCol="0" anchor="t"/>
          <a:lstStyle/>
          <a:p>
            <a:pPr marL="0" indent="0">
              <a:buNone/>
            </a:pPr>
            <a:r>
              <a:rPr lang="en-US" sz="2200" b="1" dirty="0">
                <a:solidFill>
                  <a:srgbClr val="2563A8"/>
                </a:solidFill>
                <a:latin typeface="Helvetica"/>
              </a:rPr>
              <a:t>22.423</a:t>
            </a:r>
          </a:p>
          <a:p>
            <a:pPr marL="0" indent="0">
              <a:buNone/>
            </a:pPr>
            <a:r>
              <a:rPr lang="en-US" sz="800" dirty="0">
                <a:solidFill>
                  <a:srgbClr val="86868B"/>
                </a:solidFill>
                <a:latin typeface="Helvetica"/>
              </a:rPr>
              <a:t>Valor libro M$</a:t>
            </a:r>
          </a:p>
        </p:txBody>
      </p:sp>
      <p:sp>
        <p:nvSpPr>
          <p:cNvPr id="84" name="PC5Eff"/>
          <p:cNvSpPr/>
          <p:nvPr/>
        </p:nvSpPr>
        <p:spPr>
          <a:xfrm>
            <a:off x="5457000" y="5364280"/>
            <a:ext cx="2126520" cy="240000"/>
          </a:xfrm>
          <a:prstGeom prst="rect">
            <a:avLst/>
          </a:prstGeom>
          <a:noFill/>
          <a:ln/>
        </p:spPr>
        <p:txBody>
          <a:bodyPr wrap="square" rtlCol="0" anchor="t"/>
          <a:lstStyle/>
          <a:p>
            <a:pPr marL="0" indent="0">
              <a:buNone/>
            </a:pPr>
            <a:r>
              <a:rPr lang="en-US" sz="900" dirty="0">
                <a:solidFill>
                  <a:srgbClr val="424245"/>
                </a:solidFill>
                <a:latin typeface="Helvetica"/>
              </a:rPr>
              <a:t xml:space="preserve">Efecto resultado: </a:t>
            </a:r>
            <a:r>
              <a:rPr lang="en-US" sz="900" b="1" dirty="0">
                <a:solidFill>
                  <a:srgbClr val="1D1D1F"/>
                </a:solidFill>
                <a:latin typeface="Helvetica"/>
              </a:rPr>
              <a:t>(24.706)</a:t>
            </a:r>
          </a:p>
        </p:txBody>
      </p:sp>
      <p:sp>
        <p:nvSpPr>
          <p:cNvPr id="200" name="PatT"/>
          <p:cNvSpPr/>
          <p:nvPr/>
        </p:nvSpPr>
        <p:spPr>
          <a:xfrm>
            <a:off x="8138160" y="2103120"/>
            <a:ext cx="3593592" cy="274320"/>
          </a:xfrm>
          <a:prstGeom prst="rect">
            <a:avLst/>
          </a:prstGeom>
          <a:noFill/>
          <a:ln/>
        </p:spPr>
        <p:txBody>
          <a:bodyPr wrap="square" rtlCol="0" anchor="ctr"/>
          <a:lstStyle/>
          <a:p>
            <a:pPr marL="0" indent="0">
              <a:buNone/>
            </a:pPr>
            <a:r>
              <a:rPr lang="en-US" sz="1300" b="1" kern="0" spc="200" dirty="0">
                <a:solidFill>
                  <a:srgbClr val="823DBC"/>
                </a:solidFill>
                <a:latin typeface="Helvetica"/>
              </a:rPr>
              <a:t>PATRIMONIO · APORTANTES</a:t>
            </a:r>
          </a:p>
        </p:txBody>
      </p:sp>
      <p:sp>
        <p:nvSpPr>
          <p:cNvPr id="201" name="PatBox"/>
          <p:cNvSpPr/>
          <p:nvPr/>
        </p:nvSpPr>
        <p:spPr>
          <a:xfrm>
            <a:off x="8138160" y="2423160"/>
            <a:ext cx="3593592" cy="3886200"/>
          </a:xfrm>
          <a:prstGeom prst="rect">
            <a:avLst/>
          </a:prstGeom>
          <a:noFill/>
          <a:ln/>
        </p:spPr>
        <p:txBody>
          <a:bodyPr wrap="square" rtlCol="0" anchor="t"/>
          <a:lstStyle/>
          <a:p>
            <a:pPr marL="0" indent="0">
              <a:lnSpc>
                <a:spcPts val="2200"/>
              </a:lnSpc>
              <a:buNone/>
            </a:pPr>
            <a:r>
              <a:rPr lang="en-US" sz="1000" b="1" dirty="0">
                <a:solidFill>
                  <a:srgbClr val="86868B"/>
                </a:solidFill>
                <a:latin typeface="Helvetica"/>
              </a:rPr>
              <a:t>Aportes pagados M$ · 31-12-25</a:t>
            </a:r>
          </a:p>
          <a:p>
            <a:pPr marL="0" indent="0">
              <a:lnSpc>
                <a:spcPts val="2200"/>
              </a:lnSpc>
              <a:buNone/>
            </a:pPr>
            <a:r>
              <a:rPr lang="en-US" sz="1050" b="1" dirty="0">
                <a:solidFill>
                  <a:srgbClr val="1D1D1F"/>
                </a:solidFill>
                <a:latin typeface="Helvetica"/>
              </a:rPr>
              <a:t>AFIS S.A. (Serie B)</a:t>
            </a:r>
          </a:p>
          <a:p>
            <a:pPr marL="0" indent="0">
              <a:lnSpc>
                <a:spcPts val="2200"/>
              </a:lnSpc>
              <a:buNone/>
            </a:pPr>
            <a:r>
              <a:rPr lang="en-US" sz="1050" dirty="0">
                <a:solidFill>
                  <a:srgbClr val="424245"/>
                </a:solidFill>
                <a:latin typeface="Helvetica"/>
              </a:rPr>
              <a:t>357.328</a:t>
            </a:r>
          </a:p>
          <a:p>
            <a:pPr marL="0" indent="0">
              <a:lnSpc>
                <a:spcPts val="2200"/>
              </a:lnSpc>
              <a:buNone/>
            </a:pPr>
            <a:r>
              <a:rPr lang="en-US" sz="1050" b="1" dirty="0">
                <a:solidFill>
                  <a:srgbClr val="1D1D1F"/>
                </a:solidFill>
                <a:latin typeface="Helvetica"/>
              </a:rPr>
              <a:t>Araucaria Renta Car (A)</a:t>
            </a:r>
          </a:p>
          <a:p>
            <a:pPr marL="0" indent="0">
              <a:lnSpc>
                <a:spcPts val="2200"/>
              </a:lnSpc>
              <a:buNone/>
            </a:pPr>
            <a:r>
              <a:rPr lang="en-US" sz="1050" dirty="0">
                <a:solidFill>
                  <a:srgbClr val="424245"/>
                </a:solidFill>
                <a:latin typeface="Helvetica"/>
              </a:rPr>
              <a:t>280.643</a:t>
            </a:r>
          </a:p>
          <a:p>
            <a:pPr marL="0" indent="0">
              <a:lnSpc>
                <a:spcPts val="2200"/>
              </a:lnSpc>
              <a:buNone/>
            </a:pPr>
            <a:r>
              <a:rPr lang="en-US" sz="1050" b="1" dirty="0">
                <a:solidFill>
                  <a:srgbClr val="1D1D1F"/>
                </a:solidFill>
                <a:latin typeface="Helvetica"/>
              </a:rPr>
              <a:t>Inv. Ecoinnova (A)</a:t>
            </a:r>
          </a:p>
          <a:p>
            <a:pPr marL="0" indent="0">
              <a:lnSpc>
                <a:spcPts val="2200"/>
              </a:lnSpc>
              <a:buNone/>
            </a:pPr>
            <a:r>
              <a:rPr lang="en-US" sz="1050" dirty="0">
                <a:solidFill>
                  <a:srgbClr val="424245"/>
                </a:solidFill>
                <a:latin typeface="Helvetica"/>
              </a:rPr>
              <a:t>204.452</a:t>
            </a:r>
          </a:p>
          <a:p>
            <a:pPr marL="0" indent="0">
              <a:lnSpc>
                <a:spcPts val="2200"/>
              </a:lnSpc>
              <a:buNone/>
            </a:pPr>
            <a:r>
              <a:rPr lang="en-US" sz="1050" b="1" dirty="0">
                <a:solidFill>
                  <a:srgbClr val="1D1D1F"/>
                </a:solidFill>
                <a:latin typeface="Helvetica"/>
              </a:rPr>
              <a:t>Ing. Orbicorp (A)</a:t>
            </a:r>
          </a:p>
          <a:p>
            <a:pPr marL="0" indent="0">
              <a:lnSpc>
                <a:spcPts val="2200"/>
              </a:lnSpc>
              <a:buNone/>
            </a:pPr>
            <a:r>
              <a:rPr lang="en-US" sz="1050" dirty="0">
                <a:solidFill>
                  <a:srgbClr val="424245"/>
                </a:solidFill>
                <a:latin typeface="Helvetica"/>
              </a:rPr>
              <a:t>217.121</a:t>
            </a:r>
          </a:p>
          <a:p>
            <a:pPr marL="0" indent="0">
              <a:lnSpc>
                <a:spcPts val="2600"/>
              </a:lnSpc>
              <a:buNone/>
            </a:pPr>
            <a:r>
              <a:rPr lang="en-US" sz="1150" b="1" dirty="0">
                <a:solidFill>
                  <a:srgbClr val="6B2DA8"/>
                </a:solidFill>
                <a:latin typeface="Helvetica"/>
              </a:rPr>
              <a:t>TOTAL APORTES</a:t>
            </a:r>
          </a:p>
          <a:p>
            <a:pPr marL="0" indent="0">
              <a:lnSpc>
                <a:spcPts val="2200"/>
              </a:lnSpc>
              <a:buNone/>
            </a:pPr>
            <a:r>
              <a:rPr lang="en-US" sz="1200" b="1" dirty="0">
                <a:solidFill>
                  <a:srgbClr val="6B2DA8"/>
                </a:solidFill>
                <a:latin typeface="Helvetica"/>
              </a:rPr>
              <a:t>1.059.544</a:t>
            </a:r>
          </a:p>
          <a:p>
            <a:pPr marL="0" indent="0">
              <a:lnSpc>
                <a:spcPts val="2200"/>
              </a:lnSpc>
              <a:buNone/>
            </a:pPr>
            <a:r>
              <a:rPr lang="en-US" sz="900" i="1" dirty="0">
                <a:solidFill>
                  <a:srgbClr val="86868B"/>
                </a:solidFill>
                <a:latin typeface="Georgia"/>
              </a:rPr>
              <a:t>(+ 553.018 vs 2024)</a:t>
            </a:r>
          </a:p>
        </p:txBody>
      </p:sp>
      <p:sp>
        <p:nvSpPr>
          <p:cNvPr id="100" name="BotLine"/>
          <p:cNvSpPr/>
          <p:nvPr/>
        </p:nvSpPr>
        <p:spPr>
          <a:xfrm>
            <a:off x="457200" y="6492240"/>
            <a:ext cx="11274552" cy="0"/>
          </a:xfrm>
          <a:prstGeom prst="line">
            <a:avLst/>
          </a:prstGeom>
          <a:noFill/>
          <a:ln w="6350">
            <a:solidFill>
              <a:srgbClr val="D2D2D7"/>
            </a:solidFill>
            <a:prstDash val="solid"/>
          </a:ln>
        </p:spPr>
      </p:sp>
      <p:sp>
        <p:nvSpPr>
          <p:cNvPr id="101" name="FooterL"/>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a:rPr>
              <a:t>FIP CEHTA ESG · RUT 77.751.766-K</a:t>
            </a:r>
          </a:p>
        </p:txBody>
      </p:sp>
      <p:sp>
        <p:nvSpPr>
          <p:cNvPr id="102" name="FooterR"/>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a:rPr>
              <a:t>EEFF auditados · Nattero Auditores · 30 abr 2026</a:t>
            </a: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opLine"/>
          <p:cNvSpPr/>
          <p:nvPr/>
        </p:nvSpPr>
        <p:spPr>
          <a:xfrm>
            <a:off x="457200" y="320040"/>
            <a:ext cx="11274552" cy="0"/>
          </a:xfrm>
          <a:prstGeom prst="line">
            <a:avLst/>
          </a:prstGeom>
          <a:noFill/>
          <a:ln w="6350">
            <a:solidFill>
              <a:srgbClr val="D2D2D7"/>
            </a:solidFill>
            <a:prstDash val="solid"/>
          </a:ln>
        </p:spPr>
      </p:sp>
      <p:sp>
        <p:nvSpPr>
          <p:cNvPr id="3" name="HeaderL"/>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a:rPr>
              <a:t>CEHTA CAPITAL</a:t>
            </a:r>
          </a:p>
        </p:txBody>
      </p:sp>
      <p:sp>
        <p:nvSpPr>
          <p:cNvPr id="4" name="HeaderC"/>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a:rPr>
              <a:t>ASAMBLEA ORDINARIA · 27 DE MAYO, 2026</a:t>
            </a:r>
          </a:p>
        </p:txBody>
      </p:sp>
      <p:sp>
        <p:nvSpPr>
          <p:cNvPr id="5" name="HeaderR"/>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a:rPr>
              <a:t>12 — 18</a:t>
            </a:r>
          </a:p>
        </p:txBody>
      </p:sp>
      <p:sp>
        <p:nvSpPr>
          <p:cNvPr id="6" name="Kicker"/>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a:rPr>
              <a:t>FINANCIAL STATEMENTS · Notas + Dictamen</a:t>
            </a:r>
          </a:p>
        </p:txBody>
      </p:sp>
      <p:sp>
        <p:nvSpPr>
          <p:cNvPr id="7" name="Title"/>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a:rPr>
              <a:t>Notas relevantes y Dictamen</a:t>
            </a:r>
          </a:p>
        </p:txBody>
      </p:sp>
      <p:sp>
        <p:nvSpPr>
          <p:cNvPr id="8" name="Subtitle"/>
          <p:cNvSpPr/>
          <p:nvPr/>
        </p:nvSpPr>
        <p:spPr>
          <a:xfrm>
            <a:off x="457200" y="1691640"/>
            <a:ext cx="10972800" cy="274320"/>
          </a:xfrm>
          <a:prstGeom prst="rect">
            <a:avLst/>
          </a:prstGeom>
          <a:noFill/>
          <a:ln/>
        </p:spPr>
        <p:txBody>
          <a:bodyPr wrap="square" rtlCol="0" anchor="ctr"/>
          <a:lstStyle/>
          <a:p>
            <a:pPr marL="0" indent="0">
              <a:buNone/>
            </a:pPr>
            <a:r>
              <a:rPr lang="en-US" sz="1300" i="1" dirty="0">
                <a:solidFill>
                  <a:srgbClr val="424245"/>
                </a:solidFill>
                <a:latin typeface="Georgia"/>
              </a:rPr>
              <a:t>Políticas contables, línea CORFO y opinión del auditor externo</a:t>
            </a:r>
          </a:p>
        </p:txBody>
      </p:sp>
      <p:sp>
        <p:nvSpPr>
          <p:cNvPr id="20" name="OpCard"/>
          <p:cNvSpPr/>
          <p:nvPr/>
        </p:nvSpPr>
        <p:spPr>
          <a:xfrm>
            <a:off x="457200" y="2103120"/>
            <a:ext cx="7315200" cy="2103120"/>
          </a:xfrm>
          <a:prstGeom prst="roundRect">
            <a:avLst>
              <a:gd name="adj" fmla="val 5000"/>
            </a:avLst>
          </a:prstGeom>
          <a:solidFill>
            <a:srgbClr val="F2EAFB"/>
          </a:solidFill>
          <a:ln>
            <a:noFill/>
          </a:ln>
        </p:spPr>
        <p:txBody>
          <a:bodyPr wrap="square" rtlCol="0" anchor="ctr"/>
          <a:lstStyle/>
          <a:p>
            <a:pPr>
              <a:buNone/>
            </a:pPr>
            <a:endParaRPr lang="en-US"/>
          </a:p>
        </p:txBody>
      </p:sp>
      <p:sp>
        <p:nvSpPr>
          <p:cNvPr id="21" name="OpLbl"/>
          <p:cNvSpPr/>
          <p:nvPr/>
        </p:nvSpPr>
        <p:spPr>
          <a:xfrm>
            <a:off x="685800" y="2240280"/>
            <a:ext cx="6858000" cy="274320"/>
          </a:xfrm>
          <a:prstGeom prst="rect">
            <a:avLst/>
          </a:prstGeom>
          <a:noFill/>
          <a:ln/>
        </p:spPr>
        <p:txBody>
          <a:bodyPr wrap="square" rtlCol="0" anchor="t"/>
          <a:lstStyle/>
          <a:p>
            <a:pPr marL="0" indent="0">
              <a:buNone/>
            </a:pPr>
            <a:r>
              <a:rPr lang="en-US" sz="1000" b="1" kern="0" spc="300" dirty="0">
                <a:solidFill>
                  <a:srgbClr val="6B2DA8"/>
                </a:solidFill>
                <a:latin typeface="Helvetica"/>
              </a:rPr>
              <a:t>DICTAMEN DEL AUDITOR EXTERNO · NATTERO AUDITORES CONSULTORES</a:t>
            </a:r>
          </a:p>
        </p:txBody>
      </p:sp>
      <p:sp>
        <p:nvSpPr>
          <p:cNvPr id="22" name="OpQuote"/>
          <p:cNvSpPr/>
          <p:nvPr/>
        </p:nvSpPr>
        <p:spPr>
          <a:xfrm>
            <a:off x="685800" y="2575560"/>
            <a:ext cx="6858000" cy="1097280"/>
          </a:xfrm>
          <a:prstGeom prst="rect">
            <a:avLst/>
          </a:prstGeom>
          <a:noFill/>
          <a:ln/>
        </p:spPr>
        <p:txBody>
          <a:bodyPr wrap="square" rtlCol="0" anchor="t"/>
          <a:lstStyle/>
          <a:p>
            <a:pPr marL="0" indent="0">
              <a:lnSpc>
                <a:spcPts val="2400"/>
              </a:lnSpc>
              <a:buNone/>
            </a:pPr>
            <a:r>
              <a:rPr lang="en-US" sz="1300" i="1" dirty="0">
                <a:solidFill>
                  <a:srgbClr val="1D1D1F"/>
                </a:solidFill>
                <a:latin typeface="Georgia"/>
              </a:rPr>
              <a:t>“En nuestra opinión, los estados financieros adjuntos presentan razonablemente, en todos los aspectos materiales, la situación financiera del Fondo al 31 de diciembre de 2025, sus resultados y sus flujos de efectivo, de conformidad con las Normas de Contabilidad NIIF.”</a:t>
            </a:r>
          </a:p>
        </p:txBody>
      </p:sp>
      <p:sp>
        <p:nvSpPr>
          <p:cNvPr id="23" name="OpSign"/>
          <p:cNvSpPr/>
          <p:nvPr/>
        </p:nvSpPr>
        <p:spPr>
          <a:xfrm>
            <a:off x="685800" y="3795000"/>
            <a:ext cx="6858000" cy="274320"/>
          </a:xfrm>
          <a:prstGeom prst="rect">
            <a:avLst/>
          </a:prstGeom>
          <a:noFill/>
          <a:ln/>
        </p:spPr>
        <p:txBody>
          <a:bodyPr wrap="square" rtlCol="0" anchor="t"/>
          <a:lstStyle/>
          <a:p>
            <a:pPr marL="0" indent="0">
              <a:buNone/>
            </a:pPr>
            <a:r>
              <a:rPr lang="en-US" sz="1000" b="1" dirty="0">
                <a:solidFill>
                  <a:srgbClr val="1D1D1F"/>
                </a:solidFill>
                <a:latin typeface="Helvetica"/>
              </a:rPr>
              <a:t xml:space="preserve">Renzo Aldo Nattero Antonelli, Socio </a:t>
            </a:r>
            <a:r>
              <a:rPr lang="en-US" sz="1000" dirty="0">
                <a:solidFill>
                  <a:srgbClr val="424245"/>
                </a:solidFill>
                <a:latin typeface="Helvetica"/>
              </a:rPr>
              <a:t>· Valparaíso, 30 de abril de 2026 · firma electrónica avanzada</a:t>
            </a:r>
          </a:p>
        </p:txBody>
      </p:sp>
      <p:sp>
        <p:nvSpPr>
          <p:cNvPr id="30" name="EnfasisCard"/>
          <p:cNvSpPr/>
          <p:nvPr/>
        </p:nvSpPr>
        <p:spPr>
          <a:xfrm>
            <a:off x="8138160" y="2103120"/>
            <a:ext cx="3593592" cy="2103120"/>
          </a:xfrm>
          <a:prstGeom prst="roundRect">
            <a:avLst>
              <a:gd name="adj" fmla="val 5000"/>
            </a:avLst>
          </a:prstGeom>
          <a:solidFill>
            <a:srgbClr val="EAF3FB"/>
          </a:solidFill>
          <a:ln>
            <a:noFill/>
          </a:ln>
        </p:spPr>
        <p:txBody>
          <a:bodyPr wrap="square" rtlCol="0" anchor="ctr"/>
          <a:lstStyle/>
          <a:p>
            <a:pPr>
              <a:buNone/>
            </a:pPr>
            <a:endParaRPr lang="en-US"/>
          </a:p>
        </p:txBody>
      </p:sp>
      <p:sp>
        <p:nvSpPr>
          <p:cNvPr id="31" name="EnfasisLbl"/>
          <p:cNvSpPr/>
          <p:nvPr/>
        </p:nvSpPr>
        <p:spPr>
          <a:xfrm>
            <a:off x="8366760" y="2240280"/>
            <a:ext cx="3136392" cy="274320"/>
          </a:xfrm>
          <a:prstGeom prst="rect">
            <a:avLst/>
          </a:prstGeom>
          <a:noFill/>
          <a:ln/>
        </p:spPr>
        <p:txBody>
          <a:bodyPr wrap="square" rtlCol="0" anchor="t"/>
          <a:lstStyle/>
          <a:p>
            <a:pPr marL="0" indent="0">
              <a:buNone/>
            </a:pPr>
            <a:r>
              <a:rPr lang="en-US" sz="1000" b="1" kern="0" spc="300" dirty="0">
                <a:solidFill>
                  <a:srgbClr val="2563A8"/>
                </a:solidFill>
                <a:latin typeface="Helvetica"/>
              </a:rPr>
              <a:t>ÉNFASIS EN UN ASUNTO</a:t>
            </a:r>
          </a:p>
        </p:txBody>
      </p:sp>
      <p:sp>
        <p:nvSpPr>
          <p:cNvPr id="32" name="EnfasisTxt"/>
          <p:cNvSpPr/>
          <p:nvPr/>
        </p:nvSpPr>
        <p:spPr>
          <a:xfrm>
            <a:off x="8366760" y="2575560"/>
            <a:ext cx="3136392" cy="1554480"/>
          </a:xfrm>
          <a:prstGeom prst="rect">
            <a:avLst/>
          </a:prstGeom>
          <a:noFill/>
          <a:ln/>
        </p:spPr>
        <p:txBody>
          <a:bodyPr wrap="square" rtlCol="0" anchor="t"/>
          <a:lstStyle/>
          <a:p>
            <a:pPr marL="0" indent="0">
              <a:lnSpc>
                <a:spcPts val="1800"/>
              </a:lnSpc>
              <a:buNone/>
            </a:pPr>
            <a:r>
              <a:rPr lang="en-US" sz="1000" dirty="0">
                <a:solidFill>
                  <a:srgbClr val="424245"/>
                </a:solidFill>
                <a:latin typeface="Helvetica"/>
              </a:rPr>
              <a:t>Los estados financieros no han sido consolidados, en aplicación de los oficios circulares CMF N° 592 y N° 657. No se modifica la opinión del auditor sobre este asunto.</a:t>
            </a:r>
          </a:p>
          <a:p>
            <a:pPr marL="0" indent="0">
              <a:lnSpc>
                <a:spcPts val="1800"/>
              </a:lnSpc>
              <a:buNone/>
            </a:pPr>
            <a:endParaRPr lang="en-US" sz="1000"/>
          </a:p>
          <a:p>
            <a:pPr marL="0" indent="0">
              <a:lnSpc>
                <a:spcPts val="1800"/>
              </a:lnSpc>
              <a:buNone/>
            </a:pPr>
            <a:r>
              <a:rPr lang="en-US" sz="900" i="1" dirty="0">
                <a:solidFill>
                  <a:srgbClr val="86868B"/>
                </a:solidFill>
                <a:latin typeface="Helvetica"/>
              </a:rPr>
              <a:t>EEFF aprobados por el Directorio el 30 de abril de 2026 (Nota 2.1).</a:t>
            </a:r>
          </a:p>
        </p:txBody>
      </p:sp>
      <p:sp>
        <p:nvSpPr>
          <p:cNvPr id="40" name="NotasT"/>
          <p:cNvSpPr/>
          <p:nvPr/>
        </p:nvSpPr>
        <p:spPr>
          <a:xfrm>
            <a:off x="457200" y="4434840"/>
            <a:ext cx="11274552" cy="274320"/>
          </a:xfrm>
          <a:prstGeom prst="rect">
            <a:avLst/>
          </a:prstGeom>
          <a:noFill/>
          <a:ln/>
        </p:spPr>
        <p:txBody>
          <a:bodyPr wrap="square" rtlCol="0" anchor="ctr"/>
          <a:lstStyle/>
          <a:p>
            <a:pPr marL="0" indent="0">
              <a:buNone/>
            </a:pPr>
            <a:r>
              <a:rPr lang="en-US" sz="1300" b="1" kern="0" spc="200" dirty="0">
                <a:solidFill>
                  <a:srgbClr val="823DBC"/>
                </a:solidFill>
                <a:latin typeface="Helvetica"/>
              </a:rPr>
              <a:t>NOTAS RELEVANTES</a:t>
            </a:r>
          </a:p>
        </p:txBody>
      </p:sp>
      <p:sp>
        <p:nvSpPr>
          <p:cNvPr id="41" name="Nota1"/>
          <p:cNvSpPr/>
          <p:nvPr/>
        </p:nvSpPr>
        <p:spPr>
          <a:xfrm>
            <a:off x="457200" y="4800600"/>
            <a:ext cx="3617595" cy="1554480"/>
          </a:xfrm>
          <a:prstGeom prst="rect">
            <a:avLst/>
          </a:prstGeom>
          <a:noFill/>
          <a:ln/>
        </p:spPr>
        <p:txBody>
          <a:bodyPr wrap="square" rtlCol="0" anchor="t"/>
          <a:lstStyle/>
          <a:p>
            <a:pPr marL="0" indent="0">
              <a:lnSpc>
                <a:spcPts val="1900"/>
              </a:lnSpc>
              <a:buNone/>
            </a:pPr>
            <a:r>
              <a:rPr lang="en-US" sz="1000" b="1" kern="0" spc="200" dirty="0">
                <a:solidFill>
                  <a:srgbClr val="6B2DA8"/>
                </a:solidFill>
                <a:latin typeface="Helvetica"/>
              </a:rPr>
              <a:t>NOTA 9 · LÍNEA CORFO</a:t>
            </a:r>
          </a:p>
          <a:p>
            <a:pPr marL="0" indent="0">
              <a:lnSpc>
                <a:spcPts val="1900"/>
              </a:lnSpc>
              <a:buNone/>
            </a:pPr>
            <a:r>
              <a:rPr lang="en-US" sz="1000" dirty="0">
                <a:solidFill>
                  <a:srgbClr val="424245"/>
                </a:solidFill>
                <a:latin typeface="Helvetica"/>
              </a:rPr>
              <a:t xml:space="preserve">Línea autorizada por el Comité de Capital de Riesgo el 29-11-2023 hasta 350.000 UF. </a:t>
            </a:r>
          </a:p>
          <a:p>
            <a:pPr marL="0" indent="0">
              <a:lnSpc>
                <a:spcPts val="1900"/>
              </a:lnSpc>
              <a:buNone/>
            </a:pPr>
            <a:r>
              <a:rPr lang="en-US" sz="1000" dirty="0">
                <a:solidFill>
                  <a:srgbClr val="424245"/>
                </a:solidFill>
                <a:latin typeface="Helvetica"/>
              </a:rPr>
              <a:t xml:space="preserve">Al 31-12-2025 utilizadas </a:t>
            </a:r>
            <a:r>
              <a:rPr lang="en-US" sz="1000" b="1" dirty="0">
                <a:solidFill>
                  <a:srgbClr val="1D1D1F"/>
                </a:solidFill>
                <a:latin typeface="Helvetica"/>
              </a:rPr>
              <a:t>55.201 UF</a:t>
            </a:r>
            <a:r>
              <a:rPr lang="en-US" sz="1000" dirty="0">
                <a:solidFill>
                  <a:srgbClr val="424245"/>
                </a:solidFill>
                <a:latin typeface="Helvetica"/>
              </a:rPr>
              <a:t>. Tasa BCU 10a, plazo hasta 12 años.</a:t>
            </a:r>
          </a:p>
        </p:txBody>
      </p:sp>
      <p:sp>
        <p:nvSpPr>
          <p:cNvPr id="42" name="Nota2"/>
          <p:cNvSpPr/>
          <p:nvPr/>
        </p:nvSpPr>
        <p:spPr>
          <a:xfrm>
            <a:off x="4286430" y="4800600"/>
            <a:ext cx="3617595" cy="1554480"/>
          </a:xfrm>
          <a:prstGeom prst="rect">
            <a:avLst/>
          </a:prstGeom>
          <a:noFill/>
          <a:ln/>
        </p:spPr>
        <p:txBody>
          <a:bodyPr wrap="square" rtlCol="0" anchor="t"/>
          <a:lstStyle/>
          <a:p>
            <a:pPr marL="0" indent="0">
              <a:lnSpc>
                <a:spcPts val="1900"/>
              </a:lnSpc>
              <a:buNone/>
            </a:pPr>
            <a:r>
              <a:rPr lang="en-US" sz="1000" b="1" kern="0" spc="200" dirty="0">
                <a:solidFill>
                  <a:srgbClr val="6B2DA8"/>
                </a:solidFill>
                <a:latin typeface="Helvetica"/>
              </a:rPr>
              <a:t>NOTA 10 · CUOTAS Y APORTES</a:t>
            </a:r>
          </a:p>
          <a:p>
            <a:pPr marL="0" indent="0">
              <a:lnSpc>
                <a:spcPts val="1900"/>
              </a:lnSpc>
              <a:buNone/>
            </a:pPr>
            <a:r>
              <a:rPr lang="en-US" sz="1000" dirty="0">
                <a:solidFill>
                  <a:srgbClr val="424245"/>
                </a:solidFill>
                <a:latin typeface="Helvetica"/>
              </a:rPr>
              <a:t xml:space="preserve">Capital inicial </a:t>
            </a:r>
            <a:r>
              <a:rPr lang="en-US" sz="1000" b="1" dirty="0">
                <a:solidFill>
                  <a:srgbClr val="1D1D1F"/>
                </a:solidFill>
                <a:latin typeface="Helvetica"/>
              </a:rPr>
              <a:t>UF 175.000</a:t>
            </a:r>
            <a:r>
              <a:rPr lang="en-US" sz="1000" dirty="0">
                <a:solidFill>
                  <a:srgbClr val="424245"/>
                </a:solidFill>
                <a:latin typeface="Helvetica"/>
              </a:rPr>
              <a:t xml:space="preserve"> · 500 cuotas valor inicial 350 UF.</a:t>
            </a:r>
          </a:p>
          <a:p>
            <a:pPr marL="0" indent="0">
              <a:lnSpc>
                <a:spcPts val="1900"/>
              </a:lnSpc>
              <a:buNone/>
            </a:pPr>
            <a:r>
              <a:rPr lang="en-US" sz="1000" dirty="0">
                <a:solidFill>
                  <a:srgbClr val="424245"/>
                </a:solidFill>
                <a:latin typeface="Helvetica"/>
              </a:rPr>
              <a:t>414 Serie A (aportantes) + 86 Serie B (AFIS). Política de dividendos: hasta 30% de beneficios netos percibidos.</a:t>
            </a:r>
          </a:p>
        </p:txBody>
      </p:sp>
      <p:sp>
        <p:nvSpPr>
          <p:cNvPr id="43" name="Nota3"/>
          <p:cNvSpPr/>
          <p:nvPr/>
        </p:nvSpPr>
        <p:spPr>
          <a:xfrm>
            <a:off x="8115660" y="4800600"/>
            <a:ext cx="3617595" cy="1554480"/>
          </a:xfrm>
          <a:prstGeom prst="rect">
            <a:avLst/>
          </a:prstGeom>
          <a:noFill/>
          <a:ln/>
        </p:spPr>
        <p:txBody>
          <a:bodyPr wrap="square" rtlCol="0" anchor="t"/>
          <a:lstStyle/>
          <a:p>
            <a:pPr marL="0" indent="0">
              <a:lnSpc>
                <a:spcPts val="1900"/>
              </a:lnSpc>
              <a:buNone/>
            </a:pPr>
            <a:r>
              <a:rPr lang="en-US" sz="1000" b="1" kern="0" spc="200" dirty="0">
                <a:solidFill>
                  <a:srgbClr val="6B2DA8"/>
                </a:solidFill>
                <a:latin typeface="Helvetica"/>
              </a:rPr>
              <a:t>NOTAS 12, 14-17 · ADM. Y CIERRE</a:t>
            </a:r>
          </a:p>
          <a:p>
            <a:pPr marL="0" indent="0">
              <a:lnSpc>
                <a:spcPts val="1900"/>
              </a:lnSpc>
              <a:buNone/>
            </a:pPr>
            <a:r>
              <a:rPr lang="en-US" sz="1000" dirty="0">
                <a:solidFill>
                  <a:srgbClr val="424245"/>
                </a:solidFill>
                <a:latin typeface="Helvetica"/>
              </a:rPr>
              <a:t xml:space="preserve">Comisión administración </a:t>
            </a:r>
            <a:r>
              <a:rPr lang="en-US" sz="1000" b="1" dirty="0">
                <a:solidFill>
                  <a:srgbClr val="1D1D1F"/>
                </a:solidFill>
                <a:latin typeface="Helvetica"/>
              </a:rPr>
              <a:t>2,5% + IVA</a:t>
            </a:r>
            <a:r>
              <a:rPr lang="en-US" sz="1000" dirty="0">
                <a:solidFill>
                  <a:srgbClr val="424245"/>
                </a:solidFill>
                <a:latin typeface="Helvetica"/>
              </a:rPr>
              <a:t xml:space="preserve"> sobre aportes suscritos/comprometidos + línea CORFO.</a:t>
            </a:r>
          </a:p>
          <a:p>
            <a:pPr marL="0" indent="0">
              <a:lnSpc>
                <a:spcPts val="1900"/>
              </a:lnSpc>
              <a:buNone/>
            </a:pPr>
            <a:r>
              <a:rPr lang="en-US" sz="1000" dirty="0">
                <a:solidFill>
                  <a:srgbClr val="424245"/>
                </a:solidFill>
                <a:latin typeface="Helvetica"/>
              </a:rPr>
              <a:t>Sin contingencias, juicios, ni sanciones. Sin hechos posteriores relevantes.</a:t>
            </a:r>
          </a:p>
        </p:txBody>
      </p:sp>
      <p:sp>
        <p:nvSpPr>
          <p:cNvPr id="100" name="BotLine"/>
          <p:cNvSpPr/>
          <p:nvPr/>
        </p:nvSpPr>
        <p:spPr>
          <a:xfrm>
            <a:off x="457200" y="6492240"/>
            <a:ext cx="11274552" cy="0"/>
          </a:xfrm>
          <a:prstGeom prst="line">
            <a:avLst/>
          </a:prstGeom>
          <a:noFill/>
          <a:ln w="6350">
            <a:solidFill>
              <a:srgbClr val="D2D2D7"/>
            </a:solidFill>
            <a:prstDash val="solid"/>
          </a:ln>
        </p:spPr>
      </p:sp>
      <p:sp>
        <p:nvSpPr>
          <p:cNvPr id="101" name="FooterL"/>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a:rPr>
              <a:t>FIP CEHTA ESG · RUT 77.751.766-K</a:t>
            </a:r>
          </a:p>
        </p:txBody>
      </p:sp>
      <p:sp>
        <p:nvSpPr>
          <p:cNvPr id="102" name="FooterR"/>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a:rPr>
              <a:t>EEFF auditados · Nattero Auditores · 30 abr 2026</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3152</Words>
  <Application>Microsoft Office PowerPoint</Application>
  <PresentationFormat>Panorámica</PresentationFormat>
  <Paragraphs>378</Paragraphs>
  <Slides>14</Slides>
  <Notes>14</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Georgia</vt:lpstr>
      <vt:lpstr>Helvetica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Administradora de Fondos de la Industria Sostenible 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CEHTA Capital — Asamblea de Aportantes 2026</dc:title>
  <dc:subject>Segunda Asamblea Ordinaria de Aportantes — FIP CEHTA ESG</dc:subject>
  <dc:creator>AFIS S.A.</dc:creator>
  <cp:lastModifiedBy>Nicolas Rietta González</cp:lastModifiedBy>
  <cp:revision>2</cp:revision>
  <dcterms:created xsi:type="dcterms:W3CDTF">2026-05-12T21:48:34Z</dcterms:created>
  <dcterms:modified xsi:type="dcterms:W3CDTF">2026-05-12T21:55:50Z</dcterms:modified>
</cp:coreProperties>
</file>