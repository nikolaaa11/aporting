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70" r:id="rId21"/>
    <p:sldId id="262" r:id="rId8"/>
    <p:sldId id="263" r:id="rId9"/>
    <p:sldId id="271" r:id="rId22"/>
    <p:sldId id="272" r:id="rId23"/>
    <p:sldId id="273" r:id="rId24"/>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06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formal de la segunda Asamblea Ordinaria de Aportantes del FIP CEHTA ESG correspondiente al ejercicio 2025. Saludar a los Aportantes presentes y al representante de CORFO que asiste como observador institucional sin voz ni voto. Confirmar quórum de asistencia conforme al Art. 35 RI. Verificar que los antecedentes hayan sido distribuidos al menos 15 días antes (Art. 39 RI). Recordar que esta es la segunda asamblea ordinaria del Fondo — el Comité de Vigilancia ya está constituido y su remuneración fue fijada en la primera asamblea, por lo que el foco de hoy es presentar avances 2025 y proyecciones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brevemente la agenda con los Aportantes y el observador de CORFO. Destacar que la sesión está estructurada en siete bloques con tiempos asignados, totalizando aproximadamente 35 minutos más espacio para preguntas. Confirmar que no haya materias adicionales que algún Aportante quiera incorporar bajo el punto 07 "Otros asuntos". Si las hubiera, anotarlas y asignarles tiempo dentro del bloque final.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Introducir el bloque de avances 2025. Recordar a los Aportantes que en la asamblea anterior se definió un plan estratégico de cinco pilares, y que durante 2025 se priorizó la ejecución de tres de ellos. Los otros dos (búsqueda de deuda y consolidación de exclusividades adicionales) están dentro del foco para 2026. En las siguientes tres slides se detalla el avance específico de cada pilar ejecutado.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Detallar el avance del Pilar 1 — Exclusividad de la tecnología sueca. Explicar que durante 2025 se cerró el acuerdo de licenciamiento exclusivo territorial para Chile y Latinoamérica, formalizado mediante contratos y NDAs robustos. Las portfolio companies ya están en proceso de transferencia técnica y adaptación a la normativa local. Enfatizar el valor estratégico: la exclusividad es una barrera defensiva real frente a competidores. Si los Aportantes preguntan por detalles del titular tecnológico o cláusulas específicas, indicar que esa información está disponible bajo el marco de confidencialidad del Fondo.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2 — Obtención de subsidios. Explicar las cuatro instituciones donde el Fondo y sus portfolio companies han generado articulación durante 2025: CORFO (con varias líneas activas en ejecución), ANID (proyectos de I+D en postulación), Ministerio de Energía (programas de energías renovables no convencionales) y Ministerio del Medio Ambiente (economía circular). Recalcar el impacto estratégico: los subsidios son recursos no dilutivos que reducen el costo de capital, aceleran hitos y validan institucionalmente los proyectos. No mencionar cifras específicas adjudicadas — eso queda para los Estados Financieros que se presentarán más adelante en la sesión.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3 — Avanzar proyectos Ready-to-Build. Comenzar explicando que Ready-to-Build es el estado donde un proyecto está completamente preparado para iniciar construcción: ingeniería terminada, permisos obtenidos, terrenos asegurados y contratos firmados. Es el punto de máximo valor antes de capital de construcción. Durante 2025 el foco estuvo en Evoque Energy (proyectos de valorización de carbonato de calcio) y Rho Generación (6 proyectos energéticos sumando +150 MW). Mencionar que el avance Ready-to-Build abre la puerta a financiamiento estructurado y a la entrada de socios estratégicos, lo cual conecta directamente con el Pilar 5 — búsqueda de deuda nacional, que se aborda en la sección de Objetivos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 placeholder que será reemplazado por los Estados Financieros 2025 una vez recibidos del auditor externo. Cuando se inserten los EEFF formales, esta slide debe convertirse en una o dos slides con: (1) cuadro resumen de activos, pasivos y patrimonio del FIP CEHTA ESG; (2) resultado del ejercicio con explicación del método de participación aplicado a las portfolio companies (lo cual contablemente genera pérdida pero refleja inversión en construcción de valor); (3) referencia al dictamen del auditor externo y su tipo (sin salvedades, con salvedades, etc.); (4) operaciones con relacionadas conforme a Art. 41-43 RI. Recordar a los Aportantes el principio Art. 93 Ley N° 20.712: no se proyectan retornos ni se promocionan rentabilidades; la presentación es estrictamente informativa sobre la gestión del ejercicio.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Reportar la actividad del Comité de Vigilancia durante el ejercicio 2025. Detallar el número de sesiones realizadas, las operaciones revisadas, la verificación de información a Aportantes, y la propuesta formal de terna de auditores externos para 2026 (que se aborda en la siguiente slide). Recordar la composición y características del Comité según el Reglamento Interno protocolizado: 3 titulares (al menos uno inscrito en Registro de Directores de la Superintendencia de Pensiones), 2 suplentes, todos no relacionados con AFIS, con declaración jurada al efecto, mandato de un año reelegible. Si los Aportantes piden detalles específicos de operaciones revisadas, ofrecer copia del acta del Comité bajo confidencialidad.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 decisoria de la Asamblea: designación de la firma de auditoría externa para el ejercicio 2026. Explicar el procedimiento en cascada: el Comité de Vigilancia es el órgano que propone la terna (no la Administradora ni los Aportantes directamente), la Asamblea evalúa y vota, y luego AFIS contrata formalmente. Presentar las tres opciones de la terna: PKF/BLE, Surlatina/Crowe, Russell Bedford/Baker Tilly. Todas son firmas inscritas en el registro especial de la CMF. La decisión se toma por mayoría absoluta de los presentes o representados. Si algún Aportante quiere conocer los detalles técnicos y económicos de las propuestas, indicar que están disponibles bajo confidencialidad. Una vez votada la firma elegida, registrar en acta y proceder a la formalización del contrato.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bloque de Objetivos 2026. Encadenar con el cierre del bloque anterior: los avances 2025 dejan al Fondo en condición de activar los dos pilares restantes del plan original. Presentar los tres focos para el próximo ciclo: (1) búsqueda de deuda nacional con bancos chilenos para escalar inversión, (2) apertura a financiamiento internacional con énfasis en bancos chinos y contrapartes con presencia en Chile, (3) avance específico de hitos por cada portfolio company. Las siguientes tres slides detallan cada uno de estos focos.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primer objetivo 2026: búsqueda de deuda nacional. Explicar que el Fondo necesita complementar el capital propio y los subsidios con deuda estructurada para escalar inversión en las portfolio companies, particularmente en aquellas que están alcanzando estado Ready-to-Build (Evoque, Rho). Detallar la estrategia: deuda estructurada a nivel de proyecto (SpV), no a nivel del Fondo, lo cual protege el balance del FIP. Las contrapartes objetivo son bancos chilenos con apetito ESG: Banco Estado, BICE, Santander, BCI, más los bancos chinos con presencia local (Bank of China Chile e ICBC Chile) como puente al objetivo internacional que se detalla en la siguiente slide. Las garantías y estructuras serán específicas según el banco y el proyecto.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segundo objetivo 2026: financiamiento internacional con énfasis en contrapartes chinas. Explicar que CEHTA tiene un posicionamiento institucional especial como puente entre Chile y China gracias al perfil ESG y a las relaciones ya iniciadas. Las cuatro categorías de contraparte trabajadas son: (1) BANCOS: Bank of China, ICBC, China Merchants Bank, tanto en sus filiales locales como en sus matrices; (2) PROVEEDORES con vendor financing: Cospower, SIEYUAN, JINKO, SANY, especialmente para proyectos BESS y solares; (3) ASEGURADORAS: SINOSURE para cobertura de riesgo país, instrumento clave para destrabar deuda a tasas competitivas; (4) GUBERNAMENTAL: Misión Comercial, Prochile, Embajada como facilitadores de relación. Mencionar que las negociaciones se realizan bajo NDAs estrictos y que cualquier detalle específico está sujeto a confidencialidad. Recordar el principio compliance: no se prometen retornos ni se anticipan cierres que no estén formalizados.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objetivo 2026: avance específico por portfolio company. Presentar la tabla con las seis compañías del portfolio, el sector de cada una y el hito prioritario para el año. Recalcar que Evoque Energy tiene un seguimiento prioritario por ser la única empresa donde el Fondo tiene posición mayoritaria (&gt;50% de participación). Por la misma razón, los hitos de Evoque son los que más impactan la valorización del Fondo. Las otras cinco empresas tienen participación minoritaria (alrededor de 85%) pero el Fondo no es controlador. Si los Aportantes preguntan por hitos específicos o por situación particular de alguna compañía, ofrecer profundizar al cierre o en reuniones individuales con la Administradora.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formal de la Asamblea. Agradecer la asistencia de los Aportantes y del representante de CORFO. Abrir el espacio para preguntas y otros asuntos (punto 07 de la agenda). Confirmar que el acta de la sesión será preparada, circulada y firmada conforme al Reglamento Interno. Recordar que cualquier consulta adicional puede dirigirse a info@cehtacapital.com o a la Administradora directamente. Cerrar la sesión formalmente registrando hora de término.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3" Type="http://schemas.openxmlformats.org/officeDocument/2006/relationships/image" Target="../media/logo_cehta.png"/><Relationship Id="rId4" Type="http://schemas.openxmlformats.org/officeDocument/2006/relationships/image" Target="../media/logo_corfo.png"/></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3" Type="http://schemas.openxmlformats.org/officeDocument/2006/relationships/image" Target="../media/logo_csl.png"/><Relationship Id="rId4" Type="http://schemas.openxmlformats.org/officeDocument/2006/relationships/image" Target="../media/logo_csl.png"/><Relationship Id="rId5" Type="http://schemas.openxmlformats.org/officeDocument/2006/relationships/image" Target="../media/logo_rho.png"/><Relationship Id="rId6" Type="http://schemas.openxmlformats.org/officeDocument/2006/relationships/image" Target="../media/logo_dte.png"/><Relationship Id="rId7" Type="http://schemas.openxmlformats.org/officeDocument/2006/relationships/image" Target="../media/logo_revtech.png"/><Relationship Id="rId8" Type="http://schemas.openxmlformats.org/officeDocument/2006/relationships/image" Target="../media/logo_evoque.png"/><Relationship Id="rId9" Type="http://schemas.openxmlformats.org/officeDocument/2006/relationships/image" Target="../media/logo_trongkai.png"/></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3" Type="http://schemas.openxmlformats.org/officeDocument/2006/relationships/image" Target="../media/logo_cehta_white.png"/><Relationship Id="rId4" Type="http://schemas.openxmlformats.org/officeDocument/2006/relationships/image" Target="../media/logo_cmf.png"/><Relationship Id="rId5" Type="http://schemas.openxmlformats.org/officeDocument/2006/relationships/image" Target="../media/logo_cmf.png"/><Relationship Id="rId6" Type="http://schemas.openxmlformats.org/officeDocument/2006/relationships/image" Target="../media/logo_uaf.jpeg"/><Relationship Id="rId7" Type="http://schemas.openxmlformats.org/officeDocument/2006/relationships/image" Target="../media/logo_corfo.png"/><Relationship Id="rId8" Type="http://schemas.openxmlformats.org/officeDocument/2006/relationships/image" Target="../media/logo_cmf.png"/><Relationship Id="rId9" Type="http://schemas.openxmlformats.org/officeDocument/2006/relationships/image" Target="../media/logo_uaf.jpe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flipV="1">
            <a:off x="0" y="0"/>
            <a:ext cx="3200400" cy="1645920"/>
          </a:xfrm>
          <a:prstGeom prst="rtTriangle">
            <a:avLst/>
          </a:prstGeom>
          <a:solidFill>
            <a:srgbClr val="EEEDFE">
              <a:alpha val="65000"/>
            </a:srgbClr>
          </a:solidFill>
          <a:ln/>
        </p:spPr>
      </p:sp>
      <p:sp>
        <p:nvSpPr>
          <p:cNvPr id="3" name="Shape 1"/>
          <p:cNvSpPr/>
          <p:nvPr/>
        </p:nvSpPr>
        <p:spPr>
          <a:xfrm>
            <a:off x="9144000" y="0"/>
            <a:ext cx="3044952" cy="2011680"/>
          </a:xfrm>
          <a:prstGeom prst="rtTriangle">
            <a:avLst/>
          </a:prstGeom>
          <a:solidFill>
            <a:srgbClr val="EEEDFE">
              <a:alpha val="50000"/>
            </a:srgbClr>
          </a:solidFill>
          <a:ln/>
        </p:spPr>
      </p:sp>
      <p:sp>
        <p:nvSpPr>
          <p:cNvPr id="7" name="Text 5"/>
          <p:cNvSpPr/>
          <p:nvPr/>
        </p:nvSpPr>
        <p:spPr>
          <a:xfrm>
            <a:off x="457200" y="1828800"/>
            <a:ext cx="10972800" cy="274320"/>
          </a:xfrm>
          <a:prstGeom prst="rect">
            <a:avLst/>
          </a:prstGeom>
          <a:noFill/>
          <a:ln/>
        </p:spPr>
        <p:txBody>
          <a:bodyPr wrap="square" rtlCol="0" anchor="ctr"/>
          <a:lstStyle/>
          <a:p>
            <a:pPr marL="0" indent="0">
              <a:buNone/>
            </a:pPr>
            <a:r>
              <a:rPr lang="en-US" sz="1100" b="1" kern="0" spc="400" dirty="0">
                <a:solidFill>
                  <a:srgbClr val="823DBC"/>
                </a:solidFill>
                <a:latin typeface="Helvetica" pitchFamily="34" charset="0"/>
                <a:ea typeface="Helvetica" pitchFamily="34" charset="-122"/>
                <a:cs typeface="Helvetica" pitchFamily="34" charset="-120"/>
              </a:rPr>
              <a:t>DOCUMENTO PREPARATORIO · USO INTERNO</a:t>
            </a:r>
            <a:endParaRPr lang="en-US" sz="1100" dirty="0"/>
          </a:p>
        </p:txBody>
      </p:sp>
      <p:sp>
        <p:nvSpPr>
          <p:cNvPr id="8" name="Text 6"/>
          <p:cNvSpPr/>
          <p:nvPr/>
        </p:nvSpPr>
        <p:spPr>
          <a:xfrm>
            <a:off x="457200" y="2194560"/>
            <a:ext cx="10972800" cy="914400"/>
          </a:xfrm>
          <a:prstGeom prst="rect">
            <a:avLst/>
          </a:prstGeom>
          <a:noFill/>
          <a:ln/>
        </p:spPr>
        <p:txBody>
          <a:bodyPr wrap="square" rtlCol="0" anchor="ctr"/>
          <a:lstStyle/>
          <a:p>
            <a:pPr marL="0" indent="0">
              <a:buNone/>
            </a:pPr>
            <a:r>
              <a:rPr lang="en-US" sz="6400" i="1" dirty="0">
                <a:solidFill>
                  <a:srgbClr val="1D1D1F"/>
                </a:solidFill>
                <a:latin typeface="Georgia" pitchFamily="34" charset="0"/>
                <a:ea typeface="Georgia" pitchFamily="34" charset="-122"/>
                <a:cs typeface="Georgia" pitchFamily="34" charset="-120"/>
              </a:rPr>
              <a:t>Asamblea de</a:t>
            </a:r>
            <a:endParaRPr lang="en-US" sz="6400" dirty="0"/>
          </a:p>
        </p:txBody>
      </p:sp>
      <p:sp>
        <p:nvSpPr>
          <p:cNvPr id="9" name="Text 7"/>
          <p:cNvSpPr/>
          <p:nvPr/>
        </p:nvSpPr>
        <p:spPr>
          <a:xfrm>
            <a:off x="457200" y="3017520"/>
            <a:ext cx="10972800" cy="914400"/>
          </a:xfrm>
          <a:prstGeom prst="rect">
            <a:avLst/>
          </a:prstGeom>
          <a:noFill/>
          <a:ln/>
        </p:spPr>
        <p:txBody>
          <a:bodyPr wrap="square" rtlCol="0" anchor="ctr"/>
          <a:lstStyle/>
          <a:p>
            <a:pPr marL="0" indent="0">
              <a:buNone/>
            </a:pPr>
            <a:r>
              <a:rPr lang="en-US" sz="6600" b="1" dirty="0">
                <a:solidFill>
                  <a:srgbClr val="4D0F96"/>
                </a:solidFill>
                <a:latin typeface="Helvetica" pitchFamily="34" charset="0"/>
                <a:ea typeface="Helvetica" pitchFamily="34" charset="-122"/>
                <a:cs typeface="Helvetica" pitchFamily="34" charset="-120"/>
              </a:rPr>
              <a:t>Aportantes 2026</a:t>
            </a:r>
            <a:endParaRPr lang="en-US" sz="6600" dirty="0"/>
          </a:p>
        </p:txBody>
      </p:sp>
      <p:sp>
        <p:nvSpPr>
          <p:cNvPr id="10" name="Shape 8"/>
          <p:cNvSpPr/>
          <p:nvPr/>
        </p:nvSpPr>
        <p:spPr>
          <a:xfrm>
            <a:off x="457200" y="3977640"/>
            <a:ext cx="3200400" cy="54864"/>
          </a:xfrm>
          <a:prstGeom prst="rect">
            <a:avLst/>
          </a:prstGeom>
          <a:solidFill>
            <a:srgbClr val="2C74FF"/>
          </a:solidFill>
          <a:ln/>
        </p:spPr>
      </p:sp>
      <p:sp>
        <p:nvSpPr>
          <p:cNvPr id="11" name="Shape 9"/>
          <p:cNvSpPr/>
          <p:nvPr/>
        </p:nvSpPr>
        <p:spPr>
          <a:xfrm>
            <a:off x="3749040" y="3977640"/>
            <a:ext cx="731520" cy="54864"/>
          </a:xfrm>
          <a:prstGeom prst="rect">
            <a:avLst/>
          </a:prstGeom>
          <a:solidFill>
            <a:srgbClr val="823DBC"/>
          </a:solidFill>
          <a:ln/>
        </p:spPr>
      </p:sp>
      <p:sp>
        <p:nvSpPr>
          <p:cNvPr id="12" name="Shape 10"/>
          <p:cNvSpPr/>
          <p:nvPr/>
        </p:nvSpPr>
        <p:spPr>
          <a:xfrm>
            <a:off x="4572000" y="3977640"/>
            <a:ext cx="228600" cy="54864"/>
          </a:xfrm>
          <a:prstGeom prst="rect">
            <a:avLst/>
          </a:prstGeom>
          <a:solidFill>
            <a:srgbClr val="4D0F96"/>
          </a:solidFill>
          <a:ln/>
        </p:spPr>
      </p:sp>
      <p:sp>
        <p:nvSpPr>
          <p:cNvPr id="13" name="Text 11"/>
          <p:cNvSpPr/>
          <p:nvPr/>
        </p:nvSpPr>
        <p:spPr>
          <a:xfrm>
            <a:off x="457200" y="4160520"/>
            <a:ext cx="10972800" cy="457200"/>
          </a:xfrm>
          <a:prstGeom prst="rect">
            <a:avLst/>
          </a:prstGeom>
          <a:noFill/>
          <a:ln/>
        </p:spPr>
        <p:txBody>
          <a:bodyPr wrap="square" rtlCol="0" anchor="ctr"/>
          <a:lstStyle/>
          <a:p>
            <a:pPr marL="0" indent="0">
              <a:buNone/>
            </a:pPr>
            <a:r>
              <a:rPr lang="en-US" sz="2200" i="1" dirty="0">
                <a:solidFill>
                  <a:srgbClr val="424245"/>
                </a:solidFill>
                <a:latin typeface="Georgia" pitchFamily="34" charset="0"/>
                <a:ea typeface="Georgia" pitchFamily="34" charset="-122"/>
                <a:cs typeface="Georgia" pitchFamily="34" charset="-120"/>
              </a:rPr>
              <a:t>Segunda Asamblea Ordinaria · Ejercicio 2025</a:t>
            </a:r>
            <a:endParaRPr lang="en-US" sz="2200" dirty="0"/>
          </a:p>
        </p:txBody>
      </p:sp>
      <p:sp>
        <p:nvSpPr>
          <p:cNvPr id="14" name="Text 12"/>
          <p:cNvSpPr/>
          <p:nvPr/>
        </p:nvSpPr>
        <p:spPr>
          <a:xfrm>
            <a:off x="45720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EJERCICIO</a:t>
            </a:r>
            <a:endParaRPr lang="en-US" sz="900" dirty="0"/>
          </a:p>
        </p:txBody>
      </p:sp>
      <p:sp>
        <p:nvSpPr>
          <p:cNvPr id="15" name="Text 13"/>
          <p:cNvSpPr/>
          <p:nvPr/>
        </p:nvSpPr>
        <p:spPr>
          <a:xfrm>
            <a:off x="45720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2025</a:t>
            </a:r>
            <a:endParaRPr lang="en-US" sz="3600" dirty="0"/>
          </a:p>
        </p:txBody>
      </p:sp>
      <p:sp>
        <p:nvSpPr>
          <p:cNvPr id="16" name="Shape 14"/>
          <p:cNvSpPr/>
          <p:nvPr/>
        </p:nvSpPr>
        <p:spPr>
          <a:xfrm>
            <a:off x="457200" y="5852160"/>
            <a:ext cx="1188720" cy="0"/>
          </a:xfrm>
          <a:prstGeom prst="line">
            <a:avLst/>
          </a:prstGeom>
          <a:noFill/>
          <a:ln w="6350">
            <a:solidFill>
              <a:srgbClr val="4D0F96"/>
            </a:solidFill>
            <a:prstDash val="solid"/>
          </a:ln>
        </p:spPr>
      </p:sp>
      <p:sp>
        <p:nvSpPr>
          <p:cNvPr id="17" name="Text 15"/>
          <p:cNvSpPr/>
          <p:nvPr/>
        </p:nvSpPr>
        <p:spPr>
          <a:xfrm>
            <a:off x="45720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Cierre 31·12·2025</a:t>
            </a:r>
            <a:endParaRPr lang="en-US" sz="1100" dirty="0"/>
          </a:p>
        </p:txBody>
      </p:sp>
      <p:sp>
        <p:nvSpPr>
          <p:cNvPr id="18" name="Text 16"/>
          <p:cNvSpPr/>
          <p:nvPr/>
        </p:nvSpPr>
        <p:spPr>
          <a:xfrm>
            <a:off x="338328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ASAMBLEA</a:t>
            </a:r>
            <a:endParaRPr lang="en-US" sz="900" dirty="0"/>
          </a:p>
        </p:txBody>
      </p:sp>
      <p:sp>
        <p:nvSpPr>
          <p:cNvPr id="19" name="Text 17"/>
          <p:cNvSpPr/>
          <p:nvPr/>
        </p:nvSpPr>
        <p:spPr>
          <a:xfrm>
            <a:off x="338328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22·05</a:t>
            </a:r>
            <a:endParaRPr lang="en-US" sz="3600" dirty="0"/>
          </a:p>
        </p:txBody>
      </p:sp>
      <p:sp>
        <p:nvSpPr>
          <p:cNvPr id="20" name="Shape 18"/>
          <p:cNvSpPr/>
          <p:nvPr/>
        </p:nvSpPr>
        <p:spPr>
          <a:xfrm>
            <a:off x="3383280" y="5852160"/>
            <a:ext cx="1188720" cy="0"/>
          </a:xfrm>
          <a:prstGeom prst="line">
            <a:avLst/>
          </a:prstGeom>
          <a:noFill/>
          <a:ln w="6350">
            <a:solidFill>
              <a:srgbClr val="4D0F96"/>
            </a:solidFill>
            <a:prstDash val="solid"/>
          </a:ln>
        </p:spPr>
      </p:sp>
      <p:sp>
        <p:nvSpPr>
          <p:cNvPr id="21" name="Text 19"/>
          <p:cNvSpPr/>
          <p:nvPr/>
        </p:nvSpPr>
        <p:spPr>
          <a:xfrm>
            <a:off x="338328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Viernes, 10:00 hrs</a:t>
            </a:r>
            <a:endParaRPr lang="en-US" sz="1100" dirty="0"/>
          </a:p>
        </p:txBody>
      </p:sp>
      <p:sp>
        <p:nvSpPr>
          <p:cNvPr id="22" name="Text 20"/>
          <p:cNvSpPr/>
          <p:nvPr/>
        </p:nvSpPr>
        <p:spPr>
          <a:xfrm>
            <a:off x="630936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MATERIAS</a:t>
            </a:r>
            <a:endParaRPr lang="en-US" sz="900" dirty="0"/>
          </a:p>
        </p:txBody>
      </p:sp>
      <p:sp>
        <p:nvSpPr>
          <p:cNvPr id="23" name="Text 21"/>
          <p:cNvSpPr/>
          <p:nvPr/>
        </p:nvSpPr>
        <p:spPr>
          <a:xfrm>
            <a:off x="630936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05</a:t>
            </a:r>
            <a:endParaRPr lang="en-US" sz="3600" dirty="0"/>
          </a:p>
        </p:txBody>
      </p:sp>
      <p:sp>
        <p:nvSpPr>
          <p:cNvPr id="24" name="Shape 22"/>
          <p:cNvSpPr/>
          <p:nvPr/>
        </p:nvSpPr>
        <p:spPr>
          <a:xfrm>
            <a:off x="6309360" y="5852160"/>
            <a:ext cx="1188720" cy="0"/>
          </a:xfrm>
          <a:prstGeom prst="line">
            <a:avLst/>
          </a:prstGeom>
          <a:noFill/>
          <a:ln w="6350">
            <a:solidFill>
              <a:srgbClr val="4D0F96"/>
            </a:solidFill>
            <a:prstDash val="solid"/>
          </a:ln>
        </p:spPr>
      </p:sp>
      <p:sp>
        <p:nvSpPr>
          <p:cNvPr id="25" name="Text 23"/>
          <p:cNvSpPr/>
          <p:nvPr/>
        </p:nvSpPr>
        <p:spPr>
          <a:xfrm>
            <a:off x="630936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RI</a:t>
            </a:r>
            <a:endParaRPr lang="en-US" sz="1100" dirty="0"/>
          </a:p>
        </p:txBody>
      </p:sp>
      <p:sp>
        <p:nvSpPr>
          <p:cNvPr id="26" name="Text 24"/>
          <p:cNvSpPr/>
          <p:nvPr/>
        </p:nvSpPr>
        <p:spPr>
          <a:xfrm>
            <a:off x="923544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OBSERVADOR</a:t>
            </a:r>
            <a:endParaRPr lang="en-US" sz="900" dirty="0"/>
          </a:p>
        </p:txBody>
      </p:sp>
      <p:sp>
        <p:nvSpPr>
          <p:cNvPr id="27" name="Text 25"/>
          <p:cNvSpPr/>
          <p:nvPr/>
        </p:nvSpPr>
        <p:spPr>
          <a:xfrm>
            <a:off x="9235440" y="5303520"/>
            <a:ext cx="2377440" cy="502920"/>
          </a:xfrm>
          <a:prstGeom prst="rect">
            <a:avLst/>
          </a:prstGeom>
          <a:noFill/>
          <a:ln/>
        </p:spPr>
        <p:txBody>
          <a:bodyPr wrap="square" rtlCol="0" anchor="ctr"/>
          <a:lstStyle/>
          <a:p>
            <a:pPr marL="0" indent="0">
              <a:buNone/>
            </a:pPr>
            <a:r>
              <a:rPr lang="en-US" sz="3000" b="1" dirty="0">
                <a:solidFill>
                  <a:srgbClr val="4D0F96"/>
                </a:solidFill>
                <a:latin typeface="Georgia" pitchFamily="34" charset="0"/>
                <a:ea typeface="Georgia" pitchFamily="34" charset="-122"/>
                <a:cs typeface="Georgia" pitchFamily="34" charset="-120"/>
              </a:rPr>
              <a:t>CORFO</a:t>
            </a:r>
            <a:endParaRPr lang="en-US" sz="3000" dirty="0"/>
          </a:p>
        </p:txBody>
      </p:sp>
      <p:sp>
        <p:nvSpPr>
          <p:cNvPr id="28" name="Shape 26"/>
          <p:cNvSpPr/>
          <p:nvPr/>
        </p:nvSpPr>
        <p:spPr>
          <a:xfrm>
            <a:off x="9235440" y="5852160"/>
            <a:ext cx="1188720" cy="0"/>
          </a:xfrm>
          <a:prstGeom prst="line">
            <a:avLst/>
          </a:prstGeom>
          <a:noFill/>
          <a:ln w="6350">
            <a:solidFill>
              <a:srgbClr val="4D0F96"/>
            </a:solidFill>
            <a:prstDash val="solid"/>
          </a:ln>
        </p:spPr>
      </p:sp>
      <p:sp>
        <p:nvSpPr>
          <p:cNvPr id="29" name="Text 27"/>
          <p:cNvSpPr/>
          <p:nvPr/>
        </p:nvSpPr>
        <p:spPr>
          <a:xfrm>
            <a:off x="923544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Sin voz ni voto</a:t>
            </a:r>
            <a:endParaRPr lang="en-US" sz="1100" dirty="0"/>
          </a:p>
        </p:txBody>
      </p:sp>
      <p:sp>
        <p:nvSpPr>
          <p:cNvPr id="30" name="Text 28"/>
          <p:cNvSpPr/>
          <p:nvPr/>
        </p:nvSpPr>
        <p:spPr>
          <a:xfrm>
            <a:off x="457200" y="6583680"/>
            <a:ext cx="10972800" cy="182880"/>
          </a:xfrm>
          <a:prstGeom prst="rect">
            <a:avLst/>
          </a:prstGeom>
          <a:noFill/>
          <a:ln/>
        </p:spPr>
        <p:txBody>
          <a:bodyPr wrap="square" rtlCol="0" anchor="ctr"/>
          <a:lstStyle/>
          <a:p>
            <a:pPr marL="0" indent="0" algn="l">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pic>
        <p:nvPicPr>
          <p:cNvPr id="31" name="Cehta logo"/>
          <p:cNvPicPr>
            <a:picLocks noChangeAspect="1"/>
          </p:cNvPicPr>
          <p:nvPr/>
        </p:nvPicPr>
        <p:blipFill>
          <a:blip r:embed="rId3"/>
          <a:stretch>
            <a:fillRect/>
          </a:stretch>
        </p:blipFill>
        <p:spPr>
          <a:xfrm>
            <a:off x="457200" y="329184"/>
            <a:ext cx="1305163" cy="548640"/>
          </a:xfrm>
          <a:prstGeom prst="rect">
            <a:avLst/>
          </a:prstGeom>
        </p:spPr>
      </p:pic>
      <p:pic>
        <p:nvPicPr>
          <p:cNvPr id="32" name="CORFO logo"/>
          <p:cNvPicPr>
            <a:picLocks noChangeAspect="1"/>
          </p:cNvPicPr>
          <p:nvPr/>
        </p:nvPicPr>
        <p:blipFill>
          <a:blip r:embed="rId4"/>
          <a:stretch>
            <a:fillRect/>
          </a:stretch>
        </p:blipFill>
        <p:spPr>
          <a:xfrm>
            <a:off x="10779760" y="329184"/>
            <a:ext cx="650240" cy="3657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02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MEETING AGENDA · Materias a tratar</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Materias a tratar</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011680"/>
            <a:ext cx="11274552" cy="0"/>
          </a:xfrm>
          <a:prstGeom prst="line">
            <a:avLst/>
          </a:prstGeom>
          <a:noFill/>
          <a:ln w="6350">
            <a:solidFill>
              <a:srgbClr val="D2D2D7"/>
            </a:solidFill>
            <a:prstDash val="solid"/>
          </a:ln>
        </p:spPr>
      </p:sp>
      <p:sp>
        <p:nvSpPr>
          <p:cNvPr id="10" name="Text 8"/>
          <p:cNvSpPr/>
          <p:nvPr/>
        </p:nvSpPr>
        <p:spPr>
          <a:xfrm>
            <a:off x="548640" y="210312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01</a:t>
            </a:r>
            <a:endParaRPr lang="en-US" sz="1800" dirty="0"/>
          </a:p>
        </p:txBody>
      </p:sp>
      <p:sp>
        <p:nvSpPr>
          <p:cNvPr id="11" name="Text 9"/>
          <p:cNvSpPr/>
          <p:nvPr/>
        </p:nvSpPr>
        <p:spPr>
          <a:xfrm>
            <a:off x="1280160" y="205740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Apertura y verificación de quórum</a:t>
            </a:r>
            <a:endParaRPr lang="en-US" sz="1500" dirty="0"/>
          </a:p>
        </p:txBody>
      </p:sp>
      <p:sp>
        <p:nvSpPr>
          <p:cNvPr id="12" name="Text 10"/>
          <p:cNvSpPr/>
          <p:nvPr/>
        </p:nvSpPr>
        <p:spPr>
          <a:xfrm>
            <a:off x="1280160" y="230428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35 RI</a:t>
            </a:r>
            <a:endParaRPr lang="en-US" sz="1100" dirty="0"/>
          </a:p>
        </p:txBody>
      </p:sp>
      <p:sp>
        <p:nvSpPr>
          <p:cNvPr id="13" name="Text 11"/>
          <p:cNvSpPr/>
          <p:nvPr/>
        </p:nvSpPr>
        <p:spPr>
          <a:xfrm>
            <a:off x="10058400" y="214884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5 min</a:t>
            </a:r>
            <a:endParaRPr lang="en-US" sz="1100" dirty="0"/>
          </a:p>
        </p:txBody>
      </p:sp>
      <p:sp>
        <p:nvSpPr>
          <p:cNvPr id="14" name="Shape 12"/>
          <p:cNvSpPr/>
          <p:nvPr/>
        </p:nvSpPr>
        <p:spPr>
          <a:xfrm>
            <a:off x="457200" y="2578608"/>
            <a:ext cx="11274552" cy="0"/>
          </a:xfrm>
          <a:prstGeom prst="line">
            <a:avLst/>
          </a:prstGeom>
          <a:noFill/>
          <a:ln w="6350">
            <a:solidFill>
              <a:srgbClr val="D2D2D7"/>
            </a:solidFill>
            <a:prstDash val="solid"/>
          </a:ln>
        </p:spPr>
      </p:sp>
      <p:sp>
        <p:nvSpPr>
          <p:cNvPr id="15" name="Text 13"/>
          <p:cNvSpPr/>
          <p:nvPr/>
        </p:nvSpPr>
        <p:spPr>
          <a:xfrm>
            <a:off x="548640" y="267004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02</a:t>
            </a:r>
            <a:endParaRPr lang="en-US" sz="1800" dirty="0"/>
          </a:p>
        </p:txBody>
      </p:sp>
      <p:sp>
        <p:nvSpPr>
          <p:cNvPr id="16" name="Text 14"/>
          <p:cNvSpPr/>
          <p:nvPr/>
        </p:nvSpPr>
        <p:spPr>
          <a:xfrm>
            <a:off x="1280160" y="262432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Avances 2025: repaso estratégico</a:t>
            </a:r>
            <a:endParaRPr lang="en-US" sz="1500" dirty="0"/>
          </a:p>
        </p:txBody>
      </p:sp>
      <p:sp>
        <p:nvSpPr>
          <p:cNvPr id="17" name="Text 15"/>
          <p:cNvSpPr/>
          <p:nvPr/>
        </p:nvSpPr>
        <p:spPr>
          <a:xfrm>
            <a:off x="1280160" y="287121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3 pilares ejecutados</a:t>
            </a:r>
            <a:endParaRPr lang="en-US" sz="1100" dirty="0"/>
          </a:p>
        </p:txBody>
      </p:sp>
      <p:sp>
        <p:nvSpPr>
          <p:cNvPr id="18" name="Text 16"/>
          <p:cNvSpPr/>
          <p:nvPr/>
        </p:nvSpPr>
        <p:spPr>
          <a:xfrm>
            <a:off x="10058400" y="271576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8 min</a:t>
            </a:r>
            <a:endParaRPr lang="en-US" sz="1100" dirty="0"/>
          </a:p>
        </p:txBody>
      </p:sp>
      <p:sp>
        <p:nvSpPr>
          <p:cNvPr id="19" name="Shape 17"/>
          <p:cNvSpPr/>
          <p:nvPr/>
        </p:nvSpPr>
        <p:spPr>
          <a:xfrm>
            <a:off x="457200" y="3145536"/>
            <a:ext cx="11274552" cy="0"/>
          </a:xfrm>
          <a:prstGeom prst="line">
            <a:avLst/>
          </a:prstGeom>
          <a:noFill/>
          <a:ln w="6350">
            <a:solidFill>
              <a:srgbClr val="D2D2D7"/>
            </a:solidFill>
            <a:prstDash val="solid"/>
          </a:ln>
        </p:spPr>
      </p:sp>
      <p:sp>
        <p:nvSpPr>
          <p:cNvPr id="20" name="Text 18"/>
          <p:cNvSpPr/>
          <p:nvPr/>
        </p:nvSpPr>
        <p:spPr>
          <a:xfrm>
            <a:off x="548640" y="3236976"/>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03</a:t>
            </a:r>
            <a:endParaRPr lang="en-US" sz="1800" dirty="0"/>
          </a:p>
        </p:txBody>
      </p:sp>
      <p:sp>
        <p:nvSpPr>
          <p:cNvPr id="21" name="Text 19"/>
          <p:cNvSpPr/>
          <p:nvPr/>
        </p:nvSpPr>
        <p:spPr>
          <a:xfrm>
            <a:off x="1280160" y="3191256"/>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Informe de gestión y estados financieros</a:t>
            </a:r>
            <a:endParaRPr lang="en-US" sz="1500" dirty="0"/>
          </a:p>
        </p:txBody>
      </p:sp>
      <p:sp>
        <p:nvSpPr>
          <p:cNvPr id="22" name="Text 20"/>
          <p:cNvSpPr/>
          <p:nvPr/>
        </p:nvSpPr>
        <p:spPr>
          <a:xfrm>
            <a:off x="1280160" y="3438144"/>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(1) RI</a:t>
            </a:r>
            <a:endParaRPr lang="en-US" sz="1100" dirty="0"/>
          </a:p>
        </p:txBody>
      </p:sp>
      <p:sp>
        <p:nvSpPr>
          <p:cNvPr id="23" name="Text 21"/>
          <p:cNvSpPr/>
          <p:nvPr/>
        </p:nvSpPr>
        <p:spPr>
          <a:xfrm>
            <a:off x="10058400" y="3282696"/>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24" name="Shape 22"/>
          <p:cNvSpPr/>
          <p:nvPr/>
        </p:nvSpPr>
        <p:spPr>
          <a:xfrm>
            <a:off x="457200" y="3712464"/>
            <a:ext cx="11274552" cy="0"/>
          </a:xfrm>
          <a:prstGeom prst="line">
            <a:avLst/>
          </a:prstGeom>
          <a:noFill/>
          <a:ln w="6350">
            <a:solidFill>
              <a:srgbClr val="D2D2D7"/>
            </a:solidFill>
            <a:prstDash val="solid"/>
          </a:ln>
        </p:spPr>
      </p:sp>
      <p:sp>
        <p:nvSpPr>
          <p:cNvPr id="25" name="Text 23"/>
          <p:cNvSpPr/>
          <p:nvPr/>
        </p:nvSpPr>
        <p:spPr>
          <a:xfrm>
            <a:off x="548640" y="3803904"/>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04</a:t>
            </a:r>
            <a:endParaRPr lang="en-US" sz="1800" dirty="0"/>
          </a:p>
        </p:txBody>
      </p:sp>
      <p:sp>
        <p:nvSpPr>
          <p:cNvPr id="26" name="Text 24"/>
          <p:cNvSpPr/>
          <p:nvPr/>
        </p:nvSpPr>
        <p:spPr>
          <a:xfrm>
            <a:off x="1280160" y="3758184"/>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Reporte del Comité de Vigilancia</a:t>
            </a:r>
            <a:endParaRPr lang="en-US" sz="1500" dirty="0"/>
          </a:p>
        </p:txBody>
      </p:sp>
      <p:sp>
        <p:nvSpPr>
          <p:cNvPr id="27" name="Text 25"/>
          <p:cNvSpPr/>
          <p:nvPr/>
        </p:nvSpPr>
        <p:spPr>
          <a:xfrm>
            <a:off x="1280160" y="4005072"/>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45 RI</a:t>
            </a:r>
            <a:endParaRPr lang="en-US" sz="1100" dirty="0"/>
          </a:p>
        </p:txBody>
      </p:sp>
      <p:sp>
        <p:nvSpPr>
          <p:cNvPr id="28" name="Text 26"/>
          <p:cNvSpPr/>
          <p:nvPr/>
        </p:nvSpPr>
        <p:spPr>
          <a:xfrm>
            <a:off x="10058400" y="3849624"/>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29" name="Shape 27"/>
          <p:cNvSpPr/>
          <p:nvPr/>
        </p:nvSpPr>
        <p:spPr>
          <a:xfrm>
            <a:off x="457200" y="4279392"/>
            <a:ext cx="11274552" cy="0"/>
          </a:xfrm>
          <a:prstGeom prst="line">
            <a:avLst/>
          </a:prstGeom>
          <a:noFill/>
          <a:ln w="6350">
            <a:solidFill>
              <a:srgbClr val="D2D2D7"/>
            </a:solidFill>
            <a:prstDash val="solid"/>
          </a:ln>
        </p:spPr>
      </p:sp>
      <p:sp>
        <p:nvSpPr>
          <p:cNvPr id="30" name="Text 28"/>
          <p:cNvSpPr/>
          <p:nvPr/>
        </p:nvSpPr>
        <p:spPr>
          <a:xfrm>
            <a:off x="548640" y="4370832"/>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05</a:t>
            </a:r>
            <a:endParaRPr lang="en-US" sz="1800" dirty="0"/>
          </a:p>
        </p:txBody>
      </p:sp>
      <p:sp>
        <p:nvSpPr>
          <p:cNvPr id="31" name="Text 29"/>
          <p:cNvSpPr/>
          <p:nvPr/>
        </p:nvSpPr>
        <p:spPr>
          <a:xfrm>
            <a:off x="1280160" y="4325112"/>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Designación de auditores externos 2026</a:t>
            </a:r>
            <a:endParaRPr lang="en-US" sz="1500" dirty="0"/>
          </a:p>
        </p:txBody>
      </p:sp>
      <p:sp>
        <p:nvSpPr>
          <p:cNvPr id="32" name="Text 30"/>
          <p:cNvSpPr/>
          <p:nvPr/>
        </p:nvSpPr>
        <p:spPr>
          <a:xfrm>
            <a:off x="1280160" y="4572000"/>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(5) RI</a:t>
            </a:r>
            <a:endParaRPr lang="en-US" sz="1100" dirty="0"/>
          </a:p>
        </p:txBody>
      </p:sp>
      <p:sp>
        <p:nvSpPr>
          <p:cNvPr id="33" name="Text 31"/>
          <p:cNvSpPr/>
          <p:nvPr/>
        </p:nvSpPr>
        <p:spPr>
          <a:xfrm>
            <a:off x="10058400" y="4416552"/>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4 min</a:t>
            </a:r>
            <a:endParaRPr lang="en-US" sz="1100" dirty="0"/>
          </a:p>
        </p:txBody>
      </p:sp>
      <p:sp>
        <p:nvSpPr>
          <p:cNvPr id="34" name="Shape 32"/>
          <p:cNvSpPr/>
          <p:nvPr/>
        </p:nvSpPr>
        <p:spPr>
          <a:xfrm>
            <a:off x="457200" y="4846320"/>
            <a:ext cx="11274552" cy="0"/>
          </a:xfrm>
          <a:prstGeom prst="line">
            <a:avLst/>
          </a:prstGeom>
          <a:noFill/>
          <a:ln w="6350">
            <a:solidFill>
              <a:srgbClr val="D2D2D7"/>
            </a:solidFill>
            <a:prstDash val="solid"/>
          </a:ln>
        </p:spPr>
      </p:sp>
      <p:sp>
        <p:nvSpPr>
          <p:cNvPr id="35" name="Text 33"/>
          <p:cNvSpPr/>
          <p:nvPr/>
        </p:nvSpPr>
        <p:spPr>
          <a:xfrm>
            <a:off x="548640" y="493776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06</a:t>
            </a:r>
            <a:endParaRPr lang="en-US" sz="1800" dirty="0"/>
          </a:p>
        </p:txBody>
      </p:sp>
      <p:sp>
        <p:nvSpPr>
          <p:cNvPr id="36" name="Text 34"/>
          <p:cNvSpPr/>
          <p:nvPr/>
        </p:nvSpPr>
        <p:spPr>
          <a:xfrm>
            <a:off x="1280160" y="489204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Objetivos 2026 y búsqueda de financiamiento</a:t>
            </a:r>
            <a:endParaRPr lang="en-US" sz="1500" dirty="0"/>
          </a:p>
        </p:txBody>
      </p:sp>
      <p:sp>
        <p:nvSpPr>
          <p:cNvPr id="37" name="Text 35"/>
          <p:cNvSpPr/>
          <p:nvPr/>
        </p:nvSpPr>
        <p:spPr>
          <a:xfrm>
            <a:off x="1280160" y="513892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Plan estratégico</a:t>
            </a:r>
            <a:endParaRPr lang="en-US" sz="1100" dirty="0"/>
          </a:p>
        </p:txBody>
      </p:sp>
      <p:sp>
        <p:nvSpPr>
          <p:cNvPr id="38" name="Text 36"/>
          <p:cNvSpPr/>
          <p:nvPr/>
        </p:nvSpPr>
        <p:spPr>
          <a:xfrm>
            <a:off x="10058400" y="498348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39" name="Shape 37"/>
          <p:cNvSpPr/>
          <p:nvPr/>
        </p:nvSpPr>
        <p:spPr>
          <a:xfrm>
            <a:off x="457200" y="5413248"/>
            <a:ext cx="11274552" cy="0"/>
          </a:xfrm>
          <a:prstGeom prst="line">
            <a:avLst/>
          </a:prstGeom>
          <a:noFill/>
          <a:ln w="6350">
            <a:solidFill>
              <a:srgbClr val="D2D2D7"/>
            </a:solidFill>
            <a:prstDash val="solid"/>
          </a:ln>
        </p:spPr>
      </p:sp>
      <p:sp>
        <p:nvSpPr>
          <p:cNvPr id="40" name="Text 38"/>
          <p:cNvSpPr/>
          <p:nvPr/>
        </p:nvSpPr>
        <p:spPr>
          <a:xfrm>
            <a:off x="548640" y="550468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07</a:t>
            </a:r>
            <a:endParaRPr lang="en-US" sz="1800" dirty="0"/>
          </a:p>
        </p:txBody>
      </p:sp>
      <p:sp>
        <p:nvSpPr>
          <p:cNvPr id="41" name="Text 39"/>
          <p:cNvSpPr/>
          <p:nvPr/>
        </p:nvSpPr>
        <p:spPr>
          <a:xfrm>
            <a:off x="1280160" y="545896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Otros asuntos · Cierre</a:t>
            </a:r>
            <a:endParaRPr lang="en-US" sz="1500" dirty="0"/>
          </a:p>
        </p:txBody>
      </p:sp>
      <p:sp>
        <p:nvSpPr>
          <p:cNvPr id="42" name="Text 40"/>
          <p:cNvSpPr/>
          <p:nvPr/>
        </p:nvSpPr>
        <p:spPr>
          <a:xfrm>
            <a:off x="1280160" y="570585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(6) RI</a:t>
            </a:r>
            <a:endParaRPr lang="en-US" sz="1100" dirty="0"/>
          </a:p>
        </p:txBody>
      </p:sp>
      <p:sp>
        <p:nvSpPr>
          <p:cNvPr id="43" name="Text 41"/>
          <p:cNvSpPr/>
          <p:nvPr/>
        </p:nvSpPr>
        <p:spPr>
          <a:xfrm>
            <a:off x="10058400" y="555040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44" name="Shape 42"/>
          <p:cNvSpPr/>
          <p:nvPr/>
        </p:nvSpPr>
        <p:spPr>
          <a:xfrm>
            <a:off x="457200" y="5980176"/>
            <a:ext cx="11274552" cy="0"/>
          </a:xfrm>
          <a:prstGeom prst="line">
            <a:avLst/>
          </a:prstGeom>
          <a:noFill/>
          <a:ln w="6350">
            <a:solidFill>
              <a:srgbClr val="D2D2D7"/>
            </a:solidFill>
            <a:prstDash val="solid"/>
          </a:ln>
        </p:spPr>
      </p:sp>
      <p:sp>
        <p:nvSpPr>
          <p:cNvPr id="45" name="Text 43"/>
          <p:cNvSpPr/>
          <p:nvPr/>
        </p:nvSpPr>
        <p:spPr>
          <a:xfrm>
            <a:off x="457200" y="6355080"/>
            <a:ext cx="11274552" cy="228600"/>
          </a:xfrm>
          <a:prstGeom prst="rect">
            <a:avLst/>
          </a:prstGeom>
          <a:noFill/>
          <a:ln/>
        </p:spPr>
        <p:txBody>
          <a:bodyPr wrap="square" rtlCol="0" anchor="ctr"/>
          <a:lstStyle/>
          <a:p>
            <a:pPr marL="0" indent="0" algn="r">
              <a:buNone/>
            </a:pPr>
            <a:r>
              <a:rPr lang="en-US" sz="1000" i="1" dirty="0">
                <a:solidFill>
                  <a:srgbClr val="823DBC"/>
                </a:solidFill>
                <a:latin typeface="Helvetica" pitchFamily="34" charset="0"/>
                <a:ea typeface="Helvetica" pitchFamily="34" charset="-122"/>
                <a:cs typeface="Helvetica" pitchFamily="34" charset="-120"/>
              </a:rPr>
              <a:t>Duración estimada: 35 min</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03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2025 EXECUTION REPORT · Bloque 1</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Tres pilares ejecutados</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3108960" cy="4023360"/>
          </a:xfrm>
          <a:prstGeom prst="roundRect">
            <a:avLst>
              <a:gd name="adj" fmla="val 6000"/>
            </a:avLst>
          </a:prstGeom>
          <a:solidFill>
            <a:srgbClr val="FFFFFF"/>
          </a:solidFill>
          <a:ln w="9525">
            <a:solidFill>
              <a:srgbClr val="D2D2D7"/>
            </a:solidFill>
            <a:prstDash val="solid"/>
          </a:ln>
        </p:spPr>
      </p:sp>
      <p:sp>
        <p:nvSpPr>
          <p:cNvPr id="10" name="Text 8"/>
          <p:cNvSpPr/>
          <p:nvPr/>
        </p:nvSpPr>
        <p:spPr>
          <a:xfrm>
            <a:off x="68580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01</a:t>
            </a:r>
            <a:endParaRPr lang="en-US" sz="3600" dirty="0"/>
          </a:p>
        </p:txBody>
      </p:sp>
      <p:sp>
        <p:nvSpPr>
          <p:cNvPr id="11" name="Shape 9"/>
          <p:cNvSpPr/>
          <p:nvPr/>
        </p:nvSpPr>
        <p:spPr>
          <a:xfrm>
            <a:off x="685800" y="2834640"/>
            <a:ext cx="457200" cy="0"/>
          </a:xfrm>
          <a:prstGeom prst="line">
            <a:avLst/>
          </a:prstGeom>
          <a:noFill/>
          <a:ln w="25400">
            <a:solidFill>
              <a:srgbClr val="2C74FF"/>
            </a:solidFill>
            <a:prstDash val="solid"/>
          </a:ln>
        </p:spPr>
      </p:sp>
      <p:sp>
        <p:nvSpPr>
          <p:cNvPr id="12" name="Text 10"/>
          <p:cNvSpPr/>
          <p:nvPr/>
        </p:nvSpPr>
        <p:spPr>
          <a:xfrm>
            <a:off x="68580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Exclusividad de la</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tecnología sueca</a:t>
            </a:r>
            <a:endParaRPr lang="en-US" sz="1800" dirty="0"/>
          </a:p>
        </p:txBody>
      </p:sp>
      <p:sp>
        <p:nvSpPr>
          <p:cNvPr id="13" name="Text 11"/>
          <p:cNvSpPr/>
          <p:nvPr/>
        </p:nvSpPr>
        <p:spPr>
          <a:xfrm>
            <a:off x="68580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Acuerdos de licenciamiento exclusivo para Chile y la región. Protección formal por contratos y NDAs.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4 portfolio companies con licencia exclusiva</a:t>
            </a:r>
            <a:endParaRPr lang="en-US" sz="1100" dirty="0"/>
          </a:p>
        </p:txBody>
      </p:sp>
      <p:sp>
        <p:nvSpPr>
          <p:cNvPr id="14" name="Shape 12"/>
          <p:cNvSpPr/>
          <p:nvPr/>
        </p:nvSpPr>
        <p:spPr>
          <a:xfrm>
            <a:off x="685800" y="5440680"/>
            <a:ext cx="2651760" cy="0"/>
          </a:xfrm>
          <a:prstGeom prst="line">
            <a:avLst/>
          </a:prstGeom>
          <a:noFill/>
          <a:ln w="6350">
            <a:solidFill>
              <a:srgbClr val="D2D2D7"/>
            </a:solidFill>
            <a:prstDash val="solid"/>
          </a:ln>
        </p:spPr>
      </p:sp>
      <p:sp>
        <p:nvSpPr>
          <p:cNvPr id="15" name="Text 13"/>
          <p:cNvSpPr/>
          <p:nvPr/>
        </p:nvSpPr>
        <p:spPr>
          <a:xfrm>
            <a:off x="68580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16" name="Text 14"/>
          <p:cNvSpPr/>
          <p:nvPr/>
        </p:nvSpPr>
        <p:spPr>
          <a:xfrm>
            <a:off x="68580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Acuerdo firmado</a:t>
            </a:r>
            <a:endParaRPr lang="en-US" sz="1300" dirty="0"/>
          </a:p>
        </p:txBody>
      </p:sp>
      <p:sp>
        <p:nvSpPr>
          <p:cNvPr id="17" name="Shape 15"/>
          <p:cNvSpPr/>
          <p:nvPr/>
        </p:nvSpPr>
        <p:spPr>
          <a:xfrm>
            <a:off x="4526280" y="2103120"/>
            <a:ext cx="3108960" cy="4023360"/>
          </a:xfrm>
          <a:prstGeom prst="roundRect">
            <a:avLst>
              <a:gd name="adj" fmla="val 6000"/>
            </a:avLst>
          </a:prstGeom>
          <a:solidFill>
            <a:srgbClr val="FFFFFF"/>
          </a:solidFill>
          <a:ln w="9525">
            <a:solidFill>
              <a:srgbClr val="D2D2D7"/>
            </a:solidFill>
            <a:prstDash val="solid"/>
          </a:ln>
        </p:spPr>
      </p:sp>
      <p:sp>
        <p:nvSpPr>
          <p:cNvPr id="18" name="Text 16"/>
          <p:cNvSpPr/>
          <p:nvPr/>
        </p:nvSpPr>
        <p:spPr>
          <a:xfrm>
            <a:off x="475488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19" name="Shape 17"/>
          <p:cNvSpPr/>
          <p:nvPr/>
        </p:nvSpPr>
        <p:spPr>
          <a:xfrm>
            <a:off x="4754880" y="2834640"/>
            <a:ext cx="457200" cy="0"/>
          </a:xfrm>
          <a:prstGeom prst="line">
            <a:avLst/>
          </a:prstGeom>
          <a:noFill/>
          <a:ln w="25400">
            <a:solidFill>
              <a:srgbClr val="2C74FF"/>
            </a:solidFill>
            <a:prstDash val="solid"/>
          </a:ln>
        </p:spPr>
      </p:sp>
      <p:sp>
        <p:nvSpPr>
          <p:cNvPr id="20" name="Text 18"/>
          <p:cNvSpPr/>
          <p:nvPr/>
        </p:nvSpPr>
        <p:spPr>
          <a:xfrm>
            <a:off x="475488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Obtención de</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subsidios</a:t>
            </a:r>
            <a:endParaRPr lang="en-US" sz="1800" dirty="0"/>
          </a:p>
        </p:txBody>
      </p:sp>
      <p:sp>
        <p:nvSpPr>
          <p:cNvPr id="21" name="Text 19"/>
          <p:cNvSpPr/>
          <p:nvPr/>
        </p:nvSpPr>
        <p:spPr>
          <a:xfrm>
            <a:off x="475488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Captación de programas estatales chilenos. Apalancamiento de recursos no dilutivos.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2 subsidios adjudicados · 1 en postulación</a:t>
            </a:r>
            <a:endParaRPr lang="en-US" sz="1100" dirty="0"/>
          </a:p>
        </p:txBody>
      </p:sp>
      <p:sp>
        <p:nvSpPr>
          <p:cNvPr id="22" name="Shape 20"/>
          <p:cNvSpPr/>
          <p:nvPr/>
        </p:nvSpPr>
        <p:spPr>
          <a:xfrm>
            <a:off x="4754880" y="5440680"/>
            <a:ext cx="2651760" cy="0"/>
          </a:xfrm>
          <a:prstGeom prst="line">
            <a:avLst/>
          </a:prstGeom>
          <a:noFill/>
          <a:ln w="6350">
            <a:solidFill>
              <a:srgbClr val="D2D2D7"/>
            </a:solidFill>
            <a:prstDash val="solid"/>
          </a:ln>
        </p:spPr>
      </p:sp>
      <p:sp>
        <p:nvSpPr>
          <p:cNvPr id="23" name="Text 21"/>
          <p:cNvSpPr/>
          <p:nvPr/>
        </p:nvSpPr>
        <p:spPr>
          <a:xfrm>
            <a:off x="475488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24" name="Text 22"/>
          <p:cNvSpPr/>
          <p:nvPr/>
        </p:nvSpPr>
        <p:spPr>
          <a:xfrm>
            <a:off x="475488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CORFO · SERVIU</a:t>
            </a:r>
            <a:endParaRPr lang="en-US" sz="1300" dirty="0"/>
          </a:p>
        </p:txBody>
      </p:sp>
      <p:sp>
        <p:nvSpPr>
          <p:cNvPr id="25" name="Shape 23"/>
          <p:cNvSpPr/>
          <p:nvPr/>
        </p:nvSpPr>
        <p:spPr>
          <a:xfrm>
            <a:off x="8595360" y="2103120"/>
            <a:ext cx="3108960" cy="4023360"/>
          </a:xfrm>
          <a:prstGeom prst="roundRect">
            <a:avLst>
              <a:gd name="adj" fmla="val 6000"/>
            </a:avLst>
          </a:prstGeom>
          <a:solidFill>
            <a:srgbClr val="FFFFFF"/>
          </a:solidFill>
          <a:ln w="9525">
            <a:solidFill>
              <a:srgbClr val="D2D2D7"/>
            </a:solidFill>
            <a:prstDash val="solid"/>
          </a:ln>
        </p:spPr>
      </p:sp>
      <p:sp>
        <p:nvSpPr>
          <p:cNvPr id="26" name="Text 24"/>
          <p:cNvSpPr/>
          <p:nvPr/>
        </p:nvSpPr>
        <p:spPr>
          <a:xfrm>
            <a:off x="882396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03</a:t>
            </a:r>
            <a:endParaRPr lang="en-US" sz="3600" dirty="0"/>
          </a:p>
        </p:txBody>
      </p:sp>
      <p:sp>
        <p:nvSpPr>
          <p:cNvPr id="27" name="Shape 25"/>
          <p:cNvSpPr/>
          <p:nvPr/>
        </p:nvSpPr>
        <p:spPr>
          <a:xfrm>
            <a:off x="8823960" y="2834640"/>
            <a:ext cx="457200" cy="0"/>
          </a:xfrm>
          <a:prstGeom prst="line">
            <a:avLst/>
          </a:prstGeom>
          <a:noFill/>
          <a:ln w="25400">
            <a:solidFill>
              <a:srgbClr val="2C74FF"/>
            </a:solidFill>
            <a:prstDash val="solid"/>
          </a:ln>
        </p:spPr>
      </p:sp>
      <p:sp>
        <p:nvSpPr>
          <p:cNvPr id="28" name="Text 26"/>
          <p:cNvSpPr/>
          <p:nvPr/>
        </p:nvSpPr>
        <p:spPr>
          <a:xfrm>
            <a:off x="882396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Proyectos</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Ready-to-Build</a:t>
            </a:r>
            <a:endParaRPr lang="en-US" sz="1800" dirty="0"/>
          </a:p>
        </p:txBody>
      </p:sp>
      <p:sp>
        <p:nvSpPr>
          <p:cNvPr id="29" name="Text 27"/>
          <p:cNvSpPr/>
          <p:nvPr/>
        </p:nvSpPr>
        <p:spPr>
          <a:xfrm>
            <a:off x="882396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Ingeniería de detalle, permisos sectoriales y aseguramiento de terrenos en avance.</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6 proyectos en pipeline · 150+ MW</a:t>
            </a:r>
            <a:endParaRPr lang="en-US" sz="1100" dirty="0"/>
          </a:p>
        </p:txBody>
      </p:sp>
      <p:sp>
        <p:nvSpPr>
          <p:cNvPr id="30" name="Shape 28"/>
          <p:cNvSpPr/>
          <p:nvPr/>
        </p:nvSpPr>
        <p:spPr>
          <a:xfrm>
            <a:off x="8823960" y="5440680"/>
            <a:ext cx="2651760" cy="0"/>
          </a:xfrm>
          <a:prstGeom prst="line">
            <a:avLst/>
          </a:prstGeom>
          <a:noFill/>
          <a:ln w="6350">
            <a:solidFill>
              <a:srgbClr val="D2D2D7"/>
            </a:solidFill>
            <a:prstDash val="solid"/>
          </a:ln>
        </p:spPr>
      </p:sp>
      <p:sp>
        <p:nvSpPr>
          <p:cNvPr id="31" name="Text 29"/>
          <p:cNvSpPr/>
          <p:nvPr/>
        </p:nvSpPr>
        <p:spPr>
          <a:xfrm>
            <a:off x="882396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32" name="Text 30"/>
          <p:cNvSpPr/>
          <p:nvPr/>
        </p:nvSpPr>
        <p:spPr>
          <a:xfrm>
            <a:off x="882396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Hitos cumplidos</a:t>
            </a:r>
            <a:endParaRPr lang="en-US" sz="1300" dirty="0"/>
          </a:p>
        </p:txBody>
      </p:sp>
      <p:sp>
        <p:nvSpPr>
          <p:cNvPr id="33" name="Shape 31"/>
          <p:cNvSpPr/>
          <p:nvPr/>
        </p:nvSpPr>
        <p:spPr>
          <a:xfrm>
            <a:off x="457200" y="6492240"/>
            <a:ext cx="11274552" cy="0"/>
          </a:xfrm>
          <a:prstGeom prst="line">
            <a:avLst/>
          </a:prstGeom>
          <a:noFill/>
          <a:ln w="6350">
            <a:solidFill>
              <a:srgbClr val="D2D2D7"/>
            </a:solidFill>
            <a:prstDash val="solid"/>
          </a:ln>
        </p:spPr>
      </p:sp>
      <p:sp>
        <p:nvSpPr>
          <p:cNvPr id="34" name="Text 32"/>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5" name="Text 33"/>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04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1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Exclusividad de la tecnología sueca</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Logros 2025</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Acuerdo de exclusividad territorial</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Licenciamiento de tecnología sueca para Chile y mercado latinoamericano formalizado.</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Protección legal estructurada</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Marco contractual con NDAs y cláusulas de no competencia en favor del Fondo.</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Transferencia técnica iniciada</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Equipos de portfolio companies capacitados; adaptación a normativa chilena en curso.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Soporte continuo asegurado</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Acceso a actualizaciones y back-office del titular tecnológico original.</a:t>
            </a:r>
            <a:endParaRPr lang="en-US" sz="1100" dirty="0"/>
          </a:p>
        </p:txBody>
      </p:sp>
      <p:sp>
        <p:nvSpPr>
          <p:cNvPr id="22" name="Shape 20"/>
          <p:cNvSpPr/>
          <p:nvPr/>
        </p:nvSpPr>
        <p:spPr>
          <a:xfrm>
            <a:off x="7589520" y="2103120"/>
            <a:ext cx="4114800" cy="4023360"/>
          </a:xfrm>
          <a:prstGeom prst="roundRect">
            <a:avLst>
              <a:gd name="adj" fmla="val 6000"/>
            </a:avLst>
          </a:prstGeom>
          <a:solidFill>
            <a:srgbClr val="4D0F96"/>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C4B5FD"/>
                </a:solidFill>
                <a:latin typeface="Helvetica" pitchFamily="34" charset="0"/>
                <a:ea typeface="Helvetica" pitchFamily="34" charset="-122"/>
                <a:cs typeface="Helvetica" pitchFamily="34" charset="-120"/>
              </a:rPr>
              <a:t>VENTAJA COMPETITIVA</a:t>
            </a:r>
            <a:endParaRPr lang="en-US" sz="1000" dirty="0"/>
          </a:p>
        </p:txBody>
      </p:sp>
      <p:sp>
        <p:nvSpPr>
          <p:cNvPr id="24" name="Text 22"/>
          <p:cNvSpPr/>
          <p:nvPr/>
        </p:nvSpPr>
        <p:spPr>
          <a:xfrm>
            <a:off x="7818120" y="2697480"/>
            <a:ext cx="3657600" cy="1188720"/>
          </a:xfrm>
          <a:prstGeom prst="rect">
            <a:avLst/>
          </a:prstGeom>
          <a:noFill/>
          <a:ln/>
        </p:spPr>
        <p:txBody>
          <a:bodyPr wrap="square" rtlCol="0" anchor="ctr"/>
          <a:lstStyle/>
          <a:p>
            <a:pPr marL="0" indent="0">
              <a:buNone/>
            </a:pPr>
            <a:r>
              <a:rPr lang="en-US" sz="2400" b="1" dirty="0">
                <a:solidFill>
                  <a:srgbClr val="FFFFFF"/>
                </a:solidFill>
                <a:latin typeface="Helvetica" pitchFamily="34" charset="0"/>
                <a:ea typeface="Helvetica" pitchFamily="34" charset="-122"/>
                <a:cs typeface="Helvetica" pitchFamily="34" charset="-120"/>
              </a:rPr>
              <a:t>Posicionamiento</a:t>
            </a:r>
            <a:endParaRPr lang="en-US" sz="2400" dirty="0"/>
          </a:p>
          <a:p>
            <a:pPr marL="0" indent="0">
              <a:buNone/>
            </a:pPr>
            <a:r>
              <a:rPr lang="en-US" sz="2400" b="1" dirty="0">
                <a:solidFill>
                  <a:srgbClr val="FFFFFF"/>
                </a:solidFill>
                <a:latin typeface="Helvetica" pitchFamily="34" charset="0"/>
                <a:ea typeface="Helvetica" pitchFamily="34" charset="-122"/>
                <a:cs typeface="Helvetica" pitchFamily="34" charset="-120"/>
              </a:rPr>
              <a:t>único en LATAM</a:t>
            </a:r>
            <a:endParaRPr lang="en-US" sz="2400" dirty="0"/>
          </a:p>
        </p:txBody>
      </p:sp>
      <p:sp>
        <p:nvSpPr>
          <p:cNvPr id="25" name="Shape 23"/>
          <p:cNvSpPr/>
          <p:nvPr/>
        </p:nvSpPr>
        <p:spPr>
          <a:xfrm>
            <a:off x="7818120" y="4023360"/>
            <a:ext cx="731520" cy="0"/>
          </a:xfrm>
          <a:prstGeom prst="line">
            <a:avLst/>
          </a:prstGeom>
          <a:noFill/>
          <a:ln w="25400">
            <a:solidFill>
              <a:srgbClr val="823DBC"/>
            </a:solidFill>
            <a:prstDash val="solid"/>
          </a:ln>
        </p:spPr>
      </p:sp>
      <p:sp>
        <p:nvSpPr>
          <p:cNvPr id="26" name="Text 24"/>
          <p:cNvSpPr/>
          <p:nvPr/>
        </p:nvSpPr>
        <p:spPr>
          <a:xfrm>
            <a:off x="7818120" y="4206240"/>
            <a:ext cx="3657600" cy="1828800"/>
          </a:xfrm>
          <a:prstGeom prst="rect">
            <a:avLst/>
          </a:prstGeom>
          <a:noFill/>
          <a:ln/>
        </p:spPr>
        <p:txBody>
          <a:bodyPr wrap="square" rtlCol="0" anchor="ctr"/>
          <a:lstStyle/>
          <a:p>
            <a:pPr marL="0" indent="0">
              <a:buNone/>
            </a:pPr>
            <a:r>
              <a:rPr lang="en-US" sz="1200" dirty="0">
                <a:solidFill>
                  <a:srgbClr val="FFFFFF"/>
                </a:solidFill>
                <a:latin typeface="Helvetica" pitchFamily="34" charset="0"/>
                <a:ea typeface="Helvetica" pitchFamily="34" charset="-122"/>
                <a:cs typeface="Helvetica" pitchFamily="34" charset="-120"/>
              </a:rPr>
              <a:t>La exclusividad territorial convierte a las portfolio companies en referentes únicos en sus segmentos, creando una barrera defensiva frente a competidores que intenten replicar el modelo.</a:t>
            </a:r>
            <a:endParaRPr lang="en-US" sz="1200" dirty="0"/>
          </a:p>
        </p:txBody>
      </p:sp>
      <p:sp>
        <p:nvSpPr>
          <p:cNvPr id="27" name="Shape 25"/>
          <p:cNvSpPr/>
          <p:nvPr/>
        </p:nvSpPr>
        <p:spPr>
          <a:xfrm>
            <a:off x="457200" y="6492240"/>
            <a:ext cx="11274552" cy="0"/>
          </a:xfrm>
          <a:prstGeom prst="line">
            <a:avLst/>
          </a:prstGeom>
          <a:noFill/>
          <a:ln w="6350">
            <a:solidFill>
              <a:srgbClr val="D2D2D7"/>
            </a:solidFill>
            <a:prstDash val="solid"/>
          </a:ln>
        </p:spPr>
      </p:sp>
      <p:sp>
        <p:nvSpPr>
          <p:cNvPr id="28" name="Text 2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29" name="Text 2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05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2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Obtención de subsidios estatales</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Articulación con el Estado</a:t>
            </a:r>
            <a:endParaRPr lang="en-US" sz="1600" dirty="0"/>
          </a:p>
        </p:txBody>
      </p:sp>
      <p:sp>
        <p:nvSpPr>
          <p:cNvPr id="100" name="Shape 100"/>
          <p:cNvSpPr/>
          <p:nvPr/>
        </p:nvSpPr>
        <p:spPr>
          <a:xfrm>
            <a:off x="457200" y="2606040"/>
            <a:ext cx="5577840" cy="1645920"/>
          </a:xfrm>
          <a:prstGeom prst="roundRect">
            <a:avLst>
              <a:gd name="adj" fmla="val 3333"/>
            </a:avLst>
          </a:prstGeom>
          <a:solidFill>
            <a:srgbClr val="F5F3FE"/>
          </a:solidFill>
          <a:ln/>
        </p:spPr>
      </p:sp>
      <p:sp>
        <p:nvSpPr>
          <p:cNvPr id="101" name="Shape 101"/>
          <p:cNvSpPr/>
          <p:nvPr/>
        </p:nvSpPr>
        <p:spPr>
          <a:xfrm>
            <a:off x="457200" y="2606040"/>
            <a:ext cx="45720" cy="1645920"/>
          </a:xfrm>
          <a:prstGeom prst="rect">
            <a:avLst/>
          </a:prstGeom>
          <a:solidFill>
            <a:srgbClr val="4D0F96"/>
          </a:solidFill>
          <a:ln/>
        </p:spPr>
      </p:sp>
      <p:sp>
        <p:nvSpPr>
          <p:cNvPr id="102" name="Text 102"/>
          <p:cNvSpPr/>
          <p:nvPr/>
        </p:nvSpPr>
        <p:spPr>
          <a:xfrm>
            <a:off x="73152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CORFO</a:t>
            </a:r>
            <a:endParaRPr lang="en-US" sz="1000" dirty="0"/>
          </a:p>
        </p:txBody>
      </p:sp>
      <p:sp>
        <p:nvSpPr>
          <p:cNvPr id="103" name="Text 103"/>
          <p:cNvSpPr/>
          <p:nvPr/>
        </p:nvSpPr>
        <p:spPr>
          <a:xfrm>
            <a:off x="73152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Programas Tecnológicos</a:t>
            </a:r>
            <a:endParaRPr lang="en-US" sz="2200" dirty="0"/>
          </a:p>
        </p:txBody>
      </p:sp>
      <p:sp>
        <p:nvSpPr>
          <p:cNvPr id="110" name="Shape 110"/>
          <p:cNvSpPr/>
          <p:nvPr/>
        </p:nvSpPr>
        <p:spPr>
          <a:xfrm>
            <a:off x="731520" y="3474720"/>
            <a:ext cx="2560320" cy="320040"/>
          </a:xfrm>
          <a:prstGeom prst="roundRect">
            <a:avLst>
              <a:gd name="adj" fmla="val 50000"/>
            </a:avLst>
          </a:prstGeom>
          <a:solidFill>
            <a:srgbClr val="D1FAE5"/>
          </a:solidFill>
          <a:ln/>
        </p:spPr>
      </p:sp>
      <p:sp>
        <p:nvSpPr>
          <p:cNvPr id="111" name="Text 111"/>
          <p:cNvSpPr/>
          <p:nvPr/>
        </p:nvSpPr>
        <p:spPr>
          <a:xfrm>
            <a:off x="731520" y="3474720"/>
            <a:ext cx="2560320" cy="320040"/>
          </a:xfrm>
          <a:prstGeom prst="rect">
            <a:avLst/>
          </a:prstGeom>
          <a:noFill/>
          <a:ln/>
        </p:spPr>
        <p:txBody>
          <a:bodyPr wrap="square" rtlCol="0" anchor="ctr"/>
          <a:lstStyle/>
          <a:p>
            <a:pPr marL="0" indent="0" algn="ctr">
              <a:buNone/>
            </a:pPr>
            <a:r>
              <a:rPr lang="en-US" sz="900" b="1" spc="200" dirty="0">
                <a:solidFill>
                  <a:srgbClr val="065F46"/>
                </a:solidFill>
                <a:latin typeface="Helvetica" pitchFamily="34" charset="0"/>
                <a:ea typeface="Helvetica" pitchFamily="34" charset="-122"/>
                <a:cs typeface="Helvetica" pitchFamily="34" charset="-120"/>
              </a:rPr>
              <a:t>2 SUBSIDIOS ADJUDICADOS</a:t>
            </a:r>
            <a:endParaRPr lang="en-US" sz="900" dirty="0"/>
          </a:p>
        </p:txBody>
      </p:sp>
      <p:sp>
        <p:nvSpPr>
          <p:cNvPr id="120" name="Shape 120"/>
          <p:cNvSpPr/>
          <p:nvPr/>
        </p:nvSpPr>
        <p:spPr>
          <a:xfrm>
            <a:off x="731520" y="3840480"/>
            <a:ext cx="2446020" cy="274320"/>
          </a:xfrm>
          <a:prstGeom prst="roundRect">
            <a:avLst>
              <a:gd name="adj" fmla="val 3333"/>
            </a:avLst>
          </a:prstGeom>
          <a:solidFill>
            <a:srgbClr val="FFFFFF"/>
          </a:solidFill>
          <a:ln w="6350">
            <a:solidFill>
              <a:srgbClr val="DCD6F2"/>
            </a:solidFill>
            <a:prstDash val="solid"/>
          </a:ln>
        </p:spPr>
      </p:sp>
      <p:sp>
        <p:nvSpPr>
          <p:cNvPr id="121" name="Shape 121"/>
          <p:cNvSpPr/>
          <p:nvPr/>
        </p:nvSpPr>
        <p:spPr>
          <a:xfrm>
            <a:off x="868680" y="3922776"/>
            <a:ext cx="109728" cy="109728"/>
          </a:xfrm>
          <a:prstGeom prst="ellipse">
            <a:avLst/>
          </a:prstGeom>
          <a:solidFill>
            <a:srgbClr val="10A37F"/>
          </a:solidFill>
          <a:ln/>
        </p:spPr>
      </p:sp>
      <p:sp>
        <p:nvSpPr>
          <p:cNvPr id="122" name="Text 122"/>
          <p:cNvSpPr/>
          <p:nvPr/>
        </p:nvSpPr>
        <p:spPr>
          <a:xfrm>
            <a:off x="106984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130" name="Shape 130"/>
          <p:cNvSpPr/>
          <p:nvPr/>
        </p:nvSpPr>
        <p:spPr>
          <a:xfrm>
            <a:off x="3314700" y="3840480"/>
            <a:ext cx="2446020" cy="274320"/>
          </a:xfrm>
          <a:prstGeom prst="roundRect">
            <a:avLst>
              <a:gd name="adj" fmla="val 3333"/>
            </a:avLst>
          </a:prstGeom>
          <a:solidFill>
            <a:srgbClr val="FFFFFF"/>
          </a:solidFill>
          <a:ln w="6350">
            <a:solidFill>
              <a:srgbClr val="DCD6F2"/>
            </a:solidFill>
            <a:prstDash val="solid"/>
          </a:ln>
        </p:spPr>
      </p:sp>
      <p:sp>
        <p:nvSpPr>
          <p:cNvPr id="131" name="Shape 131"/>
          <p:cNvSpPr/>
          <p:nvPr/>
        </p:nvSpPr>
        <p:spPr>
          <a:xfrm>
            <a:off x="3451860" y="3922776"/>
            <a:ext cx="109728" cy="109728"/>
          </a:xfrm>
          <a:prstGeom prst="ellipse">
            <a:avLst/>
          </a:prstGeom>
          <a:solidFill>
            <a:srgbClr val="10A37F"/>
          </a:solidFill>
          <a:ln/>
        </p:spPr>
      </p:sp>
      <p:sp>
        <p:nvSpPr>
          <p:cNvPr id="132" name="Text 132"/>
          <p:cNvSpPr/>
          <p:nvPr/>
        </p:nvSpPr>
        <p:spPr>
          <a:xfrm>
            <a:off x="365302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a:t>
            </a:r>
            <a:endParaRPr lang="en-US" sz="1300" dirty="0"/>
          </a:p>
        </p:txBody>
      </p:sp>
      <p:sp>
        <p:nvSpPr>
          <p:cNvPr id="200" name="Shape 200"/>
          <p:cNvSpPr/>
          <p:nvPr/>
        </p:nvSpPr>
        <p:spPr>
          <a:xfrm>
            <a:off x="6217920" y="2606040"/>
            <a:ext cx="5577840" cy="1645920"/>
          </a:xfrm>
          <a:prstGeom prst="roundRect">
            <a:avLst>
              <a:gd name="adj" fmla="val 3333"/>
            </a:avLst>
          </a:prstGeom>
          <a:solidFill>
            <a:srgbClr val="FAFAFB"/>
          </a:solidFill>
          <a:ln/>
        </p:spPr>
      </p:sp>
      <p:sp>
        <p:nvSpPr>
          <p:cNvPr id="201" name="Shape 201"/>
          <p:cNvSpPr/>
          <p:nvPr/>
        </p:nvSpPr>
        <p:spPr>
          <a:xfrm>
            <a:off x="6217920" y="2606040"/>
            <a:ext cx="45720" cy="1645920"/>
          </a:xfrm>
          <a:prstGeom prst="rect">
            <a:avLst/>
          </a:prstGeom>
          <a:solidFill>
            <a:srgbClr val="D97706"/>
          </a:solidFill>
          <a:ln/>
        </p:spPr>
      </p:sp>
      <p:sp>
        <p:nvSpPr>
          <p:cNvPr id="202" name="Text 202"/>
          <p:cNvSpPr/>
          <p:nvPr/>
        </p:nvSpPr>
        <p:spPr>
          <a:xfrm>
            <a:off x="649224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SERVIU</a:t>
            </a:r>
            <a:endParaRPr lang="en-US" sz="1000" dirty="0"/>
          </a:p>
        </p:txBody>
      </p:sp>
      <p:sp>
        <p:nvSpPr>
          <p:cNvPr id="203" name="Text 203"/>
          <p:cNvSpPr/>
          <p:nvPr/>
        </p:nvSpPr>
        <p:spPr>
          <a:xfrm>
            <a:off x="649224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Viviendas Sociales</a:t>
            </a:r>
            <a:endParaRPr lang="en-US" sz="2200" dirty="0"/>
          </a:p>
        </p:txBody>
      </p:sp>
      <p:sp>
        <p:nvSpPr>
          <p:cNvPr id="210" name="Shape 210"/>
          <p:cNvSpPr/>
          <p:nvPr/>
        </p:nvSpPr>
        <p:spPr>
          <a:xfrm>
            <a:off x="6492240" y="3474720"/>
            <a:ext cx="2560320" cy="320040"/>
          </a:xfrm>
          <a:prstGeom prst="roundRect">
            <a:avLst>
              <a:gd name="adj" fmla="val 50000"/>
            </a:avLst>
          </a:prstGeom>
          <a:solidFill>
            <a:srgbClr val="FEF3C7"/>
          </a:solidFill>
          <a:ln/>
        </p:spPr>
      </p:sp>
      <p:sp>
        <p:nvSpPr>
          <p:cNvPr id="211" name="Text 211"/>
          <p:cNvSpPr/>
          <p:nvPr/>
        </p:nvSpPr>
        <p:spPr>
          <a:xfrm>
            <a:off x="6492240" y="3474720"/>
            <a:ext cx="2560320" cy="320040"/>
          </a:xfrm>
          <a:prstGeom prst="rect">
            <a:avLst/>
          </a:prstGeom>
          <a:noFill/>
          <a:ln/>
        </p:spPr>
        <p:txBody>
          <a:bodyPr wrap="square" rtlCol="0" anchor="ctr"/>
          <a:lstStyle/>
          <a:p>
            <a:pPr marL="0" indent="0" algn="ctr">
              <a:buNone/>
            </a:pPr>
            <a:r>
              <a:rPr lang="en-US" sz="900" b="1" spc="200" dirty="0">
                <a:solidFill>
                  <a:srgbClr val="92400E"/>
                </a:solidFill>
                <a:latin typeface="Helvetica" pitchFamily="34" charset="0"/>
                <a:ea typeface="Helvetica" pitchFamily="34" charset="-122"/>
                <a:cs typeface="Helvetica" pitchFamily="34" charset="-120"/>
              </a:rPr>
              <a:t>EN POSTULACIÓN</a:t>
            </a:r>
            <a:endParaRPr lang="en-US" sz="900" dirty="0"/>
          </a:p>
        </p:txBody>
      </p:sp>
      <p:sp>
        <p:nvSpPr>
          <p:cNvPr id="220" name="Shape 220"/>
          <p:cNvSpPr/>
          <p:nvPr/>
        </p:nvSpPr>
        <p:spPr>
          <a:xfrm>
            <a:off x="6492240" y="3840480"/>
            <a:ext cx="5029200" cy="274320"/>
          </a:xfrm>
          <a:prstGeom prst="roundRect">
            <a:avLst>
              <a:gd name="adj" fmla="val 3333"/>
            </a:avLst>
          </a:prstGeom>
          <a:solidFill>
            <a:srgbClr val="FFFFFF"/>
          </a:solidFill>
          <a:ln w="6350">
            <a:solidFill>
              <a:srgbClr val="DCD6F2"/>
            </a:solidFill>
            <a:prstDash val="solid"/>
          </a:ln>
        </p:spPr>
      </p:sp>
      <p:sp>
        <p:nvSpPr>
          <p:cNvPr id="221" name="Shape 221"/>
          <p:cNvSpPr/>
          <p:nvPr/>
        </p:nvSpPr>
        <p:spPr>
          <a:xfrm>
            <a:off x="6629400" y="3922776"/>
            <a:ext cx="109728" cy="109728"/>
          </a:xfrm>
          <a:prstGeom prst="ellipse">
            <a:avLst/>
          </a:prstGeom>
          <a:solidFill>
            <a:srgbClr val="D97706"/>
          </a:solidFill>
          <a:ln/>
        </p:spPr>
      </p:sp>
      <p:sp>
        <p:nvSpPr>
          <p:cNvPr id="222" name="Text 222"/>
          <p:cNvSpPr/>
          <p:nvPr/>
        </p:nvSpPr>
        <p:spPr>
          <a:xfrm>
            <a:off x="6830568" y="3840480"/>
            <a:ext cx="455371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a:t>
            </a:r>
            <a:endParaRPr lang="en-US" sz="1300" dirty="0"/>
          </a:p>
        </p:txBody>
      </p:sp>
      <p:sp>
        <p:nvSpPr>
          <p:cNvPr id="26" name="Shape 24"/>
          <p:cNvSpPr/>
          <p:nvPr/>
        </p:nvSpPr>
        <p:spPr>
          <a:xfrm>
            <a:off x="457200" y="4297680"/>
            <a:ext cx="11274552" cy="0"/>
          </a:xfrm>
          <a:prstGeom prst="line">
            <a:avLst/>
          </a:prstGeom>
          <a:noFill/>
          <a:ln w="6350">
            <a:solidFill>
              <a:srgbClr val="D2D2D7"/>
            </a:solidFill>
            <a:prstDash val="solid"/>
          </a:ln>
        </p:spPr>
      </p:sp>
      <p:sp>
        <p:nvSpPr>
          <p:cNvPr id="27" name="Text 25"/>
          <p:cNvSpPr/>
          <p:nvPr/>
        </p:nvSpPr>
        <p:spPr>
          <a:xfrm>
            <a:off x="457200" y="448056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Impacto en la estructura financiera del Fondo</a:t>
            </a:r>
            <a:endParaRPr lang="en-US" sz="1600" dirty="0"/>
          </a:p>
        </p:txBody>
      </p:sp>
      <p:sp>
        <p:nvSpPr>
          <p:cNvPr id="28" name="Shape 26"/>
          <p:cNvSpPr/>
          <p:nvPr/>
        </p:nvSpPr>
        <p:spPr>
          <a:xfrm>
            <a:off x="457200" y="4983480"/>
            <a:ext cx="137160" cy="137160"/>
          </a:xfrm>
          <a:prstGeom prst="ellipse">
            <a:avLst/>
          </a:prstGeom>
          <a:solidFill>
            <a:srgbClr val="2C74FF"/>
          </a:solidFill>
          <a:ln/>
        </p:spPr>
      </p:sp>
      <p:sp>
        <p:nvSpPr>
          <p:cNvPr id="29" name="Text 27"/>
          <p:cNvSpPr/>
          <p:nvPr/>
        </p:nvSpPr>
        <p:spPr>
          <a:xfrm>
            <a:off x="73152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Reducción del costo de capital</a:t>
            </a:r>
            <a:endParaRPr lang="en-US" sz="1300" dirty="0"/>
          </a:p>
        </p:txBody>
      </p:sp>
      <p:sp>
        <p:nvSpPr>
          <p:cNvPr id="30" name="Text 28"/>
          <p:cNvSpPr/>
          <p:nvPr/>
        </p:nvSpPr>
        <p:spPr>
          <a:xfrm>
            <a:off x="73152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Recursos no dilutivos que no comprometen participación accionaria del Fondo.</a:t>
            </a:r>
            <a:endParaRPr lang="en-US" sz="1100" dirty="0"/>
          </a:p>
        </p:txBody>
      </p:sp>
      <p:sp>
        <p:nvSpPr>
          <p:cNvPr id="31" name="Shape 29"/>
          <p:cNvSpPr/>
          <p:nvPr/>
        </p:nvSpPr>
        <p:spPr>
          <a:xfrm>
            <a:off x="4297680" y="4983480"/>
            <a:ext cx="137160" cy="137160"/>
          </a:xfrm>
          <a:prstGeom prst="ellipse">
            <a:avLst/>
          </a:prstGeom>
          <a:solidFill>
            <a:srgbClr val="2C74FF"/>
          </a:solidFill>
          <a:ln/>
        </p:spPr>
      </p:sp>
      <p:sp>
        <p:nvSpPr>
          <p:cNvPr id="32" name="Text 30"/>
          <p:cNvSpPr/>
          <p:nvPr/>
        </p:nvSpPr>
        <p:spPr>
          <a:xfrm>
            <a:off x="457200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Aceleración de hitos técnicos</a:t>
            </a:r>
            <a:endParaRPr lang="en-US" sz="1300" dirty="0"/>
          </a:p>
        </p:txBody>
      </p:sp>
      <p:sp>
        <p:nvSpPr>
          <p:cNvPr id="33" name="Text 31"/>
          <p:cNvSpPr/>
          <p:nvPr/>
        </p:nvSpPr>
        <p:spPr>
          <a:xfrm>
            <a:off x="457200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Liberación de liquidez para hitos críticos: ingeniería, permisos, pilotos.</a:t>
            </a:r>
            <a:endParaRPr lang="en-US" sz="1100" dirty="0"/>
          </a:p>
        </p:txBody>
      </p:sp>
      <p:sp>
        <p:nvSpPr>
          <p:cNvPr id="34" name="Shape 32"/>
          <p:cNvSpPr/>
          <p:nvPr/>
        </p:nvSpPr>
        <p:spPr>
          <a:xfrm>
            <a:off x="8138160" y="4983480"/>
            <a:ext cx="137160" cy="137160"/>
          </a:xfrm>
          <a:prstGeom prst="ellipse">
            <a:avLst/>
          </a:prstGeom>
          <a:solidFill>
            <a:srgbClr val="2C74FF"/>
          </a:solidFill>
          <a:ln/>
        </p:spPr>
      </p:sp>
      <p:sp>
        <p:nvSpPr>
          <p:cNvPr id="35" name="Text 33"/>
          <p:cNvSpPr/>
          <p:nvPr/>
        </p:nvSpPr>
        <p:spPr>
          <a:xfrm>
            <a:off x="841248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Co-validación institucional</a:t>
            </a:r>
            <a:endParaRPr lang="en-US" sz="1300" dirty="0"/>
          </a:p>
        </p:txBody>
      </p:sp>
      <p:sp>
        <p:nvSpPr>
          <p:cNvPr id="36" name="Text 34"/>
          <p:cNvSpPr/>
          <p:nvPr/>
        </p:nvSpPr>
        <p:spPr>
          <a:xfrm>
            <a:off x="841248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La adjudicación pública valida técnicamente los proyectos ante terceros.</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06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3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Avance hacia Ready-to-Build</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¿Qué significa Ready-to-Build?</a:t>
            </a:r>
            <a:endParaRPr lang="en-US" sz="1500" dirty="0"/>
          </a:p>
        </p:txBody>
      </p:sp>
      <p:sp>
        <p:nvSpPr>
          <p:cNvPr id="10" name="Text 8"/>
          <p:cNvSpPr/>
          <p:nvPr/>
        </p:nvSpPr>
        <p:spPr>
          <a:xfrm>
            <a:off x="457200" y="2468880"/>
            <a:ext cx="11274552" cy="64008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Estado en que un proyecto cuenta con ingeniería de detalle aprobada, permisos ambientales y sectoriales obtenidos, terrenos asegurados y contratos clave firmados. Marca el punto de máximo valor antes de la construcción.</a:t>
            </a:r>
            <a:endParaRPr lang="en-US" sz="1300" dirty="0"/>
          </a:p>
        </p:txBody>
      </p:sp>
      <p:sp>
        <p:nvSpPr>
          <p:cNvPr id="11" name="Shape 9"/>
          <p:cNvSpPr/>
          <p:nvPr/>
        </p:nvSpPr>
        <p:spPr>
          <a:xfrm>
            <a:off x="457200" y="3291840"/>
            <a:ext cx="2560320" cy="1371600"/>
          </a:xfrm>
          <a:prstGeom prst="roundRect">
            <a:avLst>
              <a:gd name="adj" fmla="val 6000"/>
            </a:avLst>
          </a:prstGeom>
          <a:solidFill>
            <a:srgbClr val="EEEDFE"/>
          </a:solidFill>
          <a:ln/>
        </p:spPr>
      </p:sp>
      <p:sp>
        <p:nvSpPr>
          <p:cNvPr id="12" name="Text 10"/>
          <p:cNvSpPr/>
          <p:nvPr/>
        </p:nvSpPr>
        <p:spPr>
          <a:xfrm>
            <a:off x="64008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1</a:t>
            </a:r>
            <a:endParaRPr lang="en-US" sz="2400" dirty="0"/>
          </a:p>
        </p:txBody>
      </p:sp>
      <p:sp>
        <p:nvSpPr>
          <p:cNvPr id="13" name="Text 11"/>
          <p:cNvSpPr/>
          <p:nvPr/>
        </p:nvSpPr>
        <p:spPr>
          <a:xfrm>
            <a:off x="64008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Ingeniería</a:t>
            </a:r>
            <a:endParaRPr lang="en-US" sz="1400" dirty="0"/>
          </a:p>
        </p:txBody>
      </p:sp>
      <p:sp>
        <p:nvSpPr>
          <p:cNvPr id="14" name="Text 12"/>
          <p:cNvSpPr/>
          <p:nvPr/>
        </p:nvSpPr>
        <p:spPr>
          <a:xfrm>
            <a:off x="64008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Estudios técnicos</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y diseño de detalle</a:t>
            </a:r>
            <a:endParaRPr lang="en-US" sz="1000" dirty="0"/>
          </a:p>
        </p:txBody>
      </p:sp>
      <p:sp>
        <p:nvSpPr>
          <p:cNvPr id="15" name="Text 13"/>
          <p:cNvSpPr/>
          <p:nvPr/>
        </p:nvSpPr>
        <p:spPr>
          <a:xfrm>
            <a:off x="306324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16" name="Shape 14"/>
          <p:cNvSpPr/>
          <p:nvPr/>
        </p:nvSpPr>
        <p:spPr>
          <a:xfrm>
            <a:off x="3383280" y="3291840"/>
            <a:ext cx="2560320" cy="1371600"/>
          </a:xfrm>
          <a:prstGeom prst="roundRect">
            <a:avLst>
              <a:gd name="adj" fmla="val 6000"/>
            </a:avLst>
          </a:prstGeom>
          <a:solidFill>
            <a:srgbClr val="EEEDFE"/>
          </a:solidFill>
          <a:ln/>
        </p:spPr>
      </p:sp>
      <p:sp>
        <p:nvSpPr>
          <p:cNvPr id="17" name="Text 15"/>
          <p:cNvSpPr/>
          <p:nvPr/>
        </p:nvSpPr>
        <p:spPr>
          <a:xfrm>
            <a:off x="356616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2</a:t>
            </a:r>
            <a:endParaRPr lang="en-US" sz="2400" dirty="0"/>
          </a:p>
        </p:txBody>
      </p:sp>
      <p:sp>
        <p:nvSpPr>
          <p:cNvPr id="18" name="Text 16"/>
          <p:cNvSpPr/>
          <p:nvPr/>
        </p:nvSpPr>
        <p:spPr>
          <a:xfrm>
            <a:off x="356616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Permisos</a:t>
            </a:r>
            <a:endParaRPr lang="en-US" sz="1400" dirty="0"/>
          </a:p>
        </p:txBody>
      </p:sp>
      <p:sp>
        <p:nvSpPr>
          <p:cNvPr id="19" name="Text 17"/>
          <p:cNvSpPr/>
          <p:nvPr/>
        </p:nvSpPr>
        <p:spPr>
          <a:xfrm>
            <a:off x="356616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Ambientales,</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sectoriales, eléctricos</a:t>
            </a:r>
            <a:endParaRPr lang="en-US" sz="1000" dirty="0"/>
          </a:p>
        </p:txBody>
      </p:sp>
      <p:sp>
        <p:nvSpPr>
          <p:cNvPr id="20" name="Text 18"/>
          <p:cNvSpPr/>
          <p:nvPr/>
        </p:nvSpPr>
        <p:spPr>
          <a:xfrm>
            <a:off x="598932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1" name="Shape 19"/>
          <p:cNvSpPr/>
          <p:nvPr/>
        </p:nvSpPr>
        <p:spPr>
          <a:xfrm>
            <a:off x="6309360" y="3291840"/>
            <a:ext cx="2560320" cy="1371600"/>
          </a:xfrm>
          <a:prstGeom prst="roundRect">
            <a:avLst>
              <a:gd name="adj" fmla="val 6000"/>
            </a:avLst>
          </a:prstGeom>
          <a:solidFill>
            <a:srgbClr val="EEEDFE"/>
          </a:solidFill>
          <a:ln/>
        </p:spPr>
      </p:sp>
      <p:sp>
        <p:nvSpPr>
          <p:cNvPr id="22" name="Text 20"/>
          <p:cNvSpPr/>
          <p:nvPr/>
        </p:nvSpPr>
        <p:spPr>
          <a:xfrm>
            <a:off x="649224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3</a:t>
            </a:r>
            <a:endParaRPr lang="en-US" sz="2400" dirty="0"/>
          </a:p>
        </p:txBody>
      </p:sp>
      <p:sp>
        <p:nvSpPr>
          <p:cNvPr id="23" name="Text 21"/>
          <p:cNvSpPr/>
          <p:nvPr/>
        </p:nvSpPr>
        <p:spPr>
          <a:xfrm>
            <a:off x="649224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Terrenos</a:t>
            </a:r>
            <a:endParaRPr lang="en-US" sz="1400" dirty="0"/>
          </a:p>
        </p:txBody>
      </p:sp>
      <p:sp>
        <p:nvSpPr>
          <p:cNvPr id="24" name="Text 22"/>
          <p:cNvSpPr/>
          <p:nvPr/>
        </p:nvSpPr>
        <p:spPr>
          <a:xfrm>
            <a:off x="649224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Promesas firmadas,</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servidumbres</a:t>
            </a:r>
            <a:endParaRPr lang="en-US" sz="1000" dirty="0"/>
          </a:p>
        </p:txBody>
      </p:sp>
      <p:sp>
        <p:nvSpPr>
          <p:cNvPr id="25" name="Text 23"/>
          <p:cNvSpPr/>
          <p:nvPr/>
        </p:nvSpPr>
        <p:spPr>
          <a:xfrm>
            <a:off x="891540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6" name="Shape 24"/>
          <p:cNvSpPr/>
          <p:nvPr/>
        </p:nvSpPr>
        <p:spPr>
          <a:xfrm>
            <a:off x="9235440" y="3291840"/>
            <a:ext cx="2560320" cy="1371600"/>
          </a:xfrm>
          <a:prstGeom prst="roundRect">
            <a:avLst>
              <a:gd name="adj" fmla="val 6000"/>
            </a:avLst>
          </a:prstGeom>
          <a:solidFill>
            <a:srgbClr val="4D0F96"/>
          </a:solidFill>
          <a:ln/>
        </p:spPr>
      </p:sp>
      <p:sp>
        <p:nvSpPr>
          <p:cNvPr id="27" name="Text 25"/>
          <p:cNvSpPr/>
          <p:nvPr/>
        </p:nvSpPr>
        <p:spPr>
          <a:xfrm>
            <a:off x="9418320" y="3383280"/>
            <a:ext cx="54864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8" name="Text 26"/>
          <p:cNvSpPr/>
          <p:nvPr/>
        </p:nvSpPr>
        <p:spPr>
          <a:xfrm>
            <a:off x="9418320" y="379476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Contratos</a:t>
            </a:r>
            <a:endParaRPr lang="en-US" sz="1400" dirty="0"/>
          </a:p>
        </p:txBody>
      </p:sp>
      <p:sp>
        <p:nvSpPr>
          <p:cNvPr id="29" name="Text 27"/>
          <p:cNvSpPr/>
          <p:nvPr/>
        </p:nvSpPr>
        <p:spPr>
          <a:xfrm>
            <a:off x="9418320" y="4114800"/>
            <a:ext cx="2286000" cy="5029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PPAs, EPC,</a:t>
            </a:r>
            <a:endParaRPr lang="en-US" sz="1000" dirty="0"/>
          </a:p>
          <a:p>
            <a:pPr marL="0" indent="0">
              <a:buNone/>
            </a:pPr>
            <a:r>
              <a:rPr lang="en-US" sz="1000" dirty="0">
                <a:solidFill>
                  <a:srgbClr val="C4B5FD"/>
                </a:solidFill>
                <a:latin typeface="Helvetica" pitchFamily="34" charset="0"/>
                <a:ea typeface="Helvetica" pitchFamily="34" charset="-122"/>
                <a:cs typeface="Helvetica" pitchFamily="34" charset="-120"/>
              </a:rPr>
              <a:t>financiamiento</a:t>
            </a:r>
            <a:endParaRPr lang="en-US" sz="1000" dirty="0"/>
          </a:p>
        </p:txBody>
      </p:sp>
      <p:sp>
        <p:nvSpPr>
          <p:cNvPr id="30" name="Text 28"/>
          <p:cNvSpPr/>
          <p:nvPr/>
        </p:nvSpPr>
        <p:spPr>
          <a:xfrm>
            <a:off x="457200" y="502920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Aplicación prioritaria en portfolio companies</a:t>
            </a:r>
            <a:endParaRPr lang="en-US" sz="1400" dirty="0"/>
          </a:p>
        </p:txBody>
      </p:sp>
      <p:sp>
        <p:nvSpPr>
          <p:cNvPr id="31" name="Shape 29"/>
          <p:cNvSpPr/>
          <p:nvPr/>
        </p:nvSpPr>
        <p:spPr>
          <a:xfrm>
            <a:off x="502920" y="5513832"/>
            <a:ext cx="137160" cy="137160"/>
          </a:xfrm>
          <a:prstGeom prst="ellipse">
            <a:avLst/>
          </a:prstGeom>
          <a:solidFill>
            <a:srgbClr val="C8A951"/>
          </a:solidFill>
          <a:ln/>
        </p:spPr>
      </p:sp>
      <p:sp>
        <p:nvSpPr>
          <p:cNvPr id="32" name="Text 30"/>
          <p:cNvSpPr/>
          <p:nvPr/>
        </p:nvSpPr>
        <p:spPr>
          <a:xfrm>
            <a:off x="777240" y="54406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33" name="Text 31"/>
          <p:cNvSpPr/>
          <p:nvPr/>
        </p:nvSpPr>
        <p:spPr>
          <a:xfrm>
            <a:off x="3566160" y="54406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Proyectos de valorización CaCO₃ (Chiloé, Linares, Pto. Natales)</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 mitigadas</a:t>
            </a:r>
            <a:endParaRPr lang="en-US" sz="1100" dirty="0"/>
          </a:p>
        </p:txBody>
      </p:sp>
      <p:sp>
        <p:nvSpPr>
          <p:cNvPr id="34" name="Shape 32"/>
          <p:cNvSpPr/>
          <p:nvPr/>
        </p:nvSpPr>
        <p:spPr>
          <a:xfrm>
            <a:off x="502920" y="5971032"/>
            <a:ext cx="137160" cy="137160"/>
          </a:xfrm>
          <a:prstGeom prst="ellipse">
            <a:avLst/>
          </a:prstGeom>
          <a:solidFill>
            <a:srgbClr val="C8A951"/>
          </a:solidFill>
          <a:ln/>
        </p:spPr>
      </p:sp>
      <p:sp>
        <p:nvSpPr>
          <p:cNvPr id="35" name="Text 33"/>
          <p:cNvSpPr/>
          <p:nvPr/>
        </p:nvSpPr>
        <p:spPr>
          <a:xfrm>
            <a:off x="777240" y="58978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36" name="Text 34"/>
          <p:cNvSpPr/>
          <p:nvPr/>
        </p:nvSpPr>
        <p:spPr>
          <a:xfrm>
            <a:off x="3566160" y="58978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6 proyectos energéticos +150 MW (PV, BESS y PMGD)</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360 MWh almacenamiento total</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22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08 — 18</a:t>
            </a:r>
          </a:p>
        </p:txBody>
      </p:sp>
      <p:sp>
        <p:nvSpPr>
          <p:cNvPr id="10" name="Kicker"/>
          <p:cNvSpPr/>
          <p:nvPr/>
        </p:nvSpPr>
        <p:spPr>
          <a:xfrm>
            <a:off x="457200" y="2400000"/>
            <a:ext cx="11274552" cy="320040"/>
          </a:xfrm>
          <a:prstGeom prst="rect">
            <a:avLst/>
          </a:prstGeom>
          <a:noFill/>
          <a:ln/>
        </p:spPr>
        <p:txBody>
          <a:bodyPr wrap="square" rtlCol="0" anchor="ctr"/>
          <a:lstStyle/>
          <a:p>
            <a:pPr marL="0" indent="0" algn="ctr">
              <a:buNone/>
            </a:pPr>
            <a:r>
              <a:rPr lang="en-US" sz="1300" b="1" kern="0" spc="400" dirty="0">
                <a:solidFill>
                  <a:srgbClr val="823DBC"/>
                </a:solidFill>
                <a:latin typeface="Helvetica"/>
              </a:rPr>
              <a:t>SECCIÓN 2 · ART. 32 (1) RI</a:t>
            </a:r>
          </a:p>
        </p:txBody>
      </p:sp>
      <p:sp>
        <p:nvSpPr>
          <p:cNvPr id="11" name="Title"/>
          <p:cNvSpPr/>
          <p:nvPr/>
        </p:nvSpPr>
        <p:spPr>
          <a:xfrm>
            <a:off x="457200" y="2800000"/>
            <a:ext cx="11274552" cy="900000"/>
          </a:xfrm>
          <a:prstGeom prst="rect">
            <a:avLst/>
          </a:prstGeom>
          <a:noFill/>
          <a:ln/>
        </p:spPr>
        <p:txBody>
          <a:bodyPr wrap="square" rtlCol="0" anchor="t"/>
          <a:lstStyle/>
          <a:p>
            <a:pPr marL="0" indent="0" algn="ctr">
              <a:buNone/>
            </a:pPr>
            <a:r>
              <a:rPr lang="en-US" sz="6000" b="1" kern="0" spc="-50" dirty="0">
                <a:solidFill>
                  <a:srgbClr val="1D1D1F"/>
                </a:solidFill>
                <a:latin typeface="Helvetica"/>
              </a:rPr>
              <a:t>Estados Financieros 2025</a:t>
            </a:r>
          </a:p>
        </p:txBody>
      </p:sp>
      <p:sp>
        <p:nvSpPr>
          <p:cNvPr id="12" name="Subtitle"/>
          <p:cNvSpPr/>
          <p:nvPr/>
        </p:nvSpPr>
        <p:spPr>
          <a:xfrm>
            <a:off x="457200" y="3850000"/>
            <a:ext cx="11274552" cy="400000"/>
          </a:xfrm>
          <a:prstGeom prst="rect">
            <a:avLst/>
          </a:prstGeom>
          <a:noFill/>
          <a:ln/>
        </p:spPr>
        <p:txBody>
          <a:bodyPr wrap="square" rtlCol="0" anchor="t"/>
          <a:lstStyle/>
          <a:p>
            <a:pPr marL="0" indent="0" algn="ctr">
              <a:buNone/>
            </a:pPr>
            <a:r>
              <a:rPr lang="en-US" sz="1800" i="1" kern="0" dirty="0">
                <a:solidFill>
                  <a:srgbClr val="424245"/>
                </a:solidFill>
                <a:latin typeface="Georgia"/>
              </a:rPr>
              <a:t>Auditados por Nattero Auditores Consultores  ·  Opinión sin modificaciones</a:t>
            </a:r>
          </a:p>
        </p:txBody>
      </p:sp>
      <p:sp>
        <p:nvSpPr>
          <p:cNvPr id="13" name="Components"/>
          <p:cNvSpPr/>
          <p:nvPr/>
        </p:nvSpPr>
        <p:spPr>
          <a:xfrm>
            <a:off x="457200" y="4500000"/>
            <a:ext cx="11274552" cy="320000"/>
          </a:xfrm>
          <a:prstGeom prst="rect">
            <a:avLst/>
          </a:prstGeom>
          <a:noFill/>
          <a:ln/>
        </p:spPr>
        <p:txBody>
          <a:bodyPr wrap="square" rtlCol="0" anchor="t"/>
          <a:lstStyle/>
          <a:p>
            <a:pPr marL="0" indent="0" algn="ctr">
              <a:buNone/>
            </a:pPr>
            <a:r>
              <a:rPr lang="en-US" sz="1100" kern="0" spc="100" dirty="0">
                <a:solidFill>
                  <a:srgbClr val="86868B"/>
                </a:solidFill>
                <a:latin typeface="Helvetica"/>
              </a:rPr>
              <a:t>Situación Financiera  ·  Resultados Integrales  ·  Flujo de Efectivo  ·  Notas explicativas  ·  Dictamen del auditor</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22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09 — 18</a:t>
            </a:r>
          </a:p>
        </p:txBody>
      </p:sp>
      <p:sp>
        <p:nvSpPr>
          <p:cNvPr id="10" name="Kicker"/>
          <p:cNvSpPr/>
          <p:nvPr/>
        </p:nvSpPr>
        <p:spPr>
          <a:xfrm>
            <a:off x="457200" y="640080"/>
            <a:ext cx="11274552" cy="320040"/>
          </a:xfrm>
          <a:prstGeom prst="rect">
            <a:avLst/>
          </a:prstGeom>
          <a:noFill/>
          <a:ln/>
        </p:spPr>
        <p:txBody>
          <a:bodyPr wrap="square" rtlCol="0" anchor="ctr"/>
          <a:lstStyle/>
          <a:p>
            <a:pPr marL="0" indent="0">
              <a:buNone/>
            </a:pPr>
            <a:r>
              <a:rPr lang="en-US" sz="1100" b="1" kern="0" spc="400" dirty="0">
                <a:solidFill>
                  <a:srgbClr val="823DBC"/>
                </a:solidFill>
                <a:latin typeface="Helvetica"/>
              </a:rPr>
              <a:t>FINANCIAL STATEMENTS · Art. 32 (1) RI</a:t>
            </a:r>
          </a:p>
        </p:txBody>
      </p:sp>
      <p:sp>
        <p:nvSpPr>
          <p:cNvPr id="11" name="Title"/>
          <p:cNvSpPr/>
          <p:nvPr/>
        </p:nvSpPr>
        <p:spPr>
          <a:xfrm>
            <a:off x="457200" y="960120"/>
            <a:ext cx="11274552" cy="640080"/>
          </a:xfrm>
          <a:prstGeom prst="rect">
            <a:avLst/>
          </a:prstGeom>
          <a:noFill/>
          <a:ln/>
        </p:spPr>
        <p:txBody>
          <a:bodyPr wrap="square" rtlCol="0" anchor="t"/>
          <a:lstStyle/>
          <a:p>
            <a:pPr marL="0" indent="0">
              <a:buNone/>
            </a:pPr>
            <a:r>
              <a:rPr lang="en-US" sz="4200" b="1" kern="0" spc="-50" dirty="0">
                <a:solidFill>
                  <a:srgbClr val="1D1D1F"/>
                </a:solidFill>
                <a:latin typeface="Helvetica"/>
              </a:rPr>
              <a:t>Estado de Situación Financiera</a:t>
            </a:r>
          </a:p>
        </p:txBody>
      </p:sp>
      <p:sp>
        <p:nvSpPr>
          <p:cNvPr id="12" name="Subtitle"/>
          <p:cNvSpPr/>
          <p:nvPr/>
        </p:nvSpPr>
        <p:spPr>
          <a:xfrm>
            <a:off x="457200" y="1660080"/>
            <a:ext cx="11274552" cy="300000"/>
          </a:xfrm>
          <a:prstGeom prst="rect">
            <a:avLst/>
          </a:prstGeom>
          <a:noFill/>
          <a:ln/>
        </p:spPr>
        <p:txBody>
          <a:bodyPr wrap="square" rtlCol="0" anchor="t"/>
          <a:lstStyle/>
          <a:p>
            <a:pPr marL="0" indent="0">
              <a:buNone/>
            </a:pPr>
            <a:r>
              <a:rPr lang="en-US" sz="1500" i="1" kern="0" dirty="0">
                <a:solidFill>
                  <a:srgbClr val="424245"/>
                </a:solidFill>
                <a:latin typeface="Georgia"/>
              </a:rPr>
              <a:t>Al 31 de diciembre de 2025 y 2024 · cifras en miles de pesos (M$)</a:t>
            </a:r>
          </a:p>
        </p:txBody>
      </p:sp>
      <p:sp>
        <p:nvSpPr>
          <p:cNvPr id="20" name="KPI1Bg"/>
          <p:cNvSpPr/>
          <p:nvPr/>
        </p:nvSpPr>
        <p:spPr>
          <a:xfrm>
            <a:off x="457200" y="2057400"/>
            <a:ext cx="2743200" cy="850000"/>
          </a:xfrm>
          <a:prstGeom prst="roundRect">
            <a:avLst>
              <a:gd name="adj" fmla="val 8000"/>
            </a:avLst>
          </a:prstGeom>
          <a:solidFill>
            <a:srgbClr val="F2EAFB"/>
          </a:solidFill>
          <a:ln/>
        </p:spPr>
        <p:txBody>
          <a:bodyPr/>
          <a:lstStyle/>
          <a:p>
            <a:endParaRPr lang="en-US"/>
          </a:p>
        </p:txBody>
      </p:sp>
      <p:sp>
        <p:nvSpPr>
          <p:cNvPr id="21" name="KPI1Num"/>
          <p:cNvSpPr/>
          <p:nvPr/>
        </p:nvSpPr>
        <p:spPr>
          <a:xfrm>
            <a:off x="64008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1.682.320</a:t>
            </a:r>
          </a:p>
        </p:txBody>
      </p:sp>
      <p:sp>
        <p:nvSpPr>
          <p:cNvPr id="22" name="KPI1Lbl"/>
          <p:cNvSpPr/>
          <p:nvPr/>
        </p:nvSpPr>
        <p:spPr>
          <a:xfrm>
            <a:off x="64008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Total activos M$</a:t>
            </a:r>
          </a:p>
          <a:p>
            <a:pPr marL="0" indent="0">
              <a:buNone/>
            </a:pPr>
            <a:r>
              <a:rPr lang="en-US" sz="900" dirty="0">
                <a:solidFill>
                  <a:srgbClr val="86868B"/>
                </a:solidFill>
                <a:latin typeface="Helvetica"/>
              </a:rPr>
              <a:t>2024: 626.397 · +168,6%</a:t>
            </a:r>
          </a:p>
        </p:txBody>
      </p:sp>
      <p:sp>
        <p:nvSpPr>
          <p:cNvPr id="23" name="KPI2Bg"/>
          <p:cNvSpPr/>
          <p:nvPr/>
        </p:nvSpPr>
        <p:spPr>
          <a:xfrm>
            <a:off x="3291840" y="2057400"/>
            <a:ext cx="2743200" cy="850000"/>
          </a:xfrm>
          <a:prstGeom prst="roundRect">
            <a:avLst>
              <a:gd name="adj" fmla="val 8000"/>
            </a:avLst>
          </a:prstGeom>
          <a:solidFill>
            <a:srgbClr val="F2EAFB"/>
          </a:solidFill>
          <a:ln/>
        </p:spPr>
        <p:txBody>
          <a:bodyPr/>
          <a:lstStyle/>
          <a:p>
            <a:endParaRPr lang="en-US"/>
          </a:p>
        </p:txBody>
      </p:sp>
      <p:sp>
        <p:nvSpPr>
          <p:cNvPr id="24" name="KPI2Num"/>
          <p:cNvSpPr/>
          <p:nvPr/>
        </p:nvSpPr>
        <p:spPr>
          <a:xfrm>
            <a:off x="347472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1.452.220</a:t>
            </a:r>
          </a:p>
        </p:txBody>
      </p:sp>
      <p:sp>
        <p:nvSpPr>
          <p:cNvPr id="25" name="KPI2Lbl"/>
          <p:cNvSpPr/>
          <p:nvPr/>
        </p:nvSpPr>
        <p:spPr>
          <a:xfrm>
            <a:off x="347472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Inversiones M.P. M$</a:t>
            </a:r>
          </a:p>
          <a:p>
            <a:pPr marL="0" indent="0">
              <a:buNone/>
            </a:pPr>
            <a:r>
              <a:rPr lang="en-US" sz="900" dirty="0">
                <a:solidFill>
                  <a:srgbClr val="86868B"/>
                </a:solidFill>
                <a:latin typeface="Helvetica"/>
              </a:rPr>
              <a:t>6 portfolio companies · Nota 8</a:t>
            </a:r>
          </a:p>
        </p:txBody>
      </p:sp>
      <p:sp>
        <p:nvSpPr>
          <p:cNvPr id="26" name="KPI3Bg"/>
          <p:cNvSpPr/>
          <p:nvPr/>
        </p:nvSpPr>
        <p:spPr>
          <a:xfrm>
            <a:off x="6126480" y="2057400"/>
            <a:ext cx="2743200" cy="850000"/>
          </a:xfrm>
          <a:prstGeom prst="roundRect">
            <a:avLst>
              <a:gd name="adj" fmla="val 8000"/>
            </a:avLst>
          </a:prstGeom>
          <a:solidFill>
            <a:srgbClr val="EAF3FB"/>
          </a:solidFill>
          <a:ln/>
        </p:spPr>
        <p:txBody>
          <a:bodyPr/>
          <a:lstStyle/>
          <a:p>
            <a:endParaRPr lang="en-US"/>
          </a:p>
        </p:txBody>
      </p:sp>
      <p:sp>
        <p:nvSpPr>
          <p:cNvPr id="27" name="KPI3Num"/>
          <p:cNvSpPr/>
          <p:nvPr/>
        </p:nvSpPr>
        <p:spPr>
          <a:xfrm>
            <a:off x="6309360" y="2148840"/>
            <a:ext cx="2377440" cy="450000"/>
          </a:xfrm>
          <a:prstGeom prst="rect">
            <a:avLst/>
          </a:prstGeom>
          <a:noFill/>
          <a:ln/>
        </p:spPr>
        <p:txBody>
          <a:bodyPr wrap="square" rtlCol="0" anchor="t"/>
          <a:lstStyle/>
          <a:p>
            <a:pPr marL="0" indent="0">
              <a:buNone/>
            </a:pPr>
            <a:r>
              <a:rPr lang="en-US" sz="3200" b="1" kern="0" spc="-50" dirty="0">
                <a:solidFill>
                  <a:srgbClr val="2B5C8A"/>
                </a:solidFill>
                <a:latin typeface="Helvetica"/>
              </a:rPr>
              <a:t>2.230.844</a:t>
            </a:r>
          </a:p>
        </p:txBody>
      </p:sp>
      <p:sp>
        <p:nvSpPr>
          <p:cNvPr id="28" name="KPI3Lbl"/>
          <p:cNvSpPr/>
          <p:nvPr/>
        </p:nvSpPr>
        <p:spPr>
          <a:xfrm>
            <a:off x="630936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Pasivos no corrientes M$</a:t>
            </a:r>
          </a:p>
          <a:p>
            <a:pPr marL="0" indent="0">
              <a:buNone/>
            </a:pPr>
            <a:r>
              <a:rPr lang="en-US" sz="900" dirty="0">
                <a:solidFill>
                  <a:srgbClr val="86868B"/>
                </a:solidFill>
                <a:latin typeface="Helvetica"/>
              </a:rPr>
              <a:t>Línea CORFO · 55.201 UF utilizadas</a:t>
            </a:r>
          </a:p>
        </p:txBody>
      </p:sp>
      <p:sp>
        <p:nvSpPr>
          <p:cNvPr id="29" name="KPI4Bg"/>
          <p:cNvSpPr/>
          <p:nvPr/>
        </p:nvSpPr>
        <p:spPr>
          <a:xfrm>
            <a:off x="8961120" y="2057400"/>
            <a:ext cx="2770632" cy="850000"/>
          </a:xfrm>
          <a:prstGeom prst="roundRect">
            <a:avLst>
              <a:gd name="adj" fmla="val 8000"/>
            </a:avLst>
          </a:prstGeom>
          <a:solidFill>
            <a:srgbClr val="F5F5F7"/>
          </a:solidFill>
          <a:ln/>
        </p:spPr>
        <p:txBody>
          <a:bodyPr/>
          <a:lstStyle/>
          <a:p>
            <a:endParaRPr lang="en-US"/>
          </a:p>
        </p:txBody>
      </p:sp>
      <p:sp>
        <p:nvSpPr>
          <p:cNvPr id="30" name="KPI4Num"/>
          <p:cNvSpPr/>
          <p:nvPr/>
        </p:nvSpPr>
        <p:spPr>
          <a:xfrm>
            <a:off x="9144000" y="2148840"/>
            <a:ext cx="2404872" cy="450000"/>
          </a:xfrm>
          <a:prstGeom prst="rect">
            <a:avLst/>
          </a:prstGeom>
          <a:noFill/>
          <a:ln/>
        </p:spPr>
        <p:txBody>
          <a:bodyPr wrap="square" rtlCol="0" anchor="t"/>
          <a:lstStyle/>
          <a:p>
            <a:pPr marL="0" indent="0">
              <a:buNone/>
            </a:pPr>
            <a:r>
              <a:rPr lang="en-US" sz="3200" b="1" kern="0" spc="-50" dirty="0">
                <a:solidFill>
                  <a:srgbClr val="1D1D1F"/>
                </a:solidFill>
                <a:latin typeface="Helvetica"/>
              </a:rPr>
              <a:t>(548.524)</a:t>
            </a:r>
          </a:p>
        </p:txBody>
      </p:sp>
      <p:sp>
        <p:nvSpPr>
          <p:cNvPr id="31" name="KPI4Lbl"/>
          <p:cNvSpPr/>
          <p:nvPr/>
        </p:nvSpPr>
        <p:spPr>
          <a:xfrm>
            <a:off x="9144000" y="2620645"/>
            <a:ext cx="2404872" cy="266700"/>
          </a:xfrm>
          <a:prstGeom prst="rect">
            <a:avLst/>
          </a:prstGeom>
          <a:noFill/>
          <a:ln/>
        </p:spPr>
        <p:txBody>
          <a:bodyPr wrap="square" rtlCol="0" anchor="t"/>
          <a:lstStyle/>
          <a:p>
            <a:pPr marL="0" indent="0">
              <a:buNone/>
            </a:pPr>
            <a:r>
              <a:rPr lang="en-US" sz="1100" b="1" dirty="0">
                <a:solidFill>
                  <a:srgbClr val="1D1D1F"/>
                </a:solidFill>
                <a:latin typeface="Helvetica"/>
              </a:rPr>
              <a:t>Patrimonio M$</a:t>
            </a:r>
          </a:p>
          <a:p>
            <a:pPr marL="0" indent="0">
              <a:buNone/>
            </a:pPr>
            <a:r>
              <a:rPr lang="en-US" sz="900" dirty="0">
                <a:solidFill>
                  <a:srgbClr val="86868B"/>
                </a:solidFill>
                <a:latin typeface="Helvetica"/>
              </a:rPr>
              <a:t>Etapa de desarrollo · sin liquidaciones</a:t>
            </a:r>
          </a:p>
        </p:txBody>
      </p:sp>
      <p:sp>
        <p:nvSpPr>
          <p:cNvPr id="40" name="ActivosTitle"/>
          <p:cNvSpPr/>
          <p:nvPr/>
        </p:nvSpPr>
        <p:spPr>
          <a:xfrm>
            <a:off x="4572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ACTIVOS</a:t>
            </a:r>
          </a:p>
        </p:txBody>
      </p:sp>
      <p:sp>
        <p:nvSpPr>
          <p:cNvPr id="41" name="ActYr25"/>
          <p:cNvSpPr/>
          <p:nvPr/>
        </p:nvSpPr>
        <p:spPr>
          <a:xfrm>
            <a:off x="388620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42" name="ActYr24"/>
          <p:cNvSpPr/>
          <p:nvPr/>
        </p:nvSpPr>
        <p:spPr>
          <a:xfrm>
            <a:off x="493776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43" name="ActLbl"/>
          <p:cNvSpPr/>
          <p:nvPr/>
        </p:nvSpPr>
        <p:spPr>
          <a:xfrm>
            <a:off x="457200" y="3780000"/>
            <a:ext cx="3429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Activos corrientes</a:t>
            </a:r>
          </a:p>
          <a:p>
            <a:pPr marL="0" indent="0">
              <a:lnSpc>
                <a:spcPts val="2000"/>
              </a:lnSpc>
              <a:buNone/>
            </a:pPr>
            <a:r>
              <a:rPr lang="en-US" sz="1050" dirty="0">
                <a:solidFill>
                  <a:srgbClr val="424245"/>
                </a:solidFill>
                <a:latin typeface="Helvetica"/>
              </a:rPr>
              <a:t>Efectivo y equivalentes</a:t>
            </a:r>
          </a:p>
          <a:p>
            <a:pPr marL="0" indent="0">
              <a:lnSpc>
                <a:spcPts val="2000"/>
              </a:lnSpc>
              <a:buNone/>
            </a:pPr>
            <a:r>
              <a:rPr lang="en-US" sz="1050" dirty="0">
                <a:solidFill>
                  <a:srgbClr val="424245"/>
                </a:solidFill>
                <a:latin typeface="Helvetica"/>
              </a:rPr>
              <a:t>Cuentas por cobrar operacionales</a:t>
            </a:r>
          </a:p>
          <a:p>
            <a:pPr marL="0" indent="0">
              <a:lnSpc>
                <a:spcPts val="2000"/>
              </a:lnSpc>
              <a:buNone/>
            </a:pPr>
            <a:r>
              <a:rPr lang="en-US" sz="1050" dirty="0">
                <a:solidFill>
                  <a:srgbClr val="424245"/>
                </a:solidFill>
                <a:latin typeface="Helvetica"/>
              </a:rPr>
              <a:t>Cuentas por cobrar relacionadas</a:t>
            </a:r>
          </a:p>
          <a:p>
            <a:pPr marL="0" indent="0">
              <a:lnSpc>
                <a:spcPts val="2400"/>
              </a:lnSpc>
              <a:buNone/>
            </a:pPr>
            <a:r>
              <a:rPr lang="en-US" sz="1100" b="1" dirty="0">
                <a:solidFill>
                  <a:srgbClr val="1D1D1F"/>
                </a:solidFill>
                <a:latin typeface="Helvetica"/>
              </a:rPr>
              <a:t>Total activos corrientes</a:t>
            </a:r>
          </a:p>
          <a:p>
            <a:pPr marL="0" indent="0">
              <a:lnSpc>
                <a:spcPts val="2400"/>
              </a:lnSpc>
              <a:buNone/>
            </a:pPr>
            <a:r>
              <a:rPr lang="en-US" sz="1100" b="1" dirty="0">
                <a:solidFill>
                  <a:srgbClr val="1D1D1F"/>
                </a:solidFill>
                <a:latin typeface="Helvetica"/>
              </a:rPr>
              <a:t>Activos no corrientes</a:t>
            </a:r>
          </a:p>
          <a:p>
            <a:pPr marL="0" indent="0">
              <a:lnSpc>
                <a:spcPts val="2000"/>
              </a:lnSpc>
              <a:buNone/>
            </a:pPr>
            <a:r>
              <a:rPr lang="en-US" sz="1050" dirty="0">
                <a:solidFill>
                  <a:srgbClr val="424245"/>
                </a:solidFill>
                <a:latin typeface="Helvetica"/>
              </a:rPr>
              <a:t>Inversiones método participación</a:t>
            </a:r>
          </a:p>
          <a:p>
            <a:pPr marL="0" indent="0">
              <a:lnSpc>
                <a:spcPts val="2400"/>
              </a:lnSpc>
              <a:buNone/>
            </a:pPr>
            <a:r>
              <a:rPr lang="en-US" sz="1150" b="1" dirty="0">
                <a:solidFill>
                  <a:srgbClr val="6B2DA8"/>
                </a:solidFill>
                <a:latin typeface="Helvetica"/>
              </a:rPr>
              <a:t>TOTAL ACTIVOS</a:t>
            </a:r>
          </a:p>
        </p:txBody>
      </p:sp>
      <p:sp>
        <p:nvSpPr>
          <p:cNvPr id="44" name="ActC25"/>
          <p:cNvSpPr/>
          <p:nvPr/>
        </p:nvSpPr>
        <p:spPr>
          <a:xfrm>
            <a:off x="388620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55.564</a:t>
            </a:r>
          </a:p>
          <a:p>
            <a:pPr marL="0" indent="0" algn="r">
              <a:lnSpc>
                <a:spcPts val="2000"/>
              </a:lnSpc>
              <a:buNone/>
            </a:pPr>
            <a:r>
              <a:rPr lang="en-US" sz="1050" dirty="0">
                <a:solidFill>
                  <a:srgbClr val="424245"/>
                </a:solidFill>
                <a:latin typeface="Helvetica"/>
              </a:rPr>
              <a:t>—</a:t>
            </a:r>
          </a:p>
          <a:p>
            <a:pPr marL="0" indent="0" algn="r">
              <a:lnSpc>
                <a:spcPts val="2000"/>
              </a:lnSpc>
              <a:buNone/>
            </a:pPr>
            <a:r>
              <a:rPr lang="en-US" sz="1050" dirty="0">
                <a:solidFill>
                  <a:srgbClr val="424245"/>
                </a:solidFill>
                <a:latin typeface="Helvetica"/>
              </a:rPr>
              <a:t>174.536</a:t>
            </a:r>
          </a:p>
          <a:p>
            <a:pPr marL="0" indent="0" algn="r">
              <a:lnSpc>
                <a:spcPts val="2400"/>
              </a:lnSpc>
              <a:buNone/>
            </a:pPr>
            <a:r>
              <a:rPr lang="en-US" sz="1100" b="1" dirty="0">
                <a:solidFill>
                  <a:srgbClr val="1D1D1F"/>
                </a:solidFill>
                <a:latin typeface="Helvetica"/>
              </a:rPr>
              <a:t>230.100</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1.452.220</a:t>
            </a:r>
          </a:p>
          <a:p>
            <a:pPr marL="0" indent="0" algn="r">
              <a:lnSpc>
                <a:spcPts val="2400"/>
              </a:lnSpc>
              <a:buNone/>
            </a:pPr>
            <a:r>
              <a:rPr lang="en-US" sz="1150" b="1" dirty="0">
                <a:solidFill>
                  <a:srgbClr val="6B2DA8"/>
                </a:solidFill>
                <a:latin typeface="Helvetica"/>
              </a:rPr>
              <a:t>1.682.320</a:t>
            </a:r>
          </a:p>
        </p:txBody>
      </p:sp>
      <p:sp>
        <p:nvSpPr>
          <p:cNvPr id="45" name="ActC24"/>
          <p:cNvSpPr/>
          <p:nvPr/>
        </p:nvSpPr>
        <p:spPr>
          <a:xfrm>
            <a:off x="493776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181.301</a:t>
            </a:r>
          </a:p>
          <a:p>
            <a:pPr marL="0" indent="0" algn="r">
              <a:lnSpc>
                <a:spcPts val="2000"/>
              </a:lnSpc>
              <a:buNone/>
            </a:pPr>
            <a:r>
              <a:rPr lang="en-US" sz="1050" dirty="0">
                <a:solidFill>
                  <a:srgbClr val="86868B"/>
                </a:solidFill>
                <a:latin typeface="Helvetica"/>
              </a:rPr>
              <a:t>31.092</a:t>
            </a:r>
          </a:p>
          <a:p>
            <a:pPr marL="0" indent="0" algn="r">
              <a:lnSpc>
                <a:spcPts val="2000"/>
              </a:lnSpc>
              <a:buNone/>
            </a:pPr>
            <a:r>
              <a:rPr lang="en-US" sz="1050" dirty="0">
                <a:solidFill>
                  <a:srgbClr val="86868B"/>
                </a:solidFill>
                <a:latin typeface="Helvetica"/>
              </a:rPr>
              <a:t>130.000</a:t>
            </a:r>
          </a:p>
          <a:p>
            <a:pPr marL="0" indent="0" algn="r">
              <a:lnSpc>
                <a:spcPts val="2400"/>
              </a:lnSpc>
              <a:buNone/>
            </a:pPr>
            <a:r>
              <a:rPr lang="en-US" sz="1100" b="1" dirty="0">
                <a:solidFill>
                  <a:srgbClr val="86868B"/>
                </a:solidFill>
                <a:latin typeface="Helvetica"/>
              </a:rPr>
              <a:t>342.393</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284.004</a:t>
            </a:r>
          </a:p>
          <a:p>
            <a:pPr marL="0" indent="0" algn="r">
              <a:lnSpc>
                <a:spcPts val="2400"/>
              </a:lnSpc>
              <a:buNone/>
            </a:pPr>
            <a:r>
              <a:rPr lang="en-US" sz="1150" b="1" dirty="0">
                <a:solidFill>
                  <a:srgbClr val="6B2DA8"/>
                </a:solidFill>
                <a:latin typeface="Helvetica"/>
              </a:rPr>
              <a:t>626.397</a:t>
            </a:r>
          </a:p>
        </p:txBody>
      </p:sp>
      <p:sp>
        <p:nvSpPr>
          <p:cNvPr id="50" name="PasTitle"/>
          <p:cNvSpPr/>
          <p:nvPr/>
        </p:nvSpPr>
        <p:spPr>
          <a:xfrm>
            <a:off x="63360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PASIVOS Y PATRIMONIO</a:t>
            </a:r>
          </a:p>
        </p:txBody>
      </p:sp>
      <p:sp>
        <p:nvSpPr>
          <p:cNvPr id="51" name="PasYr25"/>
          <p:cNvSpPr/>
          <p:nvPr/>
        </p:nvSpPr>
        <p:spPr>
          <a:xfrm>
            <a:off x="970092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52" name="PasYr24"/>
          <p:cNvSpPr/>
          <p:nvPr/>
        </p:nvSpPr>
        <p:spPr>
          <a:xfrm>
            <a:off x="1075248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53" name="PasLbl"/>
          <p:cNvSpPr/>
          <p:nvPr/>
        </p:nvSpPr>
        <p:spPr>
          <a:xfrm>
            <a:off x="6336000" y="3780000"/>
            <a:ext cx="3400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Pasivos no corrientes</a:t>
            </a:r>
          </a:p>
          <a:p>
            <a:pPr marL="0" indent="0">
              <a:lnSpc>
                <a:spcPts val="2000"/>
              </a:lnSpc>
              <a:buNone/>
            </a:pPr>
            <a:r>
              <a:rPr lang="en-US" sz="1050" dirty="0">
                <a:solidFill>
                  <a:srgbClr val="424245"/>
                </a:solidFill>
                <a:latin typeface="Helvetica"/>
              </a:rPr>
              <a:t>Préstamos línea CORFO</a:t>
            </a:r>
          </a:p>
          <a:p>
            <a:pPr marL="0" indent="0">
              <a:lnSpc>
                <a:spcPts val="2400"/>
              </a:lnSpc>
              <a:buNone/>
            </a:pPr>
            <a:r>
              <a:rPr lang="en-US" sz="1100" b="1" dirty="0">
                <a:solidFill>
                  <a:srgbClr val="1D1D1F"/>
                </a:solidFill>
                <a:latin typeface="Helvetica"/>
              </a:rPr>
              <a:t>Total pasivos no corrientes</a:t>
            </a:r>
          </a:p>
          <a:p>
            <a:pPr marL="0" indent="0">
              <a:lnSpc>
                <a:spcPts val="2400"/>
              </a:lnSpc>
              <a:buNone/>
            </a:pPr>
            <a:r>
              <a:rPr lang="en-US" sz="1100" b="1" dirty="0">
                <a:solidFill>
                  <a:srgbClr val="1D1D1F"/>
                </a:solidFill>
                <a:latin typeface="Helvetica"/>
              </a:rPr>
              <a:t>Patrimonio</a:t>
            </a:r>
          </a:p>
          <a:p>
            <a:pPr marL="0" indent="0">
              <a:lnSpc>
                <a:spcPts val="2000"/>
              </a:lnSpc>
              <a:buNone/>
            </a:pPr>
            <a:r>
              <a:rPr lang="en-US" sz="1050" dirty="0">
                <a:solidFill>
                  <a:srgbClr val="424245"/>
                </a:solidFill>
                <a:latin typeface="Helvetica"/>
              </a:rPr>
              <a:t>Aportes</a:t>
            </a:r>
          </a:p>
          <a:p>
            <a:pPr marL="0" indent="0">
              <a:lnSpc>
                <a:spcPts val="2000"/>
              </a:lnSpc>
              <a:buNone/>
            </a:pPr>
            <a:r>
              <a:rPr lang="en-US" sz="1050" dirty="0">
                <a:solidFill>
                  <a:srgbClr val="424245"/>
                </a:solidFill>
                <a:latin typeface="Helvetica"/>
              </a:rPr>
              <a:t>Pérdidas acumuladas</a:t>
            </a:r>
          </a:p>
          <a:p>
            <a:pPr marL="0" indent="0">
              <a:lnSpc>
                <a:spcPts val="2000"/>
              </a:lnSpc>
              <a:buNone/>
            </a:pPr>
            <a:r>
              <a:rPr lang="en-US" sz="1050" dirty="0">
                <a:solidFill>
                  <a:srgbClr val="424245"/>
                </a:solidFill>
                <a:latin typeface="Helvetica"/>
              </a:rPr>
              <a:t>Resultado del ejercicio</a:t>
            </a:r>
          </a:p>
          <a:p>
            <a:pPr marL="0" indent="0">
              <a:lnSpc>
                <a:spcPts val="2400"/>
              </a:lnSpc>
              <a:buNone/>
            </a:pPr>
            <a:r>
              <a:rPr lang="en-US" sz="1150" b="1" dirty="0">
                <a:solidFill>
                  <a:srgbClr val="6B2DA8"/>
                </a:solidFill>
                <a:latin typeface="Helvetica"/>
              </a:rPr>
              <a:t>TOTAL PATR. Y PASIVOS</a:t>
            </a:r>
          </a:p>
        </p:txBody>
      </p:sp>
      <p:sp>
        <p:nvSpPr>
          <p:cNvPr id="54" name="PasC25"/>
          <p:cNvSpPr/>
          <p:nvPr/>
        </p:nvSpPr>
        <p:spPr>
          <a:xfrm>
            <a:off x="970092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2.230.844</a:t>
            </a:r>
          </a:p>
          <a:p>
            <a:pPr marL="0" indent="0" algn="r">
              <a:lnSpc>
                <a:spcPts val="2400"/>
              </a:lnSpc>
              <a:buNone/>
            </a:pPr>
            <a:r>
              <a:rPr lang="en-US" sz="1100" b="1" dirty="0">
                <a:solidFill>
                  <a:srgbClr val="1D1D1F"/>
                </a:solidFill>
                <a:latin typeface="Helvetica"/>
              </a:rPr>
              <a:t>2.230.844</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1.059.544</a:t>
            </a:r>
          </a:p>
          <a:p>
            <a:pPr marL="0" indent="0" algn="r">
              <a:lnSpc>
                <a:spcPts val="2000"/>
              </a:lnSpc>
              <a:buNone/>
            </a:pPr>
            <a:r>
              <a:rPr lang="en-US" sz="1050" dirty="0">
                <a:solidFill>
                  <a:srgbClr val="424245"/>
                </a:solidFill>
                <a:latin typeface="Helvetica"/>
              </a:rPr>
              <a:t>(300.412)</a:t>
            </a:r>
          </a:p>
          <a:p>
            <a:pPr marL="0" indent="0" algn="r">
              <a:lnSpc>
                <a:spcPts val="2000"/>
              </a:lnSpc>
              <a:buNone/>
            </a:pPr>
            <a:r>
              <a:rPr lang="en-US" sz="1050" dirty="0">
                <a:solidFill>
                  <a:srgbClr val="424245"/>
                </a:solidFill>
                <a:latin typeface="Helvetica"/>
              </a:rPr>
              <a:t>(1.307.656)</a:t>
            </a:r>
          </a:p>
          <a:p>
            <a:pPr marL="0" indent="0" algn="r">
              <a:lnSpc>
                <a:spcPts val="2400"/>
              </a:lnSpc>
              <a:buNone/>
            </a:pPr>
            <a:r>
              <a:rPr lang="en-US" sz="1150" b="1" dirty="0">
                <a:solidFill>
                  <a:srgbClr val="6B2DA8"/>
                </a:solidFill>
                <a:latin typeface="Helvetica"/>
              </a:rPr>
              <a:t>1.682.320</a:t>
            </a:r>
          </a:p>
        </p:txBody>
      </p:sp>
      <p:sp>
        <p:nvSpPr>
          <p:cNvPr id="55" name="PasC24"/>
          <p:cNvSpPr/>
          <p:nvPr/>
        </p:nvSpPr>
        <p:spPr>
          <a:xfrm>
            <a:off x="1075248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438.276</a:t>
            </a:r>
          </a:p>
          <a:p>
            <a:pPr marL="0" indent="0" algn="r">
              <a:lnSpc>
                <a:spcPts val="2400"/>
              </a:lnSpc>
              <a:buNone/>
            </a:pPr>
            <a:r>
              <a:rPr lang="en-US" sz="1100" b="1" dirty="0">
                <a:solidFill>
                  <a:srgbClr val="86868B"/>
                </a:solidFill>
                <a:latin typeface="Helvetica"/>
              </a:rPr>
              <a:t>438.276</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506.526</a:t>
            </a:r>
          </a:p>
          <a:p>
            <a:pPr marL="0" indent="0" algn="r">
              <a:lnSpc>
                <a:spcPts val="2000"/>
              </a:lnSpc>
              <a:buNone/>
            </a:pPr>
            <a:r>
              <a:rPr lang="en-US" sz="1050" dirty="0">
                <a:solidFill>
                  <a:srgbClr val="86868B"/>
                </a:solidFill>
                <a:latin typeface="Helvetica"/>
              </a:rPr>
              <a:t>—</a:t>
            </a:r>
          </a:p>
          <a:p>
            <a:pPr marL="0" indent="0" algn="r">
              <a:lnSpc>
                <a:spcPts val="2000"/>
              </a:lnSpc>
              <a:buNone/>
            </a:pPr>
            <a:r>
              <a:rPr lang="en-US" sz="1050" dirty="0">
                <a:solidFill>
                  <a:srgbClr val="86868B"/>
                </a:solidFill>
                <a:latin typeface="Helvetica"/>
              </a:rPr>
              <a:t>(318.405)</a:t>
            </a:r>
          </a:p>
          <a:p>
            <a:pPr marL="0" indent="0" algn="r">
              <a:lnSpc>
                <a:spcPts val="2400"/>
              </a:lnSpc>
              <a:buNone/>
            </a:pPr>
            <a:r>
              <a:rPr lang="en-US" sz="1150" b="1" dirty="0">
                <a:solidFill>
                  <a:srgbClr val="6B2DA8"/>
                </a:solidFill>
                <a:latin typeface="Helvetica"/>
              </a:rPr>
              <a:t>626.397</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13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EXTERNAL AUDITORS · Art. 32 (5) · 45 (5) RI</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Designación de auditores externos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Procedimiento de designación</a:t>
            </a:r>
            <a:endParaRPr lang="en-US" sz="1500" dirty="0"/>
          </a:p>
        </p:txBody>
      </p:sp>
      <p:sp>
        <p:nvSpPr>
          <p:cNvPr id="10" name="Shape 8"/>
          <p:cNvSpPr/>
          <p:nvPr/>
        </p:nvSpPr>
        <p:spPr>
          <a:xfrm>
            <a:off x="457200" y="2606040"/>
            <a:ext cx="2560320" cy="1005840"/>
          </a:xfrm>
          <a:prstGeom prst="roundRect">
            <a:avLst>
              <a:gd name="adj" fmla="val 6000"/>
            </a:avLst>
          </a:prstGeom>
          <a:solidFill>
            <a:srgbClr val="FFFFFF"/>
          </a:solidFill>
          <a:ln w="9525">
            <a:solidFill>
              <a:srgbClr val="823DBC"/>
            </a:solidFill>
            <a:prstDash val="solid"/>
          </a:ln>
        </p:spPr>
      </p:sp>
      <p:sp>
        <p:nvSpPr>
          <p:cNvPr id="11" name="Text 9"/>
          <p:cNvSpPr/>
          <p:nvPr/>
        </p:nvSpPr>
        <p:spPr>
          <a:xfrm>
            <a:off x="64008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1</a:t>
            </a:r>
            <a:endParaRPr lang="en-US" sz="900" dirty="0"/>
          </a:p>
        </p:txBody>
      </p:sp>
      <p:sp>
        <p:nvSpPr>
          <p:cNvPr id="12" name="Text 10"/>
          <p:cNvSpPr/>
          <p:nvPr/>
        </p:nvSpPr>
        <p:spPr>
          <a:xfrm>
            <a:off x="64008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Comité propone</a:t>
            </a:r>
            <a:endParaRPr lang="en-US" sz="1400" dirty="0"/>
          </a:p>
        </p:txBody>
      </p:sp>
      <p:sp>
        <p:nvSpPr>
          <p:cNvPr id="13" name="Text 11"/>
          <p:cNvSpPr/>
          <p:nvPr/>
        </p:nvSpPr>
        <p:spPr>
          <a:xfrm>
            <a:off x="64008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Terna a inscribir en CMF</a:t>
            </a:r>
            <a:endParaRPr lang="en-US" sz="1000" dirty="0"/>
          </a:p>
        </p:txBody>
      </p:sp>
      <p:sp>
        <p:nvSpPr>
          <p:cNvPr id="14" name="Text 12"/>
          <p:cNvSpPr/>
          <p:nvPr/>
        </p:nvSpPr>
        <p:spPr>
          <a:xfrm>
            <a:off x="306324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15" name="Shape 13"/>
          <p:cNvSpPr/>
          <p:nvPr/>
        </p:nvSpPr>
        <p:spPr>
          <a:xfrm>
            <a:off x="3383280" y="2606040"/>
            <a:ext cx="2560320" cy="1005840"/>
          </a:xfrm>
          <a:prstGeom prst="roundRect">
            <a:avLst>
              <a:gd name="adj" fmla="val 6000"/>
            </a:avLst>
          </a:prstGeom>
          <a:solidFill>
            <a:srgbClr val="FFFFFF"/>
          </a:solidFill>
          <a:ln w="9525">
            <a:solidFill>
              <a:srgbClr val="823DBC"/>
            </a:solidFill>
            <a:prstDash val="solid"/>
          </a:ln>
        </p:spPr>
      </p:sp>
      <p:sp>
        <p:nvSpPr>
          <p:cNvPr id="16" name="Text 14"/>
          <p:cNvSpPr/>
          <p:nvPr/>
        </p:nvSpPr>
        <p:spPr>
          <a:xfrm>
            <a:off x="356616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2</a:t>
            </a:r>
            <a:endParaRPr lang="en-US" sz="900" dirty="0"/>
          </a:p>
        </p:txBody>
      </p:sp>
      <p:sp>
        <p:nvSpPr>
          <p:cNvPr id="17" name="Text 15"/>
          <p:cNvSpPr/>
          <p:nvPr/>
        </p:nvSpPr>
        <p:spPr>
          <a:xfrm>
            <a:off x="356616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Asamblea evalúa</a:t>
            </a:r>
            <a:endParaRPr lang="en-US" sz="1400" dirty="0"/>
          </a:p>
        </p:txBody>
      </p:sp>
      <p:sp>
        <p:nvSpPr>
          <p:cNvPr id="18" name="Text 16"/>
          <p:cNvSpPr/>
          <p:nvPr/>
        </p:nvSpPr>
        <p:spPr>
          <a:xfrm>
            <a:off x="356616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Análisis de las 3 firmas</a:t>
            </a:r>
            <a:endParaRPr lang="en-US" sz="1000" dirty="0"/>
          </a:p>
        </p:txBody>
      </p:sp>
      <p:sp>
        <p:nvSpPr>
          <p:cNvPr id="19" name="Text 17"/>
          <p:cNvSpPr/>
          <p:nvPr/>
        </p:nvSpPr>
        <p:spPr>
          <a:xfrm>
            <a:off x="598932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0" name="Shape 18"/>
          <p:cNvSpPr/>
          <p:nvPr/>
        </p:nvSpPr>
        <p:spPr>
          <a:xfrm>
            <a:off x="6309360" y="2606040"/>
            <a:ext cx="2560320" cy="100584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649224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3</a:t>
            </a:r>
            <a:endParaRPr lang="en-US" sz="900" dirty="0"/>
          </a:p>
        </p:txBody>
      </p:sp>
      <p:sp>
        <p:nvSpPr>
          <p:cNvPr id="22" name="Text 20"/>
          <p:cNvSpPr/>
          <p:nvPr/>
        </p:nvSpPr>
        <p:spPr>
          <a:xfrm>
            <a:off x="649224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Votación</a:t>
            </a:r>
            <a:endParaRPr lang="en-US" sz="1400" dirty="0"/>
          </a:p>
        </p:txBody>
      </p:sp>
      <p:sp>
        <p:nvSpPr>
          <p:cNvPr id="23" name="Text 21"/>
          <p:cNvSpPr/>
          <p:nvPr/>
        </p:nvSpPr>
        <p:spPr>
          <a:xfrm>
            <a:off x="649224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Mayoría absoluta presentes</a:t>
            </a:r>
            <a:endParaRPr lang="en-US" sz="1000" dirty="0"/>
          </a:p>
        </p:txBody>
      </p:sp>
      <p:sp>
        <p:nvSpPr>
          <p:cNvPr id="24" name="Text 22"/>
          <p:cNvSpPr/>
          <p:nvPr/>
        </p:nvSpPr>
        <p:spPr>
          <a:xfrm>
            <a:off x="891540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5" name="Shape 23"/>
          <p:cNvSpPr/>
          <p:nvPr/>
        </p:nvSpPr>
        <p:spPr>
          <a:xfrm>
            <a:off x="9235440" y="2606040"/>
            <a:ext cx="2560320" cy="1005840"/>
          </a:xfrm>
          <a:prstGeom prst="roundRect">
            <a:avLst>
              <a:gd name="adj" fmla="val 6000"/>
            </a:avLst>
          </a:prstGeom>
          <a:solidFill>
            <a:srgbClr val="4D0F96"/>
          </a:solidFill>
          <a:ln w="9525">
            <a:solidFill>
              <a:srgbClr val="4D0F96"/>
            </a:solidFill>
            <a:prstDash val="solid"/>
          </a:ln>
        </p:spPr>
      </p:sp>
      <p:sp>
        <p:nvSpPr>
          <p:cNvPr id="26" name="Text 24"/>
          <p:cNvSpPr/>
          <p:nvPr/>
        </p:nvSpPr>
        <p:spPr>
          <a:xfrm>
            <a:off x="9418320" y="2697480"/>
            <a:ext cx="2286000" cy="228600"/>
          </a:xfrm>
          <a:prstGeom prst="rect">
            <a:avLst/>
          </a:prstGeom>
          <a:noFill/>
          <a:ln/>
        </p:spPr>
        <p:txBody>
          <a:bodyPr wrap="square" rtlCol="0" anchor="ctr"/>
          <a:lstStyle/>
          <a:p>
            <a:pPr marL="0" indent="0">
              <a:buNone/>
            </a:pPr>
            <a:r>
              <a:rPr lang="en-US" sz="900" b="1" kern="0" spc="200" dirty="0">
                <a:solidFill>
                  <a:srgbClr val="C4B5FD"/>
                </a:solidFill>
                <a:latin typeface="Helvetica" pitchFamily="34" charset="0"/>
                <a:ea typeface="Helvetica" pitchFamily="34" charset="-122"/>
                <a:cs typeface="Helvetica" pitchFamily="34" charset="-120"/>
              </a:rPr>
              <a:t>PASO 4</a:t>
            </a:r>
            <a:endParaRPr lang="en-US" sz="900" dirty="0"/>
          </a:p>
        </p:txBody>
      </p:sp>
      <p:sp>
        <p:nvSpPr>
          <p:cNvPr id="27" name="Text 25"/>
          <p:cNvSpPr/>
          <p:nvPr/>
        </p:nvSpPr>
        <p:spPr>
          <a:xfrm>
            <a:off x="9418320" y="292608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Contratación</a:t>
            </a:r>
            <a:endParaRPr lang="en-US" sz="1400" dirty="0"/>
          </a:p>
        </p:txBody>
      </p:sp>
      <p:sp>
        <p:nvSpPr>
          <p:cNvPr id="28" name="Text 26"/>
          <p:cNvSpPr/>
          <p:nvPr/>
        </p:nvSpPr>
        <p:spPr>
          <a:xfrm>
            <a:off x="9418320" y="3246120"/>
            <a:ext cx="2286000" cy="2743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Formalización AFIS</a:t>
            </a:r>
            <a:endParaRPr lang="en-US" sz="1000" dirty="0"/>
          </a:p>
        </p:txBody>
      </p:sp>
      <p:sp>
        <p:nvSpPr>
          <p:cNvPr id="29" name="Shape 27"/>
          <p:cNvSpPr/>
          <p:nvPr/>
        </p:nvSpPr>
        <p:spPr>
          <a:xfrm>
            <a:off x="457200" y="3931920"/>
            <a:ext cx="11274552" cy="0"/>
          </a:xfrm>
          <a:prstGeom prst="line">
            <a:avLst/>
          </a:prstGeom>
          <a:noFill/>
          <a:ln w="6350">
            <a:solidFill>
              <a:srgbClr val="D2D2D7"/>
            </a:solidFill>
            <a:prstDash val="solid"/>
          </a:ln>
        </p:spPr>
      </p:sp>
      <p:sp>
        <p:nvSpPr>
          <p:cNvPr id="30" name="Text 28"/>
          <p:cNvSpPr/>
          <p:nvPr/>
        </p:nvSpPr>
        <p:spPr>
          <a:xfrm>
            <a:off x="457200" y="4114800"/>
            <a:ext cx="10972800" cy="274320"/>
          </a:xfrm>
          <a:prstGeom prst="rect">
            <a:avLst/>
          </a:prstGeom>
          <a:noFill/>
          <a:ln/>
        </p:spPr>
        <p:txBody>
          <a:bodyPr wrap="square" rtlCol="0" anchor="ctr"/>
          <a:lstStyle/>
          <a:p>
            <a:pPr marL="0" indent="0">
              <a:buNone/>
            </a:pPr>
            <a:r>
              <a:rPr lang="en-US" sz="1000" b="1" kern="0" spc="300" dirty="0">
                <a:solidFill>
                  <a:srgbClr val="823DBC"/>
                </a:solidFill>
                <a:latin typeface="Helvetica" pitchFamily="34" charset="0"/>
                <a:ea typeface="Helvetica" pitchFamily="34" charset="-122"/>
                <a:cs typeface="Helvetica" pitchFamily="34" charset="-120"/>
              </a:rPr>
              <a:t>AUDITORES EXTERNOS · ALTERNATIVAS EN EVALUACIÓN</a:t>
            </a:r>
            <a:endParaRPr lang="en-US" sz="1000" dirty="0"/>
          </a:p>
        </p:txBody>
      </p:sp>
      <p:sp>
        <p:nvSpPr>
          <p:cNvPr id="31" name="Shape 29"/>
          <p:cNvSpPr/>
          <p:nvPr/>
        </p:nvSpPr>
        <p:spPr>
          <a:xfrm>
            <a:off x="457200" y="4526280"/>
            <a:ext cx="3611880" cy="1645920"/>
          </a:xfrm>
          <a:prstGeom prst="roundRect">
            <a:avLst>
              <a:gd name="adj" fmla="val 6000"/>
            </a:avLst>
          </a:prstGeom>
          <a:solidFill>
            <a:srgbClr val="FFFFFF"/>
          </a:solidFill>
          <a:ln w="9525">
            <a:solidFill>
              <a:srgbClr val="823DBC"/>
            </a:solidFill>
            <a:prstDash val="solid"/>
          </a:ln>
        </p:spPr>
      </p:sp>
      <p:sp>
        <p:nvSpPr>
          <p:cNvPr id="32" name="Text 30"/>
          <p:cNvSpPr/>
          <p:nvPr/>
        </p:nvSpPr>
        <p:spPr>
          <a:xfrm>
            <a:off x="64008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A</a:t>
            </a:r>
            <a:endParaRPr lang="en-US" sz="3200" dirty="0"/>
          </a:p>
        </p:txBody>
      </p:sp>
      <p:sp>
        <p:nvSpPr>
          <p:cNvPr id="33" name="Text 31"/>
          <p:cNvSpPr/>
          <p:nvPr/>
        </p:nvSpPr>
        <p:spPr>
          <a:xfrm>
            <a:off x="118872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PKF Chile</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BLE Auditores</a:t>
            </a:r>
            <a:endParaRPr lang="en-US" sz="1300" dirty="0"/>
          </a:p>
        </p:txBody>
      </p:sp>
      <p:sp>
        <p:nvSpPr>
          <p:cNvPr id="34" name="Shape 32"/>
          <p:cNvSpPr/>
          <p:nvPr/>
        </p:nvSpPr>
        <p:spPr>
          <a:xfrm>
            <a:off x="640080" y="5486400"/>
            <a:ext cx="3200400" cy="0"/>
          </a:xfrm>
          <a:prstGeom prst="line">
            <a:avLst/>
          </a:prstGeom>
          <a:noFill/>
          <a:ln w="6350">
            <a:solidFill>
              <a:srgbClr val="D2D2D7"/>
            </a:solidFill>
            <a:prstDash val="solid"/>
          </a:ln>
        </p:spPr>
      </p:sp>
      <p:sp>
        <p:nvSpPr>
          <p:cNvPr id="35" name="Text 33"/>
          <p:cNvSpPr/>
          <p:nvPr/>
        </p:nvSpPr>
        <p:spPr>
          <a:xfrm>
            <a:off x="64008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Tradición en fondos privados, costo medio.</a:t>
            </a:r>
            <a:endParaRPr lang="en-US" sz="1000" dirty="0"/>
          </a:p>
        </p:txBody>
      </p:sp>
      <p:sp>
        <p:nvSpPr>
          <p:cNvPr id="36" name="Shape 34"/>
          <p:cNvSpPr/>
          <p:nvPr/>
        </p:nvSpPr>
        <p:spPr>
          <a:xfrm>
            <a:off x="4434840" y="4526280"/>
            <a:ext cx="3611880" cy="1645920"/>
          </a:xfrm>
          <a:prstGeom prst="roundRect">
            <a:avLst>
              <a:gd name="adj" fmla="val 6000"/>
            </a:avLst>
          </a:prstGeom>
          <a:solidFill>
            <a:srgbClr val="FFFFFF"/>
          </a:solidFill>
          <a:ln w="9525">
            <a:solidFill>
              <a:srgbClr val="823DBC"/>
            </a:solidFill>
            <a:prstDash val="solid"/>
          </a:ln>
        </p:spPr>
      </p:sp>
      <p:sp>
        <p:nvSpPr>
          <p:cNvPr id="37" name="Text 35"/>
          <p:cNvSpPr/>
          <p:nvPr/>
        </p:nvSpPr>
        <p:spPr>
          <a:xfrm>
            <a:off x="461772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B</a:t>
            </a:r>
            <a:endParaRPr lang="en-US" sz="3200" dirty="0"/>
          </a:p>
        </p:txBody>
      </p:sp>
      <p:sp>
        <p:nvSpPr>
          <p:cNvPr id="38" name="Text 36"/>
          <p:cNvSpPr/>
          <p:nvPr/>
        </p:nvSpPr>
        <p:spPr>
          <a:xfrm>
            <a:off x="516636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Surlatina Auditores</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Crowe Chile</a:t>
            </a:r>
            <a:endParaRPr lang="en-US" sz="1300" dirty="0"/>
          </a:p>
        </p:txBody>
      </p:sp>
      <p:sp>
        <p:nvSpPr>
          <p:cNvPr id="39" name="Shape 37"/>
          <p:cNvSpPr/>
          <p:nvPr/>
        </p:nvSpPr>
        <p:spPr>
          <a:xfrm>
            <a:off x="4617720" y="5486400"/>
            <a:ext cx="3200400" cy="0"/>
          </a:xfrm>
          <a:prstGeom prst="line">
            <a:avLst/>
          </a:prstGeom>
          <a:noFill/>
          <a:ln w="6350">
            <a:solidFill>
              <a:srgbClr val="D2D2D7"/>
            </a:solidFill>
            <a:prstDash val="solid"/>
          </a:ln>
        </p:spPr>
      </p:sp>
      <p:sp>
        <p:nvSpPr>
          <p:cNvPr id="40" name="Text 38"/>
          <p:cNvSpPr/>
          <p:nvPr/>
        </p:nvSpPr>
        <p:spPr>
          <a:xfrm>
            <a:off x="461772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Red internacional, experiencia ESG.</a:t>
            </a:r>
            <a:endParaRPr lang="en-US" sz="1000" dirty="0"/>
          </a:p>
        </p:txBody>
      </p:sp>
      <p:sp>
        <p:nvSpPr>
          <p:cNvPr id="41" name="Shape 39"/>
          <p:cNvSpPr/>
          <p:nvPr/>
        </p:nvSpPr>
        <p:spPr>
          <a:xfrm>
            <a:off x="8412480" y="4526280"/>
            <a:ext cx="3611880" cy="1645920"/>
          </a:xfrm>
          <a:prstGeom prst="roundRect">
            <a:avLst>
              <a:gd name="adj" fmla="val 6000"/>
            </a:avLst>
          </a:prstGeom>
          <a:solidFill>
            <a:srgbClr val="FFFFFF"/>
          </a:solidFill>
          <a:ln w="9525">
            <a:solidFill>
              <a:srgbClr val="823DBC"/>
            </a:solidFill>
            <a:prstDash val="solid"/>
          </a:ln>
        </p:spPr>
      </p:sp>
      <p:sp>
        <p:nvSpPr>
          <p:cNvPr id="42" name="Text 40"/>
          <p:cNvSpPr/>
          <p:nvPr/>
        </p:nvSpPr>
        <p:spPr>
          <a:xfrm>
            <a:off x="859536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C</a:t>
            </a:r>
            <a:endParaRPr lang="en-US" sz="3200" dirty="0"/>
          </a:p>
        </p:txBody>
      </p:sp>
      <p:sp>
        <p:nvSpPr>
          <p:cNvPr id="43" name="Text 41"/>
          <p:cNvSpPr/>
          <p:nvPr/>
        </p:nvSpPr>
        <p:spPr>
          <a:xfrm>
            <a:off x="914400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Russell Bedford</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Baker Tilly Chile</a:t>
            </a:r>
            <a:endParaRPr lang="en-US" sz="1300" dirty="0"/>
          </a:p>
        </p:txBody>
      </p:sp>
      <p:sp>
        <p:nvSpPr>
          <p:cNvPr id="44" name="Shape 42"/>
          <p:cNvSpPr/>
          <p:nvPr/>
        </p:nvSpPr>
        <p:spPr>
          <a:xfrm>
            <a:off x="8595360" y="5486400"/>
            <a:ext cx="3200400" cy="0"/>
          </a:xfrm>
          <a:prstGeom prst="line">
            <a:avLst/>
          </a:prstGeom>
          <a:noFill/>
          <a:ln w="6350">
            <a:solidFill>
              <a:srgbClr val="D2D2D7"/>
            </a:solidFill>
            <a:prstDash val="solid"/>
          </a:ln>
        </p:spPr>
      </p:sp>
      <p:sp>
        <p:nvSpPr>
          <p:cNvPr id="45" name="Text 43"/>
          <p:cNvSpPr/>
          <p:nvPr/>
        </p:nvSpPr>
        <p:spPr>
          <a:xfrm>
            <a:off x="859536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Boutique especializada, mayor flexibilidad.</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14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STRATEGIC PLAN · Bloque 4</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Objetivos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Foco para el próximo ciclo</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400" i="1" dirty="0">
                <a:solidFill>
                  <a:srgbClr val="424245"/>
                </a:solidFill>
                <a:latin typeface="Georgia" pitchFamily="34" charset="0"/>
                <a:ea typeface="Georgia" pitchFamily="34" charset="-122"/>
                <a:cs typeface="Georgia" pitchFamily="34" charset="-120"/>
              </a:rPr>
              <a:t>Consolidar los tres pilares ejecutados en 2025 y activar los dos pilares pendientes para abrir el ciclo 2026: aceleración Ready-to-Build hacia la fase de construcción, y captación de financiamiento de largo plazo.</a:t>
            </a:r>
            <a:endParaRPr lang="en-US" sz="1400" dirty="0"/>
          </a:p>
        </p:txBody>
      </p:sp>
      <p:sp>
        <p:nvSpPr>
          <p:cNvPr id="11" name="Shape 9"/>
          <p:cNvSpPr/>
          <p:nvPr/>
        </p:nvSpPr>
        <p:spPr>
          <a:xfrm>
            <a:off x="457200" y="3474720"/>
            <a:ext cx="3108960" cy="2651760"/>
          </a:xfrm>
          <a:prstGeom prst="roundRect">
            <a:avLst>
              <a:gd name="adj" fmla="val 6000"/>
            </a:avLst>
          </a:prstGeom>
          <a:solidFill>
            <a:srgbClr val="FFFFFF"/>
          </a:solidFill>
          <a:ln w="9525">
            <a:solidFill>
              <a:srgbClr val="D2D2D7"/>
            </a:solidFill>
            <a:prstDash val="solid"/>
          </a:ln>
        </p:spPr>
      </p:sp>
      <p:sp>
        <p:nvSpPr>
          <p:cNvPr id="12" name="Shape 10"/>
          <p:cNvSpPr/>
          <p:nvPr/>
        </p:nvSpPr>
        <p:spPr>
          <a:xfrm>
            <a:off x="457200" y="3474720"/>
            <a:ext cx="73152" cy="2651760"/>
          </a:xfrm>
          <a:prstGeom prst="rect">
            <a:avLst/>
          </a:prstGeom>
          <a:solidFill>
            <a:srgbClr val="4D0F96"/>
          </a:solidFill>
          <a:ln/>
        </p:spPr>
      </p:sp>
      <p:sp>
        <p:nvSpPr>
          <p:cNvPr id="13" name="Text 11"/>
          <p:cNvSpPr/>
          <p:nvPr/>
        </p:nvSpPr>
        <p:spPr>
          <a:xfrm>
            <a:off x="731520" y="3611880"/>
            <a:ext cx="1371600" cy="54864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01</a:t>
            </a:r>
            <a:endParaRPr lang="en-US" sz="3600" dirty="0"/>
          </a:p>
        </p:txBody>
      </p:sp>
      <p:sp>
        <p:nvSpPr>
          <p:cNvPr id="14" name="Text 12"/>
          <p:cNvSpPr/>
          <p:nvPr/>
        </p:nvSpPr>
        <p:spPr>
          <a:xfrm>
            <a:off x="73152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Búsqueda de deuda nacional</a:t>
            </a:r>
            <a:endParaRPr lang="en-US" sz="1800" dirty="0"/>
          </a:p>
        </p:txBody>
      </p:sp>
      <p:sp>
        <p:nvSpPr>
          <p:cNvPr id="15" name="Shape 13"/>
          <p:cNvSpPr/>
          <p:nvPr/>
        </p:nvSpPr>
        <p:spPr>
          <a:xfrm>
            <a:off x="731520" y="5120640"/>
            <a:ext cx="457200" cy="0"/>
          </a:xfrm>
          <a:prstGeom prst="line">
            <a:avLst/>
          </a:prstGeom>
          <a:noFill/>
          <a:ln w="25400">
            <a:solidFill>
              <a:srgbClr val="4D0F96"/>
            </a:solidFill>
            <a:prstDash val="solid"/>
          </a:ln>
        </p:spPr>
      </p:sp>
      <p:sp>
        <p:nvSpPr>
          <p:cNvPr id="16" name="Text 14"/>
          <p:cNvSpPr/>
          <p:nvPr/>
        </p:nvSpPr>
        <p:spPr>
          <a:xfrm>
            <a:off x="73152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Estructurar deuda con bancos chilenos para escalar inversión en portfolio.</a:t>
            </a:r>
            <a:endParaRPr lang="en-US" sz="1200" dirty="0"/>
          </a:p>
        </p:txBody>
      </p:sp>
      <p:sp>
        <p:nvSpPr>
          <p:cNvPr id="17" name="Shape 15"/>
          <p:cNvSpPr/>
          <p:nvPr/>
        </p:nvSpPr>
        <p:spPr>
          <a:xfrm>
            <a:off x="4526280" y="3474720"/>
            <a:ext cx="3108960" cy="2651760"/>
          </a:xfrm>
          <a:prstGeom prst="roundRect">
            <a:avLst>
              <a:gd name="adj" fmla="val 6000"/>
            </a:avLst>
          </a:prstGeom>
          <a:solidFill>
            <a:srgbClr val="FFFFFF"/>
          </a:solidFill>
          <a:ln w="9525">
            <a:solidFill>
              <a:srgbClr val="D2D2D7"/>
            </a:solidFill>
            <a:prstDash val="solid"/>
          </a:ln>
        </p:spPr>
      </p:sp>
      <p:sp>
        <p:nvSpPr>
          <p:cNvPr id="18" name="Shape 16"/>
          <p:cNvSpPr/>
          <p:nvPr/>
        </p:nvSpPr>
        <p:spPr>
          <a:xfrm>
            <a:off x="4526280" y="3474720"/>
            <a:ext cx="73152" cy="2651760"/>
          </a:xfrm>
          <a:prstGeom prst="rect">
            <a:avLst/>
          </a:prstGeom>
          <a:solidFill>
            <a:srgbClr val="823DBC"/>
          </a:solidFill>
          <a:ln/>
        </p:spPr>
      </p:sp>
      <p:sp>
        <p:nvSpPr>
          <p:cNvPr id="19" name="Text 17"/>
          <p:cNvSpPr/>
          <p:nvPr/>
        </p:nvSpPr>
        <p:spPr>
          <a:xfrm>
            <a:off x="4800600" y="36118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20" name="Text 18"/>
          <p:cNvSpPr/>
          <p:nvPr/>
        </p:nvSpPr>
        <p:spPr>
          <a:xfrm>
            <a:off x="480060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Financiamiento internacional</a:t>
            </a:r>
            <a:endParaRPr lang="en-US" sz="1800" dirty="0"/>
          </a:p>
        </p:txBody>
      </p:sp>
      <p:sp>
        <p:nvSpPr>
          <p:cNvPr id="21" name="Shape 19"/>
          <p:cNvSpPr/>
          <p:nvPr/>
        </p:nvSpPr>
        <p:spPr>
          <a:xfrm>
            <a:off x="4800600" y="5120640"/>
            <a:ext cx="457200" cy="0"/>
          </a:xfrm>
          <a:prstGeom prst="line">
            <a:avLst/>
          </a:prstGeom>
          <a:noFill/>
          <a:ln w="25400">
            <a:solidFill>
              <a:srgbClr val="823DBC"/>
            </a:solidFill>
            <a:prstDash val="solid"/>
          </a:ln>
        </p:spPr>
      </p:sp>
      <p:sp>
        <p:nvSpPr>
          <p:cNvPr id="22" name="Text 20"/>
          <p:cNvSpPr/>
          <p:nvPr/>
        </p:nvSpPr>
        <p:spPr>
          <a:xfrm>
            <a:off x="480060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Apertura a bancos chinos (BoC, ICBC) y empresas con presencia en Chile.</a:t>
            </a:r>
            <a:endParaRPr lang="en-US" sz="1200" dirty="0"/>
          </a:p>
        </p:txBody>
      </p:sp>
      <p:sp>
        <p:nvSpPr>
          <p:cNvPr id="23" name="Shape 21"/>
          <p:cNvSpPr/>
          <p:nvPr/>
        </p:nvSpPr>
        <p:spPr>
          <a:xfrm>
            <a:off x="8595360" y="3474720"/>
            <a:ext cx="3108960" cy="2651760"/>
          </a:xfrm>
          <a:prstGeom prst="roundRect">
            <a:avLst>
              <a:gd name="adj" fmla="val 6000"/>
            </a:avLst>
          </a:prstGeom>
          <a:solidFill>
            <a:srgbClr val="FFFFFF"/>
          </a:solidFill>
          <a:ln w="9525">
            <a:solidFill>
              <a:srgbClr val="D2D2D7"/>
            </a:solidFill>
            <a:prstDash val="solid"/>
          </a:ln>
        </p:spPr>
      </p:sp>
      <p:sp>
        <p:nvSpPr>
          <p:cNvPr id="24" name="Shape 22"/>
          <p:cNvSpPr/>
          <p:nvPr/>
        </p:nvSpPr>
        <p:spPr>
          <a:xfrm>
            <a:off x="8595360" y="3474720"/>
            <a:ext cx="73152" cy="2651760"/>
          </a:xfrm>
          <a:prstGeom prst="rect">
            <a:avLst/>
          </a:prstGeom>
          <a:solidFill>
            <a:srgbClr val="2C74FF"/>
          </a:solidFill>
          <a:ln/>
        </p:spPr>
      </p:sp>
      <p:sp>
        <p:nvSpPr>
          <p:cNvPr id="25" name="Text 23"/>
          <p:cNvSpPr/>
          <p:nvPr/>
        </p:nvSpPr>
        <p:spPr>
          <a:xfrm>
            <a:off x="8869680" y="3611880"/>
            <a:ext cx="1371600" cy="548640"/>
          </a:xfrm>
          <a:prstGeom prst="rect">
            <a:avLst/>
          </a:prstGeom>
          <a:noFill/>
          <a:ln/>
        </p:spPr>
        <p:txBody>
          <a:bodyPr wrap="square" rtlCol="0" anchor="ctr"/>
          <a:lstStyle/>
          <a:p>
            <a:pPr marL="0" indent="0">
              <a:buNone/>
            </a:pPr>
            <a:r>
              <a:rPr lang="en-US" sz="3600" b="1" dirty="0">
                <a:solidFill>
                  <a:srgbClr val="2C74FF"/>
                </a:solidFill>
                <a:latin typeface="Georgia" pitchFamily="34" charset="0"/>
                <a:ea typeface="Georgia" pitchFamily="34" charset="-122"/>
                <a:cs typeface="Georgia" pitchFamily="34" charset="-120"/>
              </a:rPr>
              <a:t>03</a:t>
            </a:r>
            <a:endParaRPr lang="en-US" sz="3600" dirty="0"/>
          </a:p>
        </p:txBody>
      </p:sp>
      <p:sp>
        <p:nvSpPr>
          <p:cNvPr id="26" name="Text 24"/>
          <p:cNvSpPr/>
          <p:nvPr/>
        </p:nvSpPr>
        <p:spPr>
          <a:xfrm>
            <a:off x="886968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Hitos por portfolio company</a:t>
            </a:r>
            <a:endParaRPr lang="en-US" sz="1800" dirty="0"/>
          </a:p>
        </p:txBody>
      </p:sp>
      <p:sp>
        <p:nvSpPr>
          <p:cNvPr id="27" name="Shape 25"/>
          <p:cNvSpPr/>
          <p:nvPr/>
        </p:nvSpPr>
        <p:spPr>
          <a:xfrm>
            <a:off x="8869680" y="5120640"/>
            <a:ext cx="457200" cy="0"/>
          </a:xfrm>
          <a:prstGeom prst="line">
            <a:avLst/>
          </a:prstGeom>
          <a:noFill/>
          <a:ln w="25400">
            <a:solidFill>
              <a:srgbClr val="2C74FF"/>
            </a:solidFill>
            <a:prstDash val="solid"/>
          </a:ln>
        </p:spPr>
      </p:sp>
      <p:sp>
        <p:nvSpPr>
          <p:cNvPr id="28" name="Text 26"/>
          <p:cNvSpPr/>
          <p:nvPr/>
        </p:nvSpPr>
        <p:spPr>
          <a:xfrm>
            <a:off x="886968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Avance específico de cada compañía hacia Ready-to-Build y operación.</a:t>
            </a:r>
            <a:endParaRPr lang="en-US" sz="1200" dirty="0"/>
          </a:p>
        </p:txBody>
      </p:sp>
      <p:sp>
        <p:nvSpPr>
          <p:cNvPr id="29" name="Shape 27"/>
          <p:cNvSpPr/>
          <p:nvPr/>
        </p:nvSpPr>
        <p:spPr>
          <a:xfrm>
            <a:off x="457200" y="6492240"/>
            <a:ext cx="11274552" cy="0"/>
          </a:xfrm>
          <a:prstGeom prst="line">
            <a:avLst/>
          </a:prstGeom>
          <a:noFill/>
          <a:ln w="6350">
            <a:solidFill>
              <a:srgbClr val="D2D2D7"/>
            </a:solidFill>
            <a:prstDash val="solid"/>
          </a:ln>
        </p:spPr>
      </p:sp>
      <p:sp>
        <p:nvSpPr>
          <p:cNvPr id="30" name="Text 28"/>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1" name="Text 29"/>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15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1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Búsqueda de deuda 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Estrategia</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Bancos chilenos con apetito ESG</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Identificación de instituciones con líneas verdes / sostenibles activas.</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Estructura a nivel de SpV</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Deuda colateralizada por activos del proyecto, no por el Fondo directamente.</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Garantías complementarias</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Boletas, escrow accounts y co-garantías estructuradas según el banco.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Calce con Ready-to-Build</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financiero coordinado con hitos de ingeniería y permisos.</a:t>
            </a:r>
            <a:endParaRPr lang="en-US" sz="1100" dirty="0"/>
          </a:p>
        </p:txBody>
      </p:sp>
      <p:sp>
        <p:nvSpPr>
          <p:cNvPr id="22" name="Shape 20"/>
          <p:cNvSpPr/>
          <p:nvPr/>
        </p:nvSpPr>
        <p:spPr>
          <a:xfrm>
            <a:off x="7589520" y="2103120"/>
            <a:ext cx="4114800" cy="4023360"/>
          </a:xfrm>
          <a:prstGeom prst="roundRect">
            <a:avLst>
              <a:gd name="adj" fmla="val 6000"/>
            </a:avLst>
          </a:prstGeom>
          <a:solidFill>
            <a:srgbClr val="EEEDFE"/>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4D0F96"/>
                </a:solidFill>
                <a:latin typeface="Helvetica" pitchFamily="34" charset="0"/>
                <a:ea typeface="Helvetica" pitchFamily="34" charset="-122"/>
                <a:cs typeface="Helvetica" pitchFamily="34" charset="-120"/>
              </a:rPr>
              <a:t>CONTRAPARTES OBJETIVO</a:t>
            </a:r>
            <a:endParaRPr lang="en-US" sz="1000" dirty="0"/>
          </a:p>
        </p:txBody>
      </p:sp>
      <p:sp>
        <p:nvSpPr>
          <p:cNvPr id="24" name="Text 22"/>
          <p:cNvSpPr/>
          <p:nvPr/>
        </p:nvSpPr>
        <p:spPr>
          <a:xfrm>
            <a:off x="7818120" y="2651760"/>
            <a:ext cx="3657600" cy="365760"/>
          </a:xfrm>
          <a:prstGeom prst="rect">
            <a:avLst/>
          </a:prstGeom>
          <a:noFill/>
          <a:ln/>
        </p:spPr>
        <p:txBody>
          <a:bodyPr wrap="square" rtlCol="0" anchor="ctr"/>
          <a:lstStyle/>
          <a:p>
            <a:pPr marL="0" indent="0">
              <a:buNone/>
            </a:pPr>
            <a:r>
              <a:rPr lang="en-US" sz="2000" b="1" i="1" dirty="0">
                <a:solidFill>
                  <a:srgbClr val="4D0F96"/>
                </a:solidFill>
                <a:latin typeface="Georgia" pitchFamily="34" charset="0"/>
                <a:ea typeface="Georgia" pitchFamily="34" charset="-122"/>
                <a:cs typeface="Georgia" pitchFamily="34" charset="-120"/>
              </a:rPr>
              <a:t>Bancos chilenos</a:t>
            </a:r>
            <a:endParaRPr lang="en-US" sz="2000" dirty="0"/>
          </a:p>
        </p:txBody>
      </p:sp>
      <p:sp>
        <p:nvSpPr>
          <p:cNvPr id="25" name="Shape 23"/>
          <p:cNvSpPr/>
          <p:nvPr/>
        </p:nvSpPr>
        <p:spPr>
          <a:xfrm>
            <a:off x="7818120" y="3108960"/>
            <a:ext cx="640080" cy="0"/>
          </a:xfrm>
          <a:prstGeom prst="line">
            <a:avLst/>
          </a:prstGeom>
          <a:noFill/>
          <a:ln w="25400">
            <a:solidFill>
              <a:srgbClr val="823DBC"/>
            </a:solidFill>
            <a:prstDash val="solid"/>
          </a:ln>
        </p:spPr>
      </p:sp>
      <p:sp>
        <p:nvSpPr>
          <p:cNvPr id="26" name="Shape 24"/>
          <p:cNvSpPr/>
          <p:nvPr/>
        </p:nvSpPr>
        <p:spPr>
          <a:xfrm>
            <a:off x="7818120" y="3456432"/>
            <a:ext cx="109728" cy="109728"/>
          </a:xfrm>
          <a:prstGeom prst="ellipse">
            <a:avLst/>
          </a:prstGeom>
          <a:solidFill>
            <a:srgbClr val="4D0F96"/>
          </a:solidFill>
          <a:ln/>
        </p:spPr>
      </p:sp>
      <p:sp>
        <p:nvSpPr>
          <p:cNvPr id="27" name="Text 25"/>
          <p:cNvSpPr/>
          <p:nvPr/>
        </p:nvSpPr>
        <p:spPr>
          <a:xfrm>
            <a:off x="8046720" y="333756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 Estado</a:t>
            </a:r>
            <a:endParaRPr lang="en-US" sz="1300" dirty="0"/>
          </a:p>
        </p:txBody>
      </p:sp>
      <p:sp>
        <p:nvSpPr>
          <p:cNvPr id="28" name="Text 26"/>
          <p:cNvSpPr/>
          <p:nvPr/>
        </p:nvSpPr>
        <p:spPr>
          <a:xfrm>
            <a:off x="8046720" y="358444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Pyme + ESG</a:t>
            </a:r>
            <a:endParaRPr lang="en-US" sz="1000" dirty="0"/>
          </a:p>
        </p:txBody>
      </p:sp>
      <p:sp>
        <p:nvSpPr>
          <p:cNvPr id="29" name="Shape 27"/>
          <p:cNvSpPr/>
          <p:nvPr/>
        </p:nvSpPr>
        <p:spPr>
          <a:xfrm>
            <a:off x="7818120" y="3959352"/>
            <a:ext cx="109728" cy="109728"/>
          </a:xfrm>
          <a:prstGeom prst="ellipse">
            <a:avLst/>
          </a:prstGeom>
          <a:solidFill>
            <a:srgbClr val="4D0F96"/>
          </a:solidFill>
          <a:ln/>
        </p:spPr>
      </p:sp>
      <p:sp>
        <p:nvSpPr>
          <p:cNvPr id="30" name="Text 28"/>
          <p:cNvSpPr/>
          <p:nvPr/>
        </p:nvSpPr>
        <p:spPr>
          <a:xfrm>
            <a:off x="8046720" y="384048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BICE</a:t>
            </a:r>
            <a:endParaRPr lang="en-US" sz="1300" dirty="0"/>
          </a:p>
        </p:txBody>
      </p:sp>
      <p:sp>
        <p:nvSpPr>
          <p:cNvPr id="31" name="Text 29"/>
          <p:cNvSpPr/>
          <p:nvPr/>
        </p:nvSpPr>
        <p:spPr>
          <a:xfrm>
            <a:off x="8046720" y="408736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Project finance ESG</a:t>
            </a:r>
            <a:endParaRPr lang="en-US" sz="1000" dirty="0"/>
          </a:p>
        </p:txBody>
      </p:sp>
      <p:sp>
        <p:nvSpPr>
          <p:cNvPr id="32" name="Shape 30"/>
          <p:cNvSpPr/>
          <p:nvPr/>
        </p:nvSpPr>
        <p:spPr>
          <a:xfrm>
            <a:off x="7818120" y="4462272"/>
            <a:ext cx="109728" cy="109728"/>
          </a:xfrm>
          <a:prstGeom prst="ellipse">
            <a:avLst/>
          </a:prstGeom>
          <a:solidFill>
            <a:srgbClr val="4D0F96"/>
          </a:solidFill>
          <a:ln/>
        </p:spPr>
      </p:sp>
      <p:sp>
        <p:nvSpPr>
          <p:cNvPr id="33" name="Text 31"/>
          <p:cNvSpPr/>
          <p:nvPr/>
        </p:nvSpPr>
        <p:spPr>
          <a:xfrm>
            <a:off x="8046720" y="434340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Santander</a:t>
            </a:r>
            <a:endParaRPr lang="en-US" sz="1300" dirty="0"/>
          </a:p>
        </p:txBody>
      </p:sp>
      <p:sp>
        <p:nvSpPr>
          <p:cNvPr id="34" name="Text 32"/>
          <p:cNvSpPr/>
          <p:nvPr/>
        </p:nvSpPr>
        <p:spPr>
          <a:xfrm>
            <a:off x="8046720" y="459028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Sustainable lending</a:t>
            </a:r>
            <a:endParaRPr lang="en-US" sz="1000" dirty="0"/>
          </a:p>
        </p:txBody>
      </p:sp>
      <p:sp>
        <p:nvSpPr>
          <p:cNvPr id="35" name="Shape 33"/>
          <p:cNvSpPr/>
          <p:nvPr/>
        </p:nvSpPr>
        <p:spPr>
          <a:xfrm>
            <a:off x="7818120" y="4965192"/>
            <a:ext cx="109728" cy="109728"/>
          </a:xfrm>
          <a:prstGeom prst="ellipse">
            <a:avLst/>
          </a:prstGeom>
          <a:solidFill>
            <a:srgbClr val="4D0F96"/>
          </a:solidFill>
          <a:ln/>
        </p:spPr>
      </p:sp>
      <p:sp>
        <p:nvSpPr>
          <p:cNvPr id="36" name="Text 34"/>
          <p:cNvSpPr/>
          <p:nvPr/>
        </p:nvSpPr>
        <p:spPr>
          <a:xfrm>
            <a:off x="8046720" y="484632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BCI</a:t>
            </a:r>
            <a:endParaRPr lang="en-US" sz="1300" dirty="0"/>
          </a:p>
        </p:txBody>
      </p:sp>
      <p:sp>
        <p:nvSpPr>
          <p:cNvPr id="37" name="Text 35"/>
          <p:cNvSpPr/>
          <p:nvPr/>
        </p:nvSpPr>
        <p:spPr>
          <a:xfrm>
            <a:off x="8046720" y="509320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verdes</a:t>
            </a:r>
            <a:endParaRPr lang="en-US" sz="1000" dirty="0"/>
          </a:p>
        </p:txBody>
      </p:sp>
      <p:sp>
        <p:nvSpPr>
          <p:cNvPr id="38" name="Shape 36"/>
          <p:cNvSpPr/>
          <p:nvPr/>
        </p:nvSpPr>
        <p:spPr>
          <a:xfrm>
            <a:off x="7818120" y="5468112"/>
            <a:ext cx="109728" cy="109728"/>
          </a:xfrm>
          <a:prstGeom prst="ellipse">
            <a:avLst/>
          </a:prstGeom>
          <a:solidFill>
            <a:srgbClr val="4D0F96"/>
          </a:solidFill>
          <a:ln/>
        </p:spPr>
      </p:sp>
      <p:sp>
        <p:nvSpPr>
          <p:cNvPr id="39" name="Text 37"/>
          <p:cNvSpPr/>
          <p:nvPr/>
        </p:nvSpPr>
        <p:spPr>
          <a:xfrm>
            <a:off x="8046720" y="534924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Bancos chinos en Chile</a:t>
            </a:r>
            <a:endParaRPr lang="en-US" sz="1300" dirty="0"/>
          </a:p>
        </p:txBody>
      </p:sp>
      <p:sp>
        <p:nvSpPr>
          <p:cNvPr id="40" name="Text 38"/>
          <p:cNvSpPr/>
          <p:nvPr/>
        </p:nvSpPr>
        <p:spPr>
          <a:xfrm>
            <a:off x="8046720" y="559612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BoC Chile, ICBC Chile</a:t>
            </a:r>
            <a:endParaRPr lang="en-US" sz="1000" dirty="0"/>
          </a:p>
        </p:txBody>
      </p:sp>
      <p:sp>
        <p:nvSpPr>
          <p:cNvPr id="41" name="Shape 39"/>
          <p:cNvSpPr/>
          <p:nvPr/>
        </p:nvSpPr>
        <p:spPr>
          <a:xfrm>
            <a:off x="457200" y="6492240"/>
            <a:ext cx="11274552" cy="0"/>
          </a:xfrm>
          <a:prstGeom prst="line">
            <a:avLst/>
          </a:prstGeom>
          <a:noFill/>
          <a:ln w="6350">
            <a:solidFill>
              <a:srgbClr val="D2D2D7"/>
            </a:solidFill>
            <a:prstDash val="solid"/>
          </a:ln>
        </p:spPr>
      </p:sp>
      <p:sp>
        <p:nvSpPr>
          <p:cNvPr id="42" name="Text 4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3" name="Text 4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16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2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Financiamiento internacional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CEHTA como puente Chile · China</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Apalancamiento del posicionamiento institucional de CEHTA hacia inversión sustentable en infraestructura latinoamericana, con foco en contrapartes chinas que tengan apetito por proyectos energéticos y de economía circular en Chile.</a:t>
            </a:r>
            <a:endParaRPr lang="en-US" sz="1300" dirty="0"/>
          </a:p>
        </p:txBody>
      </p:sp>
      <p:sp>
        <p:nvSpPr>
          <p:cNvPr id="11" name="Shape 9"/>
          <p:cNvSpPr/>
          <p:nvPr/>
        </p:nvSpPr>
        <p:spPr>
          <a:xfrm>
            <a:off x="457200" y="3383280"/>
            <a:ext cx="2560320" cy="1645920"/>
          </a:xfrm>
          <a:prstGeom prst="roundRect">
            <a:avLst>
              <a:gd name="adj" fmla="val 6000"/>
            </a:avLst>
          </a:prstGeom>
          <a:solidFill>
            <a:srgbClr val="FFFFFF"/>
          </a:solidFill>
          <a:ln w="9525">
            <a:solidFill>
              <a:srgbClr val="823DBC"/>
            </a:solidFill>
            <a:prstDash val="solid"/>
          </a:ln>
        </p:spPr>
      </p:sp>
      <p:sp>
        <p:nvSpPr>
          <p:cNvPr id="12" name="Text 10"/>
          <p:cNvSpPr/>
          <p:nvPr/>
        </p:nvSpPr>
        <p:spPr>
          <a:xfrm>
            <a:off x="64008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BANCOS</a:t>
            </a:r>
            <a:endParaRPr lang="en-US" sz="900" dirty="0"/>
          </a:p>
        </p:txBody>
      </p:sp>
      <p:sp>
        <p:nvSpPr>
          <p:cNvPr id="13" name="Text 11"/>
          <p:cNvSpPr/>
          <p:nvPr/>
        </p:nvSpPr>
        <p:spPr>
          <a:xfrm>
            <a:off x="64008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Bank of China</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ICBC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CMB</a:t>
            </a:r>
            <a:endParaRPr lang="en-US" sz="1200" dirty="0"/>
          </a:p>
        </p:txBody>
      </p:sp>
      <p:sp>
        <p:nvSpPr>
          <p:cNvPr id="14" name="Shape 12"/>
          <p:cNvSpPr/>
          <p:nvPr/>
        </p:nvSpPr>
        <p:spPr>
          <a:xfrm>
            <a:off x="3383280" y="3383280"/>
            <a:ext cx="2560320" cy="1645920"/>
          </a:xfrm>
          <a:prstGeom prst="roundRect">
            <a:avLst>
              <a:gd name="adj" fmla="val 6000"/>
            </a:avLst>
          </a:prstGeom>
          <a:solidFill>
            <a:srgbClr val="FFFFFF"/>
          </a:solidFill>
          <a:ln w="9525">
            <a:solidFill>
              <a:srgbClr val="823DBC"/>
            </a:solidFill>
            <a:prstDash val="solid"/>
          </a:ln>
        </p:spPr>
      </p:sp>
      <p:sp>
        <p:nvSpPr>
          <p:cNvPr id="15" name="Text 13"/>
          <p:cNvSpPr/>
          <p:nvPr/>
        </p:nvSpPr>
        <p:spPr>
          <a:xfrm>
            <a:off x="356616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PROVEEDORES</a:t>
            </a:r>
            <a:endParaRPr lang="en-US" sz="900" dirty="0"/>
          </a:p>
        </p:txBody>
      </p:sp>
      <p:sp>
        <p:nvSpPr>
          <p:cNvPr id="16" name="Text 14"/>
          <p:cNvSpPr/>
          <p:nvPr/>
        </p:nvSpPr>
        <p:spPr>
          <a:xfrm>
            <a:off x="356616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Cospower</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SIEYUAN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JINKO · SANY</a:t>
            </a:r>
            <a:endParaRPr lang="en-US" sz="1200" dirty="0"/>
          </a:p>
        </p:txBody>
      </p:sp>
      <p:sp>
        <p:nvSpPr>
          <p:cNvPr id="17" name="Shape 15"/>
          <p:cNvSpPr/>
          <p:nvPr/>
        </p:nvSpPr>
        <p:spPr>
          <a:xfrm>
            <a:off x="6309360" y="3383280"/>
            <a:ext cx="2560320" cy="1645920"/>
          </a:xfrm>
          <a:prstGeom prst="roundRect">
            <a:avLst>
              <a:gd name="adj" fmla="val 6000"/>
            </a:avLst>
          </a:prstGeom>
          <a:solidFill>
            <a:srgbClr val="FFFFFF"/>
          </a:solidFill>
          <a:ln w="9525">
            <a:solidFill>
              <a:srgbClr val="823DBC"/>
            </a:solidFill>
            <a:prstDash val="solid"/>
          </a:ln>
        </p:spPr>
      </p:sp>
      <p:sp>
        <p:nvSpPr>
          <p:cNvPr id="18" name="Text 16"/>
          <p:cNvSpPr/>
          <p:nvPr/>
        </p:nvSpPr>
        <p:spPr>
          <a:xfrm>
            <a:off x="649224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ASEGURADORAS</a:t>
            </a:r>
            <a:endParaRPr lang="en-US" sz="900" dirty="0"/>
          </a:p>
        </p:txBody>
      </p:sp>
      <p:sp>
        <p:nvSpPr>
          <p:cNvPr id="19" name="Text 17"/>
          <p:cNvSpPr/>
          <p:nvPr/>
        </p:nvSpPr>
        <p:spPr>
          <a:xfrm>
            <a:off x="649224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SINOSURE</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Credit enhancement</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Cobertura riesgo</a:t>
            </a:r>
            <a:endParaRPr lang="en-US" sz="1200" dirty="0"/>
          </a:p>
        </p:txBody>
      </p:sp>
      <p:sp>
        <p:nvSpPr>
          <p:cNvPr id="20" name="Shape 18"/>
          <p:cNvSpPr/>
          <p:nvPr/>
        </p:nvSpPr>
        <p:spPr>
          <a:xfrm>
            <a:off x="9235440" y="3383280"/>
            <a:ext cx="2560320" cy="164592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941832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GUBERNAMENTAL</a:t>
            </a:r>
            <a:endParaRPr lang="en-US" sz="900" dirty="0"/>
          </a:p>
        </p:txBody>
      </p:sp>
      <p:sp>
        <p:nvSpPr>
          <p:cNvPr id="22" name="Text 20"/>
          <p:cNvSpPr/>
          <p:nvPr/>
        </p:nvSpPr>
        <p:spPr>
          <a:xfrm>
            <a:off x="941832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Misión Comercial</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Prochile · DIRECON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Embajada</a:t>
            </a:r>
            <a:endParaRPr lang="en-US" sz="1200" dirty="0"/>
          </a:p>
        </p:txBody>
      </p:sp>
      <p:sp>
        <p:nvSpPr>
          <p:cNvPr id="23" name="Shape 21"/>
          <p:cNvSpPr/>
          <p:nvPr/>
        </p:nvSpPr>
        <p:spPr>
          <a:xfrm>
            <a:off x="457200" y="5349240"/>
            <a:ext cx="11274552" cy="0"/>
          </a:xfrm>
          <a:prstGeom prst="line">
            <a:avLst/>
          </a:prstGeom>
          <a:noFill/>
          <a:ln w="6350">
            <a:solidFill>
              <a:srgbClr val="D2D2D7"/>
            </a:solidFill>
            <a:prstDash val="solid"/>
          </a:ln>
        </p:spPr>
      </p:sp>
      <p:sp>
        <p:nvSpPr>
          <p:cNvPr id="24" name="Text 22"/>
          <p:cNvSpPr/>
          <p:nvPr/>
        </p:nvSpPr>
        <p:spPr>
          <a:xfrm>
            <a:off x="457200" y="553212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Instrumentos potenciales</a:t>
            </a:r>
            <a:endParaRPr lang="en-US" sz="1400" dirty="0"/>
          </a:p>
        </p:txBody>
      </p:sp>
      <p:sp>
        <p:nvSpPr>
          <p:cNvPr id="25" name="Shape 23"/>
          <p:cNvSpPr/>
          <p:nvPr/>
        </p:nvSpPr>
        <p:spPr>
          <a:xfrm>
            <a:off x="457200" y="5943600"/>
            <a:ext cx="118872" cy="118872"/>
          </a:xfrm>
          <a:prstGeom prst="ellipse">
            <a:avLst/>
          </a:prstGeom>
          <a:solidFill>
            <a:srgbClr val="4D0F96"/>
          </a:solidFill>
          <a:ln/>
        </p:spPr>
      </p:sp>
      <p:sp>
        <p:nvSpPr>
          <p:cNvPr id="26" name="Text 24"/>
          <p:cNvSpPr/>
          <p:nvPr/>
        </p:nvSpPr>
        <p:spPr>
          <a:xfrm>
            <a:off x="68580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Líneas de crédito en CLP con bancos chinos locales</a:t>
            </a:r>
            <a:endParaRPr lang="en-US" sz="1100" dirty="0"/>
          </a:p>
        </p:txBody>
      </p:sp>
      <p:sp>
        <p:nvSpPr>
          <p:cNvPr id="27" name="Shape 25"/>
          <p:cNvSpPr/>
          <p:nvPr/>
        </p:nvSpPr>
        <p:spPr>
          <a:xfrm>
            <a:off x="4389120" y="5943600"/>
            <a:ext cx="118872" cy="118872"/>
          </a:xfrm>
          <a:prstGeom prst="ellipse">
            <a:avLst/>
          </a:prstGeom>
          <a:solidFill>
            <a:srgbClr val="4D0F96"/>
          </a:solidFill>
          <a:ln/>
        </p:spPr>
      </p:sp>
      <p:sp>
        <p:nvSpPr>
          <p:cNvPr id="28" name="Text 26"/>
          <p:cNvSpPr/>
          <p:nvPr/>
        </p:nvSpPr>
        <p:spPr>
          <a:xfrm>
            <a:off x="461772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Vendor financing de proveedores de equipos</a:t>
            </a:r>
            <a:endParaRPr lang="en-US" sz="1100" dirty="0"/>
          </a:p>
        </p:txBody>
      </p:sp>
      <p:sp>
        <p:nvSpPr>
          <p:cNvPr id="29" name="Shape 27"/>
          <p:cNvSpPr/>
          <p:nvPr/>
        </p:nvSpPr>
        <p:spPr>
          <a:xfrm>
            <a:off x="8321040" y="5943600"/>
            <a:ext cx="118872" cy="118872"/>
          </a:xfrm>
          <a:prstGeom prst="ellipse">
            <a:avLst/>
          </a:prstGeom>
          <a:solidFill>
            <a:srgbClr val="4D0F96"/>
          </a:solidFill>
          <a:ln/>
        </p:spPr>
      </p:sp>
      <p:sp>
        <p:nvSpPr>
          <p:cNvPr id="30" name="Text 28"/>
          <p:cNvSpPr/>
          <p:nvPr/>
        </p:nvSpPr>
        <p:spPr>
          <a:xfrm>
            <a:off x="854964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Cobertura SINOSURE para riesgo país</a:t>
            </a:r>
            <a:endParaRPr lang="en-US" sz="1100" dirty="0"/>
          </a:p>
        </p:txBody>
      </p:sp>
      <p:sp>
        <p:nvSpPr>
          <p:cNvPr id="31" name="Shape 29"/>
          <p:cNvSpPr/>
          <p:nvPr/>
        </p:nvSpPr>
        <p:spPr>
          <a:xfrm>
            <a:off x="457200" y="6492240"/>
            <a:ext cx="11274552" cy="0"/>
          </a:xfrm>
          <a:prstGeom prst="line">
            <a:avLst/>
          </a:prstGeom>
          <a:noFill/>
          <a:ln w="6350">
            <a:solidFill>
              <a:srgbClr val="D2D2D7"/>
            </a:solidFill>
            <a:prstDash val="solid"/>
          </a:ln>
        </p:spPr>
      </p:sp>
      <p:sp>
        <p:nvSpPr>
          <p:cNvPr id="32" name="Text 3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3" name="Text 3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22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17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3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Hitos por portfolio company</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11274552" cy="365760"/>
          </a:xfrm>
          <a:prstGeom prst="rect">
            <a:avLst/>
          </a:prstGeom>
          <a:solidFill>
            <a:srgbClr val="4D0F96"/>
          </a:solidFill>
          <a:ln/>
        </p:spPr>
      </p:sp>
      <p:sp>
        <p:nvSpPr>
          <p:cNvPr id="10" name="Text 8"/>
          <p:cNvSpPr/>
          <p:nvPr/>
        </p:nvSpPr>
        <p:spPr>
          <a:xfrm>
            <a:off x="640080" y="2176272"/>
            <a:ext cx="292608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EMPRESA</a:t>
            </a:r>
            <a:endParaRPr lang="en-US" sz="1000" dirty="0"/>
          </a:p>
        </p:txBody>
      </p:sp>
      <p:sp>
        <p:nvSpPr>
          <p:cNvPr id="11" name="Text 9"/>
          <p:cNvSpPr/>
          <p:nvPr/>
        </p:nvSpPr>
        <p:spPr>
          <a:xfrm>
            <a:off x="3749040" y="2176272"/>
            <a:ext cx="36576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SECTOR / FOCO</a:t>
            </a:r>
            <a:endParaRPr lang="en-US" sz="1000" dirty="0"/>
          </a:p>
        </p:txBody>
      </p:sp>
      <p:sp>
        <p:nvSpPr>
          <p:cNvPr id="12" name="Text 10"/>
          <p:cNvSpPr/>
          <p:nvPr/>
        </p:nvSpPr>
        <p:spPr>
          <a:xfrm>
            <a:off x="7589520" y="2176272"/>
            <a:ext cx="41148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HITO PRIORITARIO 2026</a:t>
            </a:r>
            <a:endParaRPr lang="en-US" sz="1000" dirty="0"/>
          </a:p>
        </p:txBody>
      </p:sp>
      <p:sp>
        <p:nvSpPr>
          <p:cNvPr id="13" name="Shape 11"/>
          <p:cNvSpPr/>
          <p:nvPr/>
        </p:nvSpPr>
        <p:spPr>
          <a:xfrm>
            <a:off x="457200" y="2468880"/>
            <a:ext cx="11274552" cy="640080"/>
          </a:xfrm>
          <a:prstGeom prst="rect">
            <a:avLst/>
          </a:prstGeom>
          <a:solidFill>
            <a:srgbClr val="FFFFFF"/>
          </a:solidFill>
          <a:ln/>
        </p:spPr>
      </p:sp>
      <p:sp>
        <p:nvSpPr>
          <p:cNvPr id="14" name="Shape 12"/>
          <p:cNvSpPr/>
          <p:nvPr/>
        </p:nvSpPr>
        <p:spPr>
          <a:xfrm>
            <a:off x="457200" y="3108960"/>
            <a:ext cx="11274552" cy="0"/>
          </a:xfrm>
          <a:prstGeom prst="line">
            <a:avLst/>
          </a:prstGeom>
          <a:noFill/>
          <a:ln w="3810">
            <a:solidFill>
              <a:srgbClr val="D2D2D7"/>
            </a:solidFill>
            <a:prstDash val="solid"/>
          </a:ln>
        </p:spPr>
      </p:sp>
      <p:sp>
        <p:nvSpPr>
          <p:cNvPr id="16" name="Text 14"/>
          <p:cNvSpPr/>
          <p:nvPr/>
        </p:nvSpPr>
        <p:spPr>
          <a:xfrm>
            <a:off x="1325880" y="26334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Climate Smart Leasing</a:t>
            </a:r>
            <a:endParaRPr lang="en-US" sz="1300" dirty="0"/>
          </a:p>
        </p:txBody>
      </p:sp>
      <p:sp>
        <p:nvSpPr>
          <p:cNvPr id="17" name="Text 15"/>
          <p:cNvSpPr/>
          <p:nvPr/>
        </p:nvSpPr>
        <p:spPr>
          <a:xfrm>
            <a:off x="3749040" y="26334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Leasing electromovilidad sostenible</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Flota Volvo EX30 PLUS · 48 meses</a:t>
            </a:r>
            <a:endParaRPr lang="en-US" sz="1100" dirty="0"/>
          </a:p>
        </p:txBody>
      </p:sp>
      <p:sp>
        <p:nvSpPr>
          <p:cNvPr id="18" name="Text 16"/>
          <p:cNvSpPr/>
          <p:nvPr/>
        </p:nvSpPr>
        <p:spPr>
          <a:xfrm>
            <a:off x="7589520" y="26334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Expansión cartera + reporte impacto ESG</a:t>
            </a:r>
            <a:endParaRPr lang="en-US" sz="1100" dirty="0"/>
          </a:p>
        </p:txBody>
      </p:sp>
      <p:sp>
        <p:nvSpPr>
          <p:cNvPr id="19" name="Shape 17"/>
          <p:cNvSpPr/>
          <p:nvPr/>
        </p:nvSpPr>
        <p:spPr>
          <a:xfrm>
            <a:off x="457200" y="3108960"/>
            <a:ext cx="11274552" cy="640080"/>
          </a:xfrm>
          <a:prstGeom prst="rect">
            <a:avLst/>
          </a:prstGeom>
          <a:solidFill>
            <a:srgbClr val="F9F9F9"/>
          </a:solidFill>
          <a:ln/>
        </p:spPr>
      </p:sp>
      <p:sp>
        <p:nvSpPr>
          <p:cNvPr id="20" name="Shape 18"/>
          <p:cNvSpPr/>
          <p:nvPr/>
        </p:nvSpPr>
        <p:spPr>
          <a:xfrm>
            <a:off x="457200" y="3749040"/>
            <a:ext cx="11274552" cy="0"/>
          </a:xfrm>
          <a:prstGeom prst="line">
            <a:avLst/>
          </a:prstGeom>
          <a:noFill/>
          <a:ln w="3810">
            <a:solidFill>
              <a:srgbClr val="D2D2D7"/>
            </a:solidFill>
            <a:prstDash val="solid"/>
          </a:ln>
        </p:spPr>
      </p:sp>
      <p:sp>
        <p:nvSpPr>
          <p:cNvPr id="22" name="Text 20"/>
          <p:cNvSpPr/>
          <p:nvPr/>
        </p:nvSpPr>
        <p:spPr>
          <a:xfrm>
            <a:off x="1325880" y="327355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23" name="Text 21"/>
          <p:cNvSpPr/>
          <p:nvPr/>
        </p:nvSpPr>
        <p:spPr>
          <a:xfrm>
            <a:off x="3749040" y="327355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Energía renovable y BESS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150+ MW · 360 MWh almacenamiento</a:t>
            </a:r>
            <a:endParaRPr lang="en-US" sz="1100" dirty="0"/>
          </a:p>
        </p:txBody>
      </p:sp>
      <p:sp>
        <p:nvSpPr>
          <p:cNvPr id="24" name="Text 22"/>
          <p:cNvSpPr/>
          <p:nvPr/>
        </p:nvSpPr>
        <p:spPr>
          <a:xfrm>
            <a:off x="7589520" y="327355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PPA · permisos · cierre financiero</a:t>
            </a:r>
            <a:endParaRPr lang="en-US" sz="1100" dirty="0"/>
          </a:p>
        </p:txBody>
      </p:sp>
      <p:sp>
        <p:nvSpPr>
          <p:cNvPr id="25" name="Shape 23"/>
          <p:cNvSpPr/>
          <p:nvPr/>
        </p:nvSpPr>
        <p:spPr>
          <a:xfrm>
            <a:off x="457200" y="3749040"/>
            <a:ext cx="11274552" cy="640080"/>
          </a:xfrm>
          <a:prstGeom prst="rect">
            <a:avLst/>
          </a:prstGeom>
          <a:solidFill>
            <a:srgbClr val="FFFFFF"/>
          </a:solidFill>
          <a:ln/>
        </p:spPr>
      </p:sp>
      <p:sp>
        <p:nvSpPr>
          <p:cNvPr id="26" name="Shape 24"/>
          <p:cNvSpPr/>
          <p:nvPr/>
        </p:nvSpPr>
        <p:spPr>
          <a:xfrm>
            <a:off x="457200" y="4389120"/>
            <a:ext cx="11274552" cy="0"/>
          </a:xfrm>
          <a:prstGeom prst="line">
            <a:avLst/>
          </a:prstGeom>
          <a:noFill/>
          <a:ln w="3810">
            <a:solidFill>
              <a:srgbClr val="D2D2D7"/>
            </a:solidFill>
            <a:prstDash val="solid"/>
          </a:ln>
        </p:spPr>
      </p:sp>
      <p:sp>
        <p:nvSpPr>
          <p:cNvPr id="28" name="Text 26"/>
          <p:cNvSpPr/>
          <p:nvPr/>
        </p:nvSpPr>
        <p:spPr>
          <a:xfrm>
            <a:off x="1325880" y="391363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 Consulting</a:t>
            </a:r>
            <a:endParaRPr lang="en-US" sz="1300" dirty="0"/>
          </a:p>
        </p:txBody>
      </p:sp>
      <p:sp>
        <p:nvSpPr>
          <p:cNvPr id="29" name="Text 27"/>
          <p:cNvSpPr/>
          <p:nvPr/>
        </p:nvSpPr>
        <p:spPr>
          <a:xfrm>
            <a:off x="3749040" y="391363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Desarrollo habitacional sustentable</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820 viviendas sociales · DS49</a:t>
            </a:r>
            <a:endParaRPr lang="en-US" sz="1100" dirty="0"/>
          </a:p>
        </p:txBody>
      </p:sp>
      <p:sp>
        <p:nvSpPr>
          <p:cNvPr id="30" name="Text 28"/>
          <p:cNvSpPr/>
          <p:nvPr/>
        </p:nvSpPr>
        <p:spPr>
          <a:xfrm>
            <a:off x="7589520" y="391363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Pipeline + comercialización Ready-to-Build</a:t>
            </a:r>
            <a:endParaRPr lang="en-US" sz="1100" dirty="0"/>
          </a:p>
        </p:txBody>
      </p:sp>
      <p:sp>
        <p:nvSpPr>
          <p:cNvPr id="31" name="Shape 29"/>
          <p:cNvSpPr/>
          <p:nvPr/>
        </p:nvSpPr>
        <p:spPr>
          <a:xfrm>
            <a:off x="457200" y="4389120"/>
            <a:ext cx="11274552" cy="640080"/>
          </a:xfrm>
          <a:prstGeom prst="rect">
            <a:avLst/>
          </a:prstGeom>
          <a:solidFill>
            <a:srgbClr val="F9F9F9"/>
          </a:solidFill>
          <a:ln/>
        </p:spPr>
      </p:sp>
      <p:sp>
        <p:nvSpPr>
          <p:cNvPr id="32" name="Shape 30"/>
          <p:cNvSpPr/>
          <p:nvPr/>
        </p:nvSpPr>
        <p:spPr>
          <a:xfrm>
            <a:off x="457200" y="5029200"/>
            <a:ext cx="11274552" cy="0"/>
          </a:xfrm>
          <a:prstGeom prst="line">
            <a:avLst/>
          </a:prstGeom>
          <a:noFill/>
          <a:ln w="3810">
            <a:solidFill>
              <a:srgbClr val="D2D2D7"/>
            </a:solidFill>
            <a:prstDash val="solid"/>
          </a:ln>
        </p:spPr>
      </p:sp>
      <p:sp>
        <p:nvSpPr>
          <p:cNvPr id="34" name="Text 32"/>
          <p:cNvSpPr/>
          <p:nvPr/>
        </p:nvSpPr>
        <p:spPr>
          <a:xfrm>
            <a:off x="1325880" y="455371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 / Green Mining</a:t>
            </a:r>
            <a:endParaRPr lang="en-US" sz="1300" dirty="0"/>
          </a:p>
        </p:txBody>
      </p:sp>
      <p:sp>
        <p:nvSpPr>
          <p:cNvPr id="35" name="Text 33"/>
          <p:cNvSpPr/>
          <p:nvPr/>
        </p:nvSpPr>
        <p:spPr>
          <a:xfrm>
            <a:off x="3749040" y="455371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Procesamiento de cobre y residuos mineros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Hasta 846 t/año de cátodos Cu</a:t>
            </a:r>
            <a:endParaRPr lang="en-US" sz="1100" dirty="0"/>
          </a:p>
        </p:txBody>
      </p:sp>
      <p:sp>
        <p:nvSpPr>
          <p:cNvPr id="36" name="Text 34"/>
          <p:cNvSpPr/>
          <p:nvPr/>
        </p:nvSpPr>
        <p:spPr>
          <a:xfrm>
            <a:off x="7589520" y="455371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Validación tecnológica + piloto comercial</a:t>
            </a:r>
            <a:endParaRPr lang="en-US" sz="1100" dirty="0"/>
          </a:p>
        </p:txBody>
      </p:sp>
      <p:sp>
        <p:nvSpPr>
          <p:cNvPr id="37" name="Shape 35"/>
          <p:cNvSpPr/>
          <p:nvPr/>
        </p:nvSpPr>
        <p:spPr>
          <a:xfrm>
            <a:off x="457200" y="5029200"/>
            <a:ext cx="11274552" cy="640080"/>
          </a:xfrm>
          <a:prstGeom prst="rect">
            <a:avLst/>
          </a:prstGeom>
          <a:solidFill>
            <a:srgbClr val="FFFFFF"/>
          </a:solidFill>
          <a:ln/>
        </p:spPr>
      </p:sp>
      <p:sp>
        <p:nvSpPr>
          <p:cNvPr id="38" name="Shape 36"/>
          <p:cNvSpPr/>
          <p:nvPr/>
        </p:nvSpPr>
        <p:spPr>
          <a:xfrm>
            <a:off x="457200" y="5669280"/>
            <a:ext cx="11274552" cy="0"/>
          </a:xfrm>
          <a:prstGeom prst="line">
            <a:avLst/>
          </a:prstGeom>
          <a:noFill/>
          <a:ln w="3810">
            <a:solidFill>
              <a:srgbClr val="D2D2D7"/>
            </a:solidFill>
            <a:prstDash val="solid"/>
          </a:ln>
        </p:spPr>
      </p:sp>
      <p:sp>
        <p:nvSpPr>
          <p:cNvPr id="40" name="Text 38"/>
          <p:cNvSpPr/>
          <p:nvPr/>
        </p:nvSpPr>
        <p:spPr>
          <a:xfrm>
            <a:off x="1325880" y="519379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41" name="Text 39"/>
          <p:cNvSpPr/>
          <p:nvPr/>
        </p:nvSpPr>
        <p:spPr>
          <a:xfrm>
            <a:off x="3749040" y="519379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Revalorización conchas de chorito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a:t>
            </a:r>
            <a:endParaRPr lang="en-US" sz="1100" dirty="0"/>
          </a:p>
        </p:txBody>
      </p:sp>
      <p:sp>
        <p:nvSpPr>
          <p:cNvPr id="42" name="Text 40"/>
          <p:cNvSpPr/>
          <p:nvPr/>
        </p:nvSpPr>
        <p:spPr>
          <a:xfrm>
            <a:off x="7589520" y="519379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Ready-to-Build proyectos clave</a:t>
            </a:r>
            <a:endParaRPr lang="en-US" sz="1100" dirty="0"/>
          </a:p>
        </p:txBody>
      </p:sp>
      <p:sp>
        <p:nvSpPr>
          <p:cNvPr id="43" name="Shape 41"/>
          <p:cNvSpPr/>
          <p:nvPr/>
        </p:nvSpPr>
        <p:spPr>
          <a:xfrm>
            <a:off x="457200" y="5669280"/>
            <a:ext cx="11274552" cy="640080"/>
          </a:xfrm>
          <a:prstGeom prst="rect">
            <a:avLst/>
          </a:prstGeom>
          <a:solidFill>
            <a:srgbClr val="F9F9F9"/>
          </a:solidFill>
          <a:ln/>
        </p:spPr>
      </p:sp>
      <p:sp>
        <p:nvSpPr>
          <p:cNvPr id="44" name="Shape 42"/>
          <p:cNvSpPr/>
          <p:nvPr/>
        </p:nvSpPr>
        <p:spPr>
          <a:xfrm>
            <a:off x="457200" y="6309360"/>
            <a:ext cx="11274552" cy="0"/>
          </a:xfrm>
          <a:prstGeom prst="line">
            <a:avLst/>
          </a:prstGeom>
          <a:noFill/>
          <a:ln w="3810">
            <a:solidFill>
              <a:srgbClr val="D2D2D7"/>
            </a:solidFill>
            <a:prstDash val="solid"/>
          </a:ln>
        </p:spPr>
      </p:sp>
      <p:sp>
        <p:nvSpPr>
          <p:cNvPr id="46" name="Text 44"/>
          <p:cNvSpPr/>
          <p:nvPr/>
        </p:nvSpPr>
        <p:spPr>
          <a:xfrm>
            <a:off x="1325880" y="58338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47" name="Text 45"/>
          <p:cNvSpPr/>
          <p:nvPr/>
        </p:nvSpPr>
        <p:spPr>
          <a:xfrm>
            <a:off x="3749040" y="58338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Extracción de proteínas agrícolas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Pureza proteica &gt;70% en subproductos</a:t>
            </a:r>
            <a:endParaRPr lang="en-US" sz="1100" dirty="0"/>
          </a:p>
        </p:txBody>
      </p:sp>
      <p:sp>
        <p:nvSpPr>
          <p:cNvPr id="48" name="Text 46"/>
          <p:cNvSpPr/>
          <p:nvPr/>
        </p:nvSpPr>
        <p:spPr>
          <a:xfrm>
            <a:off x="7589520" y="58338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Hitos técnicos + plan de capitalización</a:t>
            </a:r>
            <a:endParaRPr lang="en-US" sz="1100" dirty="0"/>
          </a:p>
        </p:txBody>
      </p:sp>
      <p:sp>
        <p:nvSpPr>
          <p:cNvPr id="50" name="Shape 48"/>
          <p:cNvSpPr/>
          <p:nvPr/>
        </p:nvSpPr>
        <p:spPr>
          <a:xfrm>
            <a:off x="457200" y="6492240"/>
            <a:ext cx="11274552" cy="0"/>
          </a:xfrm>
          <a:prstGeom prst="line">
            <a:avLst/>
          </a:prstGeom>
          <a:noFill/>
          <a:ln w="6350">
            <a:solidFill>
              <a:srgbClr val="D2D2D7"/>
            </a:solidFill>
            <a:prstDash val="solid"/>
          </a:ln>
        </p:spPr>
      </p:sp>
      <p:sp>
        <p:nvSpPr>
          <p:cNvPr id="51" name="Text 49"/>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52" name="Text 50"/>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pic>
        <p:nvPicPr>
          <p:cNvPr id="53" name="CSL logo"/>
          <p:cNvPicPr>
            <a:picLocks noChangeAspect="1"/>
          </p:cNvPicPr>
          <p:nvPr/>
        </p:nvPicPr>
        <p:blipFill>
          <a:blip r:embed="rId4"/>
          <a:stretch>
            <a:fillRect/>
          </a:stretch>
        </p:blipFill>
        <p:spPr>
          <a:xfrm>
            <a:off x="457200" y="2634701"/>
            <a:ext cx="686000" cy="326727"/>
          </a:xfrm>
          <a:prstGeom prst="rect">
            <a:avLst/>
          </a:prstGeom>
        </p:spPr>
      </p:pic>
      <p:pic>
        <p:nvPicPr>
          <p:cNvPr id="54" name="Rho logo"/>
          <p:cNvPicPr>
            <a:picLocks noChangeAspect="1"/>
          </p:cNvPicPr>
          <p:nvPr/>
        </p:nvPicPr>
        <p:blipFill>
          <a:blip r:embed="rId5"/>
          <a:stretch>
            <a:fillRect/>
          </a:stretch>
        </p:blipFill>
        <p:spPr>
          <a:xfrm>
            <a:off x="457200" y="3325063"/>
            <a:ext cx="686000" cy="226163"/>
          </a:xfrm>
          <a:prstGeom prst="rect">
            <a:avLst/>
          </a:prstGeom>
        </p:spPr>
      </p:pic>
      <p:pic>
        <p:nvPicPr>
          <p:cNvPr id="55" name="DTE logo"/>
          <p:cNvPicPr>
            <a:picLocks noChangeAspect="1"/>
          </p:cNvPicPr>
          <p:nvPr/>
        </p:nvPicPr>
        <p:blipFill>
          <a:blip r:embed="rId6"/>
          <a:stretch>
            <a:fillRect/>
          </a:stretch>
        </p:blipFill>
        <p:spPr>
          <a:xfrm>
            <a:off x="457200" y="3872484"/>
            <a:ext cx="410518" cy="411480"/>
          </a:xfrm>
          <a:prstGeom prst="rect">
            <a:avLst/>
          </a:prstGeom>
        </p:spPr>
      </p:pic>
      <p:pic>
        <p:nvPicPr>
          <p:cNvPr id="56" name="Revtech logo"/>
          <p:cNvPicPr>
            <a:picLocks noChangeAspect="1"/>
          </p:cNvPicPr>
          <p:nvPr/>
        </p:nvPicPr>
        <p:blipFill>
          <a:blip r:embed="rId7"/>
          <a:stretch>
            <a:fillRect/>
          </a:stretch>
        </p:blipFill>
        <p:spPr>
          <a:xfrm>
            <a:off x="457200" y="4660618"/>
            <a:ext cx="686000" cy="115372"/>
          </a:xfrm>
          <a:prstGeom prst="rect">
            <a:avLst/>
          </a:prstGeom>
        </p:spPr>
      </p:pic>
      <p:pic>
        <p:nvPicPr>
          <p:cNvPr id="57" name="Evoque logo"/>
          <p:cNvPicPr>
            <a:picLocks noChangeAspect="1"/>
          </p:cNvPicPr>
          <p:nvPr/>
        </p:nvPicPr>
        <p:blipFill>
          <a:blip r:embed="rId8"/>
          <a:stretch>
            <a:fillRect/>
          </a:stretch>
        </p:blipFill>
        <p:spPr>
          <a:xfrm>
            <a:off x="457200" y="5239161"/>
            <a:ext cx="686000" cy="238446"/>
          </a:xfrm>
          <a:prstGeom prst="rect">
            <a:avLst/>
          </a:prstGeom>
        </p:spPr>
      </p:pic>
      <p:pic>
        <p:nvPicPr>
          <p:cNvPr id="58" name="Trongkai logo"/>
          <p:cNvPicPr>
            <a:picLocks noChangeAspect="1"/>
          </p:cNvPicPr>
          <p:nvPr/>
        </p:nvPicPr>
        <p:blipFill>
          <a:blip r:embed="rId9"/>
          <a:stretch>
            <a:fillRect/>
          </a:stretch>
        </p:blipFill>
        <p:spPr>
          <a:xfrm>
            <a:off x="457200" y="5939555"/>
            <a:ext cx="686000" cy="11781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D0F96"/>
        </a:solidFill>
        <a:effectLst/>
      </p:bgPr>
    </p:bg>
    <p:spTree>
      <p:nvGrpSpPr>
        <p:cNvPr id="1" name=""/>
        <p:cNvGrpSpPr/>
        <p:nvPr/>
      </p:nvGrpSpPr>
      <p:grpSpPr>
        <a:xfrm>
          <a:off x="0" y="0"/>
          <a:ext cx="0" cy="0"/>
          <a:chOff x="0" y="0"/>
          <a:chExt cx="0" cy="0"/>
        </a:xfrm>
      </p:grpSpPr>
      <p:sp>
        <p:nvSpPr>
          <p:cNvPr id="2" name="Shape 0"/>
          <p:cNvSpPr/>
          <p:nvPr/>
        </p:nvSpPr>
        <p:spPr>
          <a:xfrm flipV="1">
            <a:off x="0" y="0"/>
            <a:ext cx="3657600" cy="1828800"/>
          </a:xfrm>
          <a:prstGeom prst="rtTriangle">
            <a:avLst/>
          </a:prstGeom>
          <a:solidFill>
            <a:srgbClr val="823DBC">
              <a:alpha val="30000"/>
            </a:srgbClr>
          </a:solidFill>
          <a:ln/>
        </p:spPr>
      </p:sp>
      <p:sp>
        <p:nvSpPr>
          <p:cNvPr id="3" name="Shape 1"/>
          <p:cNvSpPr/>
          <p:nvPr/>
        </p:nvSpPr>
        <p:spPr>
          <a:xfrm>
            <a:off x="8686800" y="5029200"/>
            <a:ext cx="3502152" cy="1828800"/>
          </a:xfrm>
          <a:prstGeom prst="rtTriangle">
            <a:avLst/>
          </a:prstGeom>
          <a:solidFill>
            <a:srgbClr val="823DBC">
              <a:alpha val="30000"/>
            </a:srgbClr>
          </a:solidFill>
          <a:ln/>
        </p:spPr>
      </p:sp>
      <p:sp>
        <p:nvSpPr>
          <p:cNvPr id="7" name="Text 5"/>
          <p:cNvSpPr/>
          <p:nvPr/>
        </p:nvSpPr>
        <p:spPr>
          <a:xfrm>
            <a:off x="457200" y="3291840"/>
            <a:ext cx="11274552" cy="1005840"/>
          </a:xfrm>
          <a:prstGeom prst="rect">
            <a:avLst/>
          </a:prstGeom>
          <a:noFill/>
          <a:ln/>
        </p:spPr>
        <p:txBody>
          <a:bodyPr wrap="square" rtlCol="0" anchor="ctr"/>
          <a:lstStyle/>
          <a:p>
            <a:pPr marL="0" indent="0" algn="ctr">
              <a:buNone/>
            </a:pPr>
            <a:r>
              <a:rPr lang="en-US" sz="7200" b="1" i="1" dirty="0">
                <a:solidFill>
                  <a:srgbClr val="FFFFFF"/>
                </a:solidFill>
                <a:latin typeface="Georgia" pitchFamily="34" charset="0"/>
                <a:ea typeface="Georgia" pitchFamily="34" charset="-122"/>
                <a:cs typeface="Georgia" pitchFamily="34" charset="-120"/>
              </a:rPr>
              <a:t>Gracias</a:t>
            </a:r>
            <a:endParaRPr lang="en-US" sz="7200" dirty="0"/>
          </a:p>
        </p:txBody>
      </p:sp>
      <p:sp>
        <p:nvSpPr>
          <p:cNvPr id="8" name="Text 6"/>
          <p:cNvSpPr/>
          <p:nvPr/>
        </p:nvSpPr>
        <p:spPr>
          <a:xfrm>
            <a:off x="457200" y="4434840"/>
            <a:ext cx="11274552" cy="365760"/>
          </a:xfrm>
          <a:prstGeom prst="rect">
            <a:avLst/>
          </a:prstGeom>
          <a:noFill/>
          <a:ln/>
        </p:spPr>
        <p:txBody>
          <a:bodyPr wrap="square" rtlCol="0" anchor="ctr"/>
          <a:lstStyle/>
          <a:p>
            <a:pPr marL="0" indent="0" algn="ctr">
              <a:buNone/>
            </a:pPr>
            <a:r>
              <a:rPr lang="en-US" sz="1800" dirty="0">
                <a:solidFill>
                  <a:srgbClr val="C4B5FD"/>
                </a:solidFill>
                <a:latin typeface="Helvetica" pitchFamily="34" charset="0"/>
                <a:ea typeface="Helvetica" pitchFamily="34" charset="-122"/>
                <a:cs typeface="Helvetica" pitchFamily="34" charset="-120"/>
              </a:rPr>
              <a:t>Espacio para consultas y otros asuntos</a:t>
            </a:r>
            <a:endParaRPr lang="en-US" sz="1800" dirty="0"/>
          </a:p>
        </p:txBody>
      </p:sp>
      <p:sp>
        <p:nvSpPr>
          <p:cNvPr id="9" name="Shape 7"/>
          <p:cNvSpPr/>
          <p:nvPr/>
        </p:nvSpPr>
        <p:spPr>
          <a:xfrm>
            <a:off x="3657600" y="5212080"/>
            <a:ext cx="4873752" cy="0"/>
          </a:xfrm>
          <a:prstGeom prst="line">
            <a:avLst/>
          </a:prstGeom>
          <a:noFill/>
          <a:ln w="6350">
            <a:solidFill>
              <a:srgbClr val="823DBC"/>
            </a:solidFill>
            <a:prstDash val="solid"/>
          </a:ln>
        </p:spPr>
      </p:sp>
      <p:sp>
        <p:nvSpPr>
          <p:cNvPr id="10" name="Text 8"/>
          <p:cNvSpPr/>
          <p:nvPr/>
        </p:nvSpPr>
        <p:spPr>
          <a:xfrm>
            <a:off x="457200" y="5440680"/>
            <a:ext cx="11274552" cy="274320"/>
          </a:xfrm>
          <a:prstGeom prst="rect">
            <a:avLst/>
          </a:prstGeom>
          <a:noFill/>
          <a:ln/>
        </p:spPr>
        <p:txBody>
          <a:bodyPr wrap="square" rtlCol="0" anchor="ctr"/>
          <a:lstStyle/>
          <a:p>
            <a:pPr marL="0" indent="0" algn="ctr">
              <a:buNone/>
            </a:pPr>
            <a:r>
              <a:rPr lang="en-US" sz="1200" dirty="0">
                <a:solidFill>
                  <a:srgbClr val="FFFFFF"/>
                </a:solidFill>
                <a:latin typeface="Helvetica" pitchFamily="34" charset="0"/>
                <a:ea typeface="Helvetica" pitchFamily="34" charset="-122"/>
                <a:cs typeface="Helvetica" pitchFamily="34" charset="-120"/>
              </a:rPr>
              <a:t>cehtacapital.com  ·  info@cehtacapital.com</a:t>
            </a:r>
            <a:endParaRPr lang="en-US" sz="1200" dirty="0"/>
          </a:p>
        </p:txBody>
      </p:sp>
      <p:sp>
        <p:nvSpPr>
          <p:cNvPr id="11" name="Text 9"/>
          <p:cNvSpPr/>
          <p:nvPr/>
        </p:nvSpPr>
        <p:spPr>
          <a:xfrm>
            <a:off x="457200" y="5760720"/>
            <a:ext cx="11274552" cy="274320"/>
          </a:xfrm>
          <a:prstGeom prst="rect">
            <a:avLst/>
          </a:prstGeom>
          <a:noFill/>
          <a:ln/>
        </p:spPr>
        <p:txBody>
          <a:bodyPr wrap="square" rtlCol="0" anchor="ctr"/>
          <a:lstStyle/>
          <a:p>
            <a:pPr marL="0" indent="0" algn="ctr">
              <a:buNone/>
            </a:pPr>
            <a:r>
              <a:rPr lang="en-US" sz="1000" dirty="0">
                <a:solidFill>
                  <a:srgbClr val="C4B5FD"/>
                </a:solidFill>
                <a:latin typeface="Helvetica" pitchFamily="34" charset="0"/>
                <a:ea typeface="Helvetica" pitchFamily="34" charset="-122"/>
                <a:cs typeface="Helvetica" pitchFamily="34" charset="-120"/>
              </a:rPr>
              <a:t>Av. Américo Vespucio Sur 80, Oficina 31, Las Condes, Santiago</a:t>
            </a:r>
            <a:endParaRPr lang="en-US" sz="1000" dirty="0"/>
          </a:p>
        </p:txBody>
      </p:sp>
      <p:sp>
        <p:nvSpPr>
          <p:cNvPr id="12" name="Text 10"/>
          <p:cNvSpPr/>
          <p:nvPr/>
        </p:nvSpPr>
        <p:spPr>
          <a:xfrm>
            <a:off x="457200" y="6400800"/>
            <a:ext cx="11274552" cy="274320"/>
          </a:xfrm>
          <a:prstGeom prst="rect">
            <a:avLst/>
          </a:prstGeom>
          <a:noFill/>
          <a:ln/>
        </p:spPr>
        <p:txBody>
          <a:bodyPr wrap="square" rtlCol="0" anchor="ctr"/>
          <a:lstStyle/>
          <a:p>
            <a:pPr marL="0" indent="0" algn="ctr">
              <a:buNone/>
            </a:pPr>
            <a:r>
              <a:rPr lang="en-US" sz="800" i="1" dirty="0">
                <a:solidFill>
                  <a:srgbClr val="C4B5FD"/>
                </a:solidFill>
                <a:latin typeface="Helvetica" pitchFamily="34" charset="0"/>
                <a:ea typeface="Helvetica" pitchFamily="34" charset="-122"/>
                <a:cs typeface="Helvetica" pitchFamily="34" charset="-120"/>
              </a:rPr>
              <a:t>El FIP CEHTA ESG no se encuentra fiscalizado por la Comisión para el Mercado Financiero (Art. 93 Ley N° 20.712).</a:t>
            </a:r>
            <a:endParaRPr lang="en-US" sz="800" dirty="0"/>
          </a:p>
        </p:txBody>
      </p:sp>
      <p:pic>
        <p:nvPicPr>
          <p:cNvPr id="13" name="Cehta logo white"/>
          <p:cNvPicPr>
            <a:picLocks noChangeAspect="1"/>
          </p:cNvPicPr>
          <p:nvPr/>
        </p:nvPicPr>
        <p:blipFill>
          <a:blip r:embed="rId3"/>
          <a:stretch>
            <a:fillRect/>
          </a:stretch>
        </p:blipFill>
        <p:spPr>
          <a:xfrm>
            <a:off x="4953000" y="1439767"/>
            <a:ext cx="2286000" cy="960945"/>
          </a:xfrm>
          <a:prstGeom prst="rect">
            <a:avLst/>
          </a:prstGeom>
        </p:spPr>
      </p:pic>
      <p:sp>
        <p:nvSpPr>
          <p:cNvPr id="14" name="Institutional logos platform"/>
          <p:cNvSpPr/>
          <p:nvPr/>
        </p:nvSpPr>
        <p:spPr>
          <a:xfrm>
            <a:off x="3352800" y="6080000"/>
            <a:ext cx="5486400" cy="320040"/>
          </a:xfrm>
          <a:prstGeom prst="roundRect">
            <a:avLst>
              <a:gd name="adj" fmla="val 30000"/>
            </a:avLst>
          </a:prstGeom>
          <a:solidFill>
            <a:srgbClr val="FFFFFF">
              <a:alpha val="90000"/>
            </a:srgbClr>
          </a:solidFill>
          <a:ln/>
        </p:spPr>
      </p:sp>
      <p:pic>
        <p:nvPicPr>
          <p:cNvPr id="15" name="CORFO logo"/>
          <p:cNvPicPr>
            <a:picLocks noChangeAspect="1"/>
          </p:cNvPicPr>
          <p:nvPr/>
        </p:nvPicPr>
        <p:blipFill>
          <a:blip r:embed="rId7"/>
          <a:stretch>
            <a:fillRect/>
          </a:stretch>
        </p:blipFill>
        <p:spPr>
          <a:xfrm>
            <a:off x="4064000" y="6125720"/>
            <a:ext cx="406400" cy="228600"/>
          </a:xfrm>
          <a:prstGeom prst="rect">
            <a:avLst/>
          </a:prstGeom>
        </p:spPr>
      </p:pic>
      <p:pic>
        <p:nvPicPr>
          <p:cNvPr id="16" name="CMF logo"/>
          <p:cNvPicPr>
            <a:picLocks noChangeAspect="1"/>
          </p:cNvPicPr>
          <p:nvPr/>
        </p:nvPicPr>
        <p:blipFill>
          <a:blip r:embed="rId8"/>
          <a:stretch>
            <a:fillRect/>
          </a:stretch>
        </p:blipFill>
        <p:spPr>
          <a:xfrm>
            <a:off x="5473304" y="6125720"/>
            <a:ext cx="1245393" cy="228600"/>
          </a:xfrm>
          <a:prstGeom prst="rect">
            <a:avLst/>
          </a:prstGeom>
        </p:spPr>
      </p:pic>
      <p:pic>
        <p:nvPicPr>
          <p:cNvPr id="17" name="UAF logo"/>
          <p:cNvPicPr>
            <a:picLocks noChangeAspect="1"/>
          </p:cNvPicPr>
          <p:nvPr/>
        </p:nvPicPr>
        <p:blipFill>
          <a:blip r:embed="rId9"/>
          <a:stretch>
            <a:fillRect/>
          </a:stretch>
        </p:blipFill>
        <p:spPr>
          <a:xfrm>
            <a:off x="7675626" y="6125720"/>
            <a:ext cx="498348" cy="2286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Header left"/>
          <p:cNvSpPr/>
          <p:nvPr/>
        </p:nvSpPr>
        <p:spPr>
          <a:xfrm>
            <a:off x="457200" y="182880"/>
            <a:ext cx="2286000" cy="228600"/>
          </a:xfrm>
          <a:prstGeom prst="rect">
            <a:avLst/>
          </a:prstGeom>
          <a:noFill/>
          <a:ln/>
        </p:spPr>
        <p:txBody>
          <a:bodyPr wrap="square" rtlCol="0" anchor="ctr"/>
          <a:lstStyle/>
          <a:p>
            <a:pPr marL="0" indent="0">
              <a:buNone/>
            </a:pPr>
            <a:r>
              <a:rPr lang="en-US" sz="900" b="1" spc="300" dirty="0">
                <a:solidFill>
                  <a:srgbClr val="823DBC"/>
                </a:solidFill>
                <a:latin typeface="Helvetica" pitchFamily="34" charset="0"/>
              </a:rPr>
              <a:t>CEHTA CAPITAL</a:t>
            </a:r>
          </a:p>
        </p:txBody>
      </p:sp>
      <p:sp>
        <p:nvSpPr>
          <p:cNvPr id="3" name="Header center"/>
          <p:cNvSpPr/>
          <p:nvPr/>
        </p:nvSpPr>
        <p:spPr>
          <a:xfrm>
            <a:off x="3429000" y="182880"/>
            <a:ext cx="5334000" cy="228600"/>
          </a:xfrm>
          <a:prstGeom prst="rect">
            <a:avLst/>
          </a:prstGeom>
          <a:noFill/>
          <a:ln/>
        </p:spPr>
        <p:txBody>
          <a:bodyPr wrap="square" rtlCol="0" anchor="ctr"/>
          <a:lstStyle/>
          <a:p>
            <a:pPr marL="0" indent="0" algn="ctr">
              <a:buNone/>
            </a:pPr>
            <a:r>
              <a:rPr lang="en-US" sz="900" spc="200" dirty="0">
                <a:solidFill>
                  <a:srgbClr val="C7B8E8"/>
                </a:solidFill>
                <a:latin typeface="Helvetica" pitchFamily="34" charset="0"/>
              </a:rPr>
              <a:t>ASAMBLEA ORDINARIA · 22 DE MAYO, 2026</a:t>
            </a:r>
          </a:p>
        </p:txBody>
      </p:sp>
      <p:sp>
        <p:nvSpPr>
          <p:cNvPr id="4" name="Header right"/>
          <p:cNvSpPr/>
          <p:nvPr/>
        </p:nvSpPr>
        <p:spPr>
          <a:xfrm>
            <a:off x="9449400" y="182880"/>
            <a:ext cx="2286000" cy="228600"/>
          </a:xfrm>
          <a:prstGeom prst="rect">
            <a:avLst/>
          </a:prstGeom>
          <a:noFill/>
          <a:ln/>
        </p:spPr>
        <p:txBody>
          <a:bodyPr wrap="square" rtlCol="0" anchor="ctr"/>
          <a:lstStyle/>
          <a:p>
            <a:pPr marL="0" indent="0" algn="r">
              <a:buNone/>
            </a:pPr>
            <a:r>
              <a:rPr lang="en-US" sz="900" spc="200" dirty="0">
                <a:solidFill>
                  <a:srgbClr val="C7B8E8"/>
                </a:solidFill>
                <a:latin typeface="Helvetica" pitchFamily="34" charset="0"/>
              </a:rPr>
              <a:t>07 — 18</a:t>
            </a:r>
          </a:p>
        </p:txBody>
      </p:sp>
      <p:sp>
        <p:nvSpPr>
          <p:cNvPr id="5" name="Eyebrow"/>
          <p:cNvSpPr/>
          <p:nvPr/>
        </p:nvSpPr>
        <p:spPr>
          <a:xfrm>
            <a:off x="457200" y="731520"/>
            <a:ext cx="6400800" cy="320040"/>
          </a:xfrm>
          <a:prstGeom prst="rect">
            <a:avLst/>
          </a:prstGeom>
          <a:noFill/>
          <a:ln/>
        </p:spPr>
        <p:txBody>
          <a:bodyPr wrap="square" rtlCol="0" anchor="ctr"/>
          <a:lstStyle/>
          <a:p>
            <a:pPr marL="0" indent="0">
              <a:buNone/>
            </a:pPr>
            <a:r>
              <a:rPr lang="en-US" sz="1200" b="1" spc="300" dirty="0">
                <a:solidFill>
                  <a:srgbClr val="4D0F96"/>
                </a:solidFill>
                <a:latin typeface="Helvetica" pitchFamily="34" charset="0"/>
              </a:rPr>
              <a:t>2025 IN NUMBERS · Highlights del ejercicio</a:t>
            </a:r>
          </a:p>
        </p:txBody>
      </p:sp>
      <p:sp>
        <p:nvSpPr>
          <p:cNvPr id="6" name="Title"/>
          <p:cNvSpPr/>
          <p:nvPr/>
        </p:nvSpPr>
        <p:spPr>
          <a:xfrm>
            <a:off x="457200" y="1051560"/>
            <a:ext cx="11277600" cy="731520"/>
          </a:xfrm>
          <a:prstGeom prst="rect">
            <a:avLst/>
          </a:prstGeom>
          <a:noFill/>
          <a:ln/>
        </p:spPr>
        <p:txBody>
          <a:bodyPr wrap="square" rtlCol="0" anchor="ctr"/>
          <a:lstStyle/>
          <a:p>
            <a:pPr marL="0" indent="0">
              <a:buNone/>
            </a:pPr>
            <a:r>
              <a:rPr lang="en-US" sz="4400" b="1" dirty="0">
                <a:solidFill>
                  <a:srgbClr val="1D1D1F"/>
                </a:solidFill>
                <a:latin typeface="Helvetica" pitchFamily="34" charset="0"/>
              </a:rPr>
              <a:t>Un año de evidencia</a:t>
            </a:r>
          </a:p>
        </p:txBody>
      </p:sp>
      <p:sp>
        <p:nvSpPr>
          <p:cNvPr id="7" name="Title underline"/>
          <p:cNvSpPr/>
          <p:nvPr/>
        </p:nvSpPr>
        <p:spPr>
          <a:xfrm>
            <a:off x="457200" y="1828800"/>
            <a:ext cx="548640" cy="0"/>
          </a:xfrm>
          <a:prstGeom prst="line">
            <a:avLst/>
          </a:prstGeom>
          <a:noFill/>
          <a:ln w="31750">
            <a:solidFill>
              <a:srgbClr val="2C74FF"/>
            </a:solidFill>
          </a:ln>
        </p:spPr>
      </p:sp>
      <p:sp>
        <p:nvSpPr>
          <p:cNvPr id="100" name="KPI bg 100"/>
          <p:cNvSpPr/>
          <p:nvPr/>
        </p:nvSpPr>
        <p:spPr>
          <a:xfrm>
            <a:off x="457200" y="2286000"/>
            <a:ext cx="3637280" cy="1828800"/>
          </a:xfrm>
          <a:prstGeom prst="roundRect">
            <a:avLst>
              <a:gd name="adj" fmla="val 8000"/>
            </a:avLst>
          </a:prstGeom>
          <a:solidFill>
            <a:srgbClr val="F5F3FE"/>
          </a:solidFill>
          <a:ln/>
        </p:spPr>
      </p:sp>
      <p:sp>
        <p:nvSpPr>
          <p:cNvPr id="101" name="KPI big 101"/>
          <p:cNvSpPr/>
          <p:nvPr/>
        </p:nvSpPr>
        <p:spPr>
          <a:xfrm>
            <a:off x="7315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6</a:t>
            </a:r>
          </a:p>
        </p:txBody>
      </p:sp>
      <p:sp>
        <p:nvSpPr>
          <p:cNvPr id="102" name="KPI label 102"/>
          <p:cNvSpPr/>
          <p:nvPr/>
        </p:nvSpPr>
        <p:spPr>
          <a:xfrm>
            <a:off x="7315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Portfolio companies</a:t>
            </a:r>
          </a:p>
        </p:txBody>
      </p:sp>
      <p:sp>
        <p:nvSpPr>
          <p:cNvPr id="103" name="KPI sub 103"/>
          <p:cNvSpPr/>
          <p:nvPr/>
        </p:nvSpPr>
        <p:spPr>
          <a:xfrm>
            <a:off x="7315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Activas en cartera FIP CEHTA ESG</a:t>
            </a:r>
          </a:p>
        </p:txBody>
      </p:sp>
      <p:sp>
        <p:nvSpPr>
          <p:cNvPr id="110" name="KPI bg 110"/>
          <p:cNvSpPr/>
          <p:nvPr/>
        </p:nvSpPr>
        <p:spPr>
          <a:xfrm>
            <a:off x="4368800" y="2286000"/>
            <a:ext cx="3637280" cy="1828800"/>
          </a:xfrm>
          <a:prstGeom prst="roundRect">
            <a:avLst>
              <a:gd name="adj" fmla="val 8000"/>
            </a:avLst>
          </a:prstGeom>
          <a:solidFill>
            <a:srgbClr val="F5F3FE"/>
          </a:solidFill>
          <a:ln/>
        </p:spPr>
      </p:sp>
      <p:sp>
        <p:nvSpPr>
          <p:cNvPr id="111" name="KPI big 111"/>
          <p:cNvSpPr/>
          <p:nvPr/>
        </p:nvSpPr>
        <p:spPr>
          <a:xfrm>
            <a:off x="46431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150+</a:t>
            </a:r>
          </a:p>
        </p:txBody>
      </p:sp>
      <p:sp>
        <p:nvSpPr>
          <p:cNvPr id="112" name="KPI label 112"/>
          <p:cNvSpPr/>
          <p:nvPr/>
        </p:nvSpPr>
        <p:spPr>
          <a:xfrm>
            <a:off x="46431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MW en pipeline</a:t>
            </a:r>
          </a:p>
        </p:txBody>
      </p:sp>
      <p:sp>
        <p:nvSpPr>
          <p:cNvPr id="113" name="KPI sub 113"/>
          <p:cNvSpPr/>
          <p:nvPr/>
        </p:nvSpPr>
        <p:spPr>
          <a:xfrm>
            <a:off x="46431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6 proyectos energéticos · 360 MWh</a:t>
            </a:r>
          </a:p>
        </p:txBody>
      </p:sp>
      <p:sp>
        <p:nvSpPr>
          <p:cNvPr id="120" name="KPI bg 120"/>
          <p:cNvSpPr/>
          <p:nvPr/>
        </p:nvSpPr>
        <p:spPr>
          <a:xfrm>
            <a:off x="8280400" y="2286000"/>
            <a:ext cx="3637280" cy="1828800"/>
          </a:xfrm>
          <a:prstGeom prst="roundRect">
            <a:avLst>
              <a:gd name="adj" fmla="val 8000"/>
            </a:avLst>
          </a:prstGeom>
          <a:solidFill>
            <a:srgbClr val="F5F3FE"/>
          </a:solidFill>
          <a:ln/>
        </p:spPr>
      </p:sp>
      <p:sp>
        <p:nvSpPr>
          <p:cNvPr id="121" name="KPI big 121"/>
          <p:cNvSpPr/>
          <p:nvPr/>
        </p:nvSpPr>
        <p:spPr>
          <a:xfrm>
            <a:off x="85547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820</a:t>
            </a:r>
          </a:p>
        </p:txBody>
      </p:sp>
      <p:sp>
        <p:nvSpPr>
          <p:cNvPr id="122" name="KPI label 122"/>
          <p:cNvSpPr/>
          <p:nvPr/>
        </p:nvSpPr>
        <p:spPr>
          <a:xfrm>
            <a:off x="85547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Viviendas sociales</a:t>
            </a:r>
          </a:p>
        </p:txBody>
      </p:sp>
      <p:sp>
        <p:nvSpPr>
          <p:cNvPr id="123" name="KPI sub 123"/>
          <p:cNvSpPr/>
          <p:nvPr/>
        </p:nvSpPr>
        <p:spPr>
          <a:xfrm>
            <a:off x="85547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DS49 · DTE Consulting · La Serena</a:t>
            </a:r>
          </a:p>
        </p:txBody>
      </p:sp>
      <p:sp>
        <p:nvSpPr>
          <p:cNvPr id="130" name="KPI bg 130"/>
          <p:cNvSpPr/>
          <p:nvPr/>
        </p:nvSpPr>
        <p:spPr>
          <a:xfrm>
            <a:off x="457200" y="4389120"/>
            <a:ext cx="3637280" cy="1828800"/>
          </a:xfrm>
          <a:prstGeom prst="roundRect">
            <a:avLst>
              <a:gd name="adj" fmla="val 8000"/>
            </a:avLst>
          </a:prstGeom>
          <a:solidFill>
            <a:srgbClr val="F5F3FE"/>
          </a:solidFill>
          <a:ln/>
        </p:spPr>
      </p:sp>
      <p:sp>
        <p:nvSpPr>
          <p:cNvPr id="131" name="KPI big 131"/>
          <p:cNvSpPr/>
          <p:nvPr/>
        </p:nvSpPr>
        <p:spPr>
          <a:xfrm>
            <a:off x="7315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36.978</a:t>
            </a:r>
          </a:p>
        </p:txBody>
      </p:sp>
      <p:sp>
        <p:nvSpPr>
          <p:cNvPr id="132" name="KPI label 132"/>
          <p:cNvSpPr/>
          <p:nvPr/>
        </p:nvSpPr>
        <p:spPr>
          <a:xfrm>
            <a:off x="7315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t/año CaCO₃</a:t>
            </a:r>
          </a:p>
        </p:txBody>
      </p:sp>
      <p:sp>
        <p:nvSpPr>
          <p:cNvPr id="133" name="KPI sub 133"/>
          <p:cNvSpPr/>
          <p:nvPr/>
        </p:nvSpPr>
        <p:spPr>
          <a:xfrm>
            <a:off x="7315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Evoque Energy · Chiloé · Linares</a:t>
            </a:r>
          </a:p>
        </p:txBody>
      </p:sp>
      <p:sp>
        <p:nvSpPr>
          <p:cNvPr id="140" name="KPI bg 140"/>
          <p:cNvSpPr/>
          <p:nvPr/>
        </p:nvSpPr>
        <p:spPr>
          <a:xfrm>
            <a:off x="4368800" y="4389120"/>
            <a:ext cx="3637280" cy="1828800"/>
          </a:xfrm>
          <a:prstGeom prst="roundRect">
            <a:avLst>
              <a:gd name="adj" fmla="val 8000"/>
            </a:avLst>
          </a:prstGeom>
          <a:solidFill>
            <a:srgbClr val="F5F3FE"/>
          </a:solidFill>
          <a:ln/>
        </p:spPr>
      </p:sp>
      <p:sp>
        <p:nvSpPr>
          <p:cNvPr id="141" name="KPI big 141"/>
          <p:cNvSpPr/>
          <p:nvPr/>
        </p:nvSpPr>
        <p:spPr>
          <a:xfrm>
            <a:off x="46431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16.270</a:t>
            </a:r>
          </a:p>
        </p:txBody>
      </p:sp>
      <p:sp>
        <p:nvSpPr>
          <p:cNvPr id="142" name="KPI label 142"/>
          <p:cNvSpPr/>
          <p:nvPr/>
        </p:nvSpPr>
        <p:spPr>
          <a:xfrm>
            <a:off x="46431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 CO₂ mitigadas</a:t>
            </a:r>
          </a:p>
        </p:txBody>
      </p:sp>
      <p:sp>
        <p:nvSpPr>
          <p:cNvPr id="143" name="KPI sub 143"/>
          <p:cNvSpPr/>
          <p:nvPr/>
        </p:nvSpPr>
        <p:spPr>
          <a:xfrm>
            <a:off x="46431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Estimación anual portfolio combinada</a:t>
            </a:r>
          </a:p>
        </p:txBody>
      </p:sp>
      <p:sp>
        <p:nvSpPr>
          <p:cNvPr id="150" name="KPI bg 150"/>
          <p:cNvSpPr/>
          <p:nvPr/>
        </p:nvSpPr>
        <p:spPr>
          <a:xfrm>
            <a:off x="8280400" y="4389120"/>
            <a:ext cx="3637280" cy="1828800"/>
          </a:xfrm>
          <a:prstGeom prst="roundRect">
            <a:avLst>
              <a:gd name="adj" fmla="val 8000"/>
            </a:avLst>
          </a:prstGeom>
          <a:solidFill>
            <a:srgbClr val="F5F3FE"/>
          </a:solidFill>
          <a:ln/>
        </p:spPr>
      </p:sp>
      <p:sp>
        <p:nvSpPr>
          <p:cNvPr id="151" name="KPI big 151"/>
          <p:cNvSpPr/>
          <p:nvPr/>
        </p:nvSpPr>
        <p:spPr>
          <a:xfrm>
            <a:off x="85547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2</a:t>
            </a:r>
          </a:p>
        </p:txBody>
      </p:sp>
      <p:sp>
        <p:nvSpPr>
          <p:cNvPr id="152" name="KPI label 152"/>
          <p:cNvSpPr/>
          <p:nvPr/>
        </p:nvSpPr>
        <p:spPr>
          <a:xfrm>
            <a:off x="85547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Subsidios CORFO</a:t>
            </a:r>
          </a:p>
        </p:txBody>
      </p:sp>
      <p:sp>
        <p:nvSpPr>
          <p:cNvPr id="153" name="KPI sub 153"/>
          <p:cNvSpPr/>
          <p:nvPr/>
        </p:nvSpPr>
        <p:spPr>
          <a:xfrm>
            <a:off x="85547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Programas Tecnológicos · Trongkai + Revtech</a:t>
            </a:r>
          </a:p>
        </p:txBody>
      </p:sp>
      <p:sp>
        <p:nvSpPr>
          <p:cNvPr id="200" name="Footer line"/>
          <p:cNvSpPr/>
          <p:nvPr/>
        </p:nvSpPr>
        <p:spPr>
          <a:xfrm>
            <a:off x="457200" y="6492240"/>
            <a:ext cx="11277600" cy="0"/>
          </a:xfrm>
          <a:prstGeom prst="line">
            <a:avLst/>
          </a:prstGeom>
          <a:noFill/>
          <a:ln w="6350">
            <a:solidFill>
              <a:srgbClr val="D2D2D7"/>
            </a:solidFill>
          </a:ln>
        </p:spPr>
      </p:sp>
      <p:sp>
        <p:nvSpPr>
          <p:cNvPr id="201" name="Footer left"/>
          <p:cNvSpPr/>
          <p:nvPr/>
        </p:nvSpPr>
        <p:spPr>
          <a:xfrm>
            <a:off x="457200" y="6583680"/>
            <a:ext cx="4572000" cy="228600"/>
          </a:xfrm>
          <a:prstGeom prst="rect">
            <a:avLst/>
          </a:prstGeom>
          <a:noFill/>
          <a:ln/>
        </p:spPr>
        <p:txBody>
          <a:bodyPr wrap="square" rtlCol="0" anchor="ctr"/>
          <a:lstStyle/>
          <a:p>
            <a:pPr marL="0" indent="0">
              <a:buNone/>
            </a:pPr>
            <a:r>
              <a:rPr lang="en-US" sz="900" dirty="0">
                <a:solidFill>
                  <a:srgbClr val="7A7A85"/>
                </a:solidFill>
                <a:latin typeface="Helvetica" pitchFamily="34" charset="0"/>
              </a:rPr>
              <a:t>FIP CEHTA ESG · RUT 77.751.766-K</a:t>
            </a:r>
          </a:p>
        </p:txBody>
      </p:sp>
      <p:sp>
        <p:nvSpPr>
          <p:cNvPr id="202" name="Footer right"/>
          <p:cNvSpPr/>
          <p:nvPr/>
        </p:nvSpPr>
        <p:spPr>
          <a:xfrm>
            <a:off x="7162800" y="6583680"/>
            <a:ext cx="4572000" cy="228600"/>
          </a:xfrm>
          <a:prstGeom prst="rect">
            <a:avLst/>
          </a:prstGeom>
          <a:noFill/>
          <a:ln/>
        </p:spPr>
        <p:txBody>
          <a:bodyPr wrap="square" rtlCol="0" anchor="ctr"/>
          <a:lstStyle/>
          <a:p>
            <a:pPr marL="0" indent="0" algn="r">
              <a:buNone/>
            </a:pPr>
            <a:r>
              <a:rPr lang="en-US" sz="900" i="1" dirty="0">
                <a:solidFill>
                  <a:srgbClr val="7A7A85"/>
                </a:solidFill>
                <a:latin typeface="Helvetica" pitchFamily="34" charset="0"/>
              </a:rPr>
              <a:t>Documento preparatorio · Uso interno</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style.opacity</p:attrName>
                                              </p:attrNameLst>
                                            </p:cBhvr>
                                            <p:tavLst>
                                              <p:tav tm="0">
                                                <p:val>
                                                  <p:fltVal val="0"/>
                                                </p:val>
                                              </p:tav>
                                              <p:tav tm="100000">
                                                <p:val>
                                                  <p:fltVal val="1"/>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110"/>
                                              </p:tgtEl>
                                              <p:attrNameLst>
                                                <p:attrName>style.visibility</p:attrName>
                                              </p:attrNameLst>
                                            </p:cBhvr>
                                            <p:to>
                                              <p:strVal val="visible"/>
                                            </p:to>
                                          </p:set>
                                          <p:anim calcmode="lin" valueType="num">
                                            <p:cBhvr additive="base">
                                              <p:cTn id="17" dur="500" fill="hold"/>
                                              <p:tgtEl>
                                                <p:spTgt spid="110"/>
                                              </p:tgtEl>
                                              <p:attrNameLst>
                                                <p:attrName>style.opacity</p:attrName>
                                              </p:attrNameLst>
                                            </p:cBhvr>
                                            <p:tavLst>
                                              <p:tav tm="0">
                                                <p:val>
                                                  <p:fltVal val="0"/>
                                                </p:val>
                                              </p:tav>
                                              <p:tav tm="100000">
                                                <p:val>
                                                  <p:fltVal val="1"/>
                                                </p:val>
                                              </p:tav>
                                            </p:tavLst>
                                          </p:anim>
                                        </p:childTnLst>
                                      </p:cTn>
                                    </p:par>
                                  </p:childTnLst>
                                </p:cTn>
                              </p:par>
                              <p:par>
                                <p:cTn id="18"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20"/>
                                              </p:tgtEl>
                                              <p:attrNameLst>
                                                <p:attrName>style.visibility</p:attrName>
                                              </p:attrNameLst>
                                            </p:cBhvr>
                                            <p:to>
                                              <p:strVal val="visible"/>
                                            </p:to>
                                          </p:set>
                                          <p:anim calcmode="lin" valueType="num">
                                            <p:cBhvr additive="base">
                                              <p:cTn id="21" dur="500" fill="hold"/>
                                              <p:tgtEl>
                                                <p:spTgt spid="120"/>
                                              </p:tgtEl>
                                              <p:attrNameLst>
                                                <p:attrName>style.opacity</p:attrName>
                                              </p:attrNameLst>
                                            </p:cBhvr>
                                            <p:tavLst>
                                              <p:tav tm="0">
                                                <p:val>
                                                  <p:fltVal val="0"/>
                                                </p:val>
                                              </p:tav>
                                              <p:tav tm="100000">
                                                <p:val>
                                                  <p:fltVal val="1"/>
                                                </p:val>
                                              </p:tav>
                                            </p:tavLst>
                                          </p:anim>
                                        </p:childTnLst>
                                      </p:cTn>
                                    </p:par>
                                  </p:childTnLst>
                                </p:cTn>
                              </p:par>
                              <p:par>
                                <p:cTn id="22" fill="hold">
                                  <p:stCondLst>
                                    <p:cond delay="1200"/>
                                  </p:stCondLst>
                                  <p:childTnLst>
                                    <p:par>
                                      <p:cTn id="23" presetID="10" presetClass="entr" presetSubtype="0" fill="hold" grpId="0" nodeType="afterEffect">
                                        <p:stCondLst>
                                          <p:cond delay="0"/>
                                        </p:stCondLst>
                                        <p:childTnLst>
                                          <p:set>
                                            <p:cBhvr>
                                              <p:cTn id="24" dur="1" fill="hold">
                                                <p:stCondLst>
                                                  <p:cond delay="0"/>
                                                </p:stCondLst>
                                              </p:cTn>
                                              <p:tgtEl>
                                                <p:spTgt spid="130"/>
                                              </p:tgtEl>
                                              <p:attrNameLst>
                                                <p:attrName>style.visibility</p:attrName>
                                              </p:attrNameLst>
                                            </p:cBhvr>
                                            <p:to>
                                              <p:strVal val="visible"/>
                                            </p:to>
                                          </p:set>
                                          <p:anim calcmode="lin" valueType="num">
                                            <p:cBhvr additive="base">
                                              <p:cTn id="25" dur="500" fill="hold"/>
                                              <p:tgtEl>
                                                <p:spTgt spid="130"/>
                                              </p:tgtEl>
                                              <p:attrNameLst>
                                                <p:attrName>style.opacity</p:attrName>
                                              </p:attrNameLst>
                                            </p:cBhvr>
                                            <p:tavLst>
                                              <p:tav tm="0">
                                                <p:val>
                                                  <p:fltVal val="0"/>
                                                </p:val>
                                              </p:tav>
                                              <p:tav tm="100000">
                                                <p:val>
                                                  <p:fltVal val="1"/>
                                                </p:val>
                                              </p:tav>
                                            </p:tavLst>
                                          </p:anim>
                                        </p:childTnLst>
                                      </p:cTn>
                                    </p:par>
                                  </p:childTnLst>
                                </p:cTn>
                              </p:par>
                              <p:par>
                                <p:cTn id="26" fill="hold">
                                  <p:stCondLst>
                                    <p:cond delay="1600"/>
                                  </p:stCondLst>
                                  <p:childTnLst>
                                    <p:par>
                                      <p:cTn id="27" presetID="10" presetClass="entr" presetSubtype="0" fill="hold" grpId="0" nodeType="afterEffect">
                                        <p:stCondLst>
                                          <p:cond delay="0"/>
                                        </p:stCondLst>
                                        <p:childTnLst>
                                          <p:set>
                                            <p:cBhvr>
                                              <p:cTn id="28" dur="1" fill="hold">
                                                <p:stCondLst>
                                                  <p:cond delay="0"/>
                                                </p:stCondLst>
                                              </p:cTn>
                                              <p:tgtEl>
                                                <p:spTgt spid="140"/>
                                              </p:tgtEl>
                                              <p:attrNameLst>
                                                <p:attrName>style.visibility</p:attrName>
                                              </p:attrNameLst>
                                            </p:cBhvr>
                                            <p:to>
                                              <p:strVal val="visible"/>
                                            </p:to>
                                          </p:set>
                                          <p:anim calcmode="lin" valueType="num">
                                            <p:cBhvr additive="base">
                                              <p:cTn id="29" dur="500" fill="hold"/>
                                              <p:tgtEl>
                                                <p:spTgt spid="140"/>
                                              </p:tgtEl>
                                              <p:attrNameLst>
                                                <p:attrName>style.opacity</p:attrName>
                                              </p:attrNameLst>
                                            </p:cBhvr>
                                            <p:tavLst>
                                              <p:tav tm="0">
                                                <p:val>
                                                  <p:fltVal val="0"/>
                                                </p:val>
                                              </p:tav>
                                              <p:tav tm="100000">
                                                <p:val>
                                                  <p:fltVal val="1"/>
                                                </p:val>
                                              </p:tav>
                                            </p:tavLst>
                                          </p:anim>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50"/>
                                              </p:tgtEl>
                                              <p:attrNameLst>
                                                <p:attrName>style.visibility</p:attrName>
                                              </p:attrNameLst>
                                            </p:cBhvr>
                                            <p:to>
                                              <p:strVal val="visible"/>
                                            </p:to>
                                          </p:set>
                                          <p:anim calcmode="lin" valueType="num">
                                            <p:cBhvr additive="base">
                                              <p:cTn id="33" dur="500" fill="hold"/>
                                              <p:tgtEl>
                                                <p:spTgt spid="150"/>
                                              </p:tgtEl>
                                              <p:attrNameLst>
                                                <p:attrName>style.opacity</p:attrName>
                                              </p:attrNameLst>
                                            </p:cBhvr>
                                            <p:tavLst>
                                              <p:tav tm="0">
                                                <p:val>
                                                  <p:fltVal val="0"/>
                                                </p:val>
                                              </p:tav>
                                              <p:tav tm="100000">
                                                <p:val>
                                                  <p:fltVal val="1"/>
                                                </p:val>
                                              </p:tav>
                                            </p:tavLst>
                                          </p:anim>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22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10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Art. 32 (1) RI</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Resultados y Flujo de Efectivo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Por los períodos terminados al 31 de diciembre de 2025 y 2024 · M$</a:t>
            </a:r>
          </a:p>
        </p:txBody>
      </p:sp>
      <p:sp>
        <p:nvSpPr>
          <p:cNvPr id="20" name="ResT"/>
          <p:cNvSpPr/>
          <p:nvPr/>
        </p:nvSpPr>
        <p:spPr>
          <a:xfrm>
            <a:off x="4572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ESTADO DE RESULTADOS</a:t>
            </a:r>
          </a:p>
        </p:txBody>
      </p:sp>
      <p:sp>
        <p:nvSpPr>
          <p:cNvPr id="21" name="ResBox"/>
          <p:cNvSpPr/>
          <p:nvPr/>
        </p:nvSpPr>
        <p:spPr>
          <a:xfrm>
            <a:off x="4572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Ingresos			2025		2024</a:t>
            </a:r>
          </a:p>
          <a:p>
            <a:pPr marL="0" indent="0">
              <a:lnSpc>
                <a:spcPts val="2100"/>
              </a:lnSpc>
              <a:buNone/>
            </a:pPr>
            <a:r>
              <a:rPr lang="en-US" sz="1050" dirty="0">
                <a:solidFill>
                  <a:srgbClr val="424245"/>
                </a:solidFill>
                <a:latin typeface="Helvetica"/>
              </a:rPr>
              <a:t>Intereses y reajustes		1.022		201</a:t>
            </a:r>
          </a:p>
          <a:p>
            <a:pPr marL="0" indent="0">
              <a:lnSpc>
                <a:spcPts val="2100"/>
              </a:lnSpc>
              <a:buNone/>
            </a:pPr>
            <a:r>
              <a:rPr lang="en-US" sz="1050" dirty="0">
                <a:solidFill>
                  <a:srgbClr val="424245"/>
                </a:solidFill>
                <a:latin typeface="Helvetica"/>
              </a:rPr>
              <a:t>Resultado inv. método particip.	(574.130)	(142.939)</a:t>
            </a:r>
          </a:p>
          <a:p>
            <a:pPr marL="0" indent="0">
              <a:lnSpc>
                <a:spcPts val="2300"/>
              </a:lnSpc>
              <a:buNone/>
            </a:pPr>
            <a:r>
              <a:rPr lang="en-US" sz="1100" b="1" dirty="0">
                <a:solidFill>
                  <a:srgbClr val="1D1D1F"/>
                </a:solidFill>
                <a:latin typeface="Helvetica"/>
              </a:rPr>
              <a:t>Total ingresos netos		(573.108)	(142.738)</a:t>
            </a:r>
          </a:p>
          <a:p>
            <a:pPr marL="0" indent="0">
              <a:lnSpc>
                <a:spcPts val="2300"/>
              </a:lnSpc>
              <a:buNone/>
            </a:pPr>
            <a:r>
              <a:rPr lang="en-US" sz="1100" b="1" dirty="0">
                <a:solidFill>
                  <a:srgbClr val="1D1D1F"/>
                </a:solidFill>
                <a:latin typeface="Helvetica"/>
              </a:rPr>
              <a:t>Gastos</a:t>
            </a:r>
          </a:p>
          <a:p>
            <a:pPr marL="0" indent="0">
              <a:lnSpc>
                <a:spcPts val="2100"/>
              </a:lnSpc>
              <a:buNone/>
            </a:pPr>
            <a:r>
              <a:rPr lang="en-US" sz="1050" dirty="0">
                <a:solidFill>
                  <a:srgbClr val="424245"/>
                </a:solidFill>
                <a:latin typeface="Helvetica"/>
              </a:rPr>
              <a:t>Comisión administración		(516.309)	(163.643)</a:t>
            </a:r>
          </a:p>
          <a:p>
            <a:pPr marL="0" indent="0">
              <a:lnSpc>
                <a:spcPts val="2100"/>
              </a:lnSpc>
              <a:buNone/>
            </a:pPr>
            <a:r>
              <a:rPr lang="en-US" sz="1050" dirty="0">
                <a:solidFill>
                  <a:srgbClr val="424245"/>
                </a:solidFill>
                <a:latin typeface="Helvetica"/>
              </a:rPr>
              <a:t>Impuesto no recuperable		(129.191)	—</a:t>
            </a:r>
          </a:p>
          <a:p>
            <a:pPr marL="0" indent="0">
              <a:lnSpc>
                <a:spcPts val="2100"/>
              </a:lnSpc>
              <a:buNone/>
            </a:pPr>
            <a:r>
              <a:rPr lang="en-US" sz="1050" dirty="0">
                <a:solidFill>
                  <a:srgbClr val="424245"/>
                </a:solidFill>
                <a:latin typeface="Helvetica"/>
              </a:rPr>
              <a:t>Gastos habituales AFIS		(20.107)	—</a:t>
            </a:r>
          </a:p>
          <a:p>
            <a:pPr marL="0" indent="0">
              <a:lnSpc>
                <a:spcPts val="2300"/>
              </a:lnSpc>
              <a:buNone/>
            </a:pPr>
            <a:r>
              <a:rPr lang="en-US" sz="1100" b="1" dirty="0">
                <a:solidFill>
                  <a:srgbClr val="1D1D1F"/>
                </a:solidFill>
                <a:latin typeface="Helvetica"/>
              </a:rPr>
              <a:t>Total gastos			(665.607)	(163.643)</a:t>
            </a:r>
          </a:p>
          <a:p>
            <a:pPr marL="0" indent="0">
              <a:lnSpc>
                <a:spcPts val="2300"/>
              </a:lnSpc>
              <a:buNone/>
            </a:pPr>
            <a:r>
              <a:rPr lang="en-US" sz="1100" b="1" dirty="0">
                <a:solidFill>
                  <a:srgbClr val="1D1D1F"/>
                </a:solidFill>
                <a:latin typeface="Helvetica"/>
              </a:rPr>
              <a:t>Pérdida de operación		(1.238.715)	(306.381)</a:t>
            </a:r>
          </a:p>
          <a:p>
            <a:pPr marL="0" indent="0">
              <a:lnSpc>
                <a:spcPts val="2100"/>
              </a:lnSpc>
              <a:buNone/>
            </a:pPr>
            <a:r>
              <a:rPr lang="en-US" sz="1050" dirty="0">
                <a:solidFill>
                  <a:srgbClr val="424245"/>
                </a:solidFill>
                <a:latin typeface="Helvetica"/>
              </a:rPr>
              <a:t>Costos financieros (CORFO)	(68.941)		(12.024)</a:t>
            </a:r>
          </a:p>
          <a:p>
            <a:pPr marL="0" indent="0">
              <a:lnSpc>
                <a:spcPts val="2500"/>
              </a:lnSpc>
              <a:buNone/>
            </a:pPr>
            <a:r>
              <a:rPr lang="en-US" sz="1200" b="1" dirty="0">
                <a:solidFill>
                  <a:srgbClr val="6B2DA8"/>
                </a:solidFill>
                <a:latin typeface="Helvetica"/>
              </a:rPr>
              <a:t>RESULTADO EJERCICIO	(1.307.656)	(318.405)</a:t>
            </a:r>
          </a:p>
        </p:txBody>
      </p:sp>
      <p:sp>
        <p:nvSpPr>
          <p:cNvPr id="22" name="FluT"/>
          <p:cNvSpPr/>
          <p:nvPr/>
        </p:nvSpPr>
        <p:spPr>
          <a:xfrm>
            <a:off x="63360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FLUJO DE EFECTIVO</a:t>
            </a:r>
          </a:p>
        </p:txBody>
      </p:sp>
      <p:sp>
        <p:nvSpPr>
          <p:cNvPr id="23" name="FluBox"/>
          <p:cNvSpPr/>
          <p:nvPr/>
        </p:nvSpPr>
        <p:spPr>
          <a:xfrm>
            <a:off x="63360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Actividades de operación	2025		2024</a:t>
            </a:r>
          </a:p>
          <a:p>
            <a:pPr marL="0" indent="0">
              <a:lnSpc>
                <a:spcPts val="2100"/>
              </a:lnSpc>
              <a:buNone/>
            </a:pPr>
            <a:r>
              <a:rPr lang="en-US" sz="1050" dirty="0">
                <a:solidFill>
                  <a:srgbClr val="424245"/>
                </a:solidFill>
                <a:latin typeface="Helvetica"/>
              </a:rPr>
              <a:t>Pagos a proveedores		(398.464)	(194.735)</a:t>
            </a:r>
          </a:p>
          <a:p>
            <a:pPr marL="0" indent="0">
              <a:lnSpc>
                <a:spcPts val="2300"/>
              </a:lnSpc>
              <a:buNone/>
            </a:pPr>
            <a:r>
              <a:rPr lang="en-US" sz="1100" b="1" dirty="0">
                <a:solidFill>
                  <a:srgbClr val="1D1D1F"/>
                </a:solidFill>
                <a:latin typeface="Helvetica"/>
              </a:rPr>
              <a:t>Actividades de inversión</a:t>
            </a:r>
          </a:p>
          <a:p>
            <a:pPr marL="0" indent="0">
              <a:lnSpc>
                <a:spcPts val="2100"/>
              </a:lnSpc>
              <a:buNone/>
            </a:pPr>
            <a:r>
              <a:rPr lang="en-US" sz="1050" dirty="0">
                <a:solidFill>
                  <a:srgbClr val="424245"/>
                </a:solidFill>
                <a:latin typeface="Helvetica"/>
              </a:rPr>
              <a:t>Aportes a subsidiarias		(1.763.053)	(426.943)</a:t>
            </a:r>
          </a:p>
          <a:p>
            <a:pPr marL="0" indent="0">
              <a:lnSpc>
                <a:spcPts val="2100"/>
              </a:lnSpc>
              <a:buNone/>
            </a:pPr>
            <a:r>
              <a:rPr lang="en-US" sz="1050" dirty="0">
                <a:solidFill>
                  <a:srgbClr val="424245"/>
                </a:solidFill>
                <a:latin typeface="Helvetica"/>
              </a:rPr>
              <a:t>Otros activos financieros		1.022		201</a:t>
            </a:r>
          </a:p>
          <a:p>
            <a:pPr marL="0" indent="0">
              <a:lnSpc>
                <a:spcPts val="2300"/>
              </a:lnSpc>
              <a:buNone/>
            </a:pPr>
            <a:r>
              <a:rPr lang="en-US" sz="1100" b="1" dirty="0">
                <a:solidFill>
                  <a:srgbClr val="1D1D1F"/>
                </a:solidFill>
                <a:latin typeface="Helvetica"/>
              </a:rPr>
              <a:t>Total inversión			(1.762.031)	(426.742)</a:t>
            </a:r>
          </a:p>
          <a:p>
            <a:pPr marL="0" indent="0">
              <a:lnSpc>
                <a:spcPts val="2300"/>
              </a:lnSpc>
              <a:buNone/>
            </a:pPr>
            <a:r>
              <a:rPr lang="en-US" sz="1100" b="1" dirty="0">
                <a:solidFill>
                  <a:srgbClr val="1D1D1F"/>
                </a:solidFill>
                <a:latin typeface="Helvetica"/>
              </a:rPr>
              <a:t>Actividades de financiación</a:t>
            </a:r>
          </a:p>
          <a:p>
            <a:pPr marL="0" indent="0">
              <a:lnSpc>
                <a:spcPts val="2100"/>
              </a:lnSpc>
              <a:buNone/>
            </a:pPr>
            <a:r>
              <a:rPr lang="en-US" sz="1050" dirty="0">
                <a:solidFill>
                  <a:srgbClr val="424245"/>
                </a:solidFill>
                <a:latin typeface="Helvetica"/>
              </a:rPr>
              <a:t>Préstamos a rel. (neto)		(241.886)	(130.000)</a:t>
            </a:r>
          </a:p>
          <a:p>
            <a:pPr marL="0" indent="0">
              <a:lnSpc>
                <a:spcPts val="2100"/>
              </a:lnSpc>
              <a:buNone/>
            </a:pPr>
            <a:r>
              <a:rPr lang="en-US" sz="1050" dirty="0">
                <a:solidFill>
                  <a:srgbClr val="424245"/>
                </a:solidFill>
                <a:latin typeface="Helvetica"/>
              </a:rPr>
              <a:t>Emisión de cuotas (aportes)	553.017		506.526</a:t>
            </a:r>
          </a:p>
          <a:p>
            <a:pPr marL="0" indent="0">
              <a:lnSpc>
                <a:spcPts val="2100"/>
              </a:lnSpc>
              <a:buNone/>
            </a:pPr>
            <a:r>
              <a:rPr lang="en-US" sz="1050" dirty="0">
                <a:solidFill>
                  <a:srgbClr val="424245"/>
                </a:solidFill>
                <a:latin typeface="Helvetica"/>
              </a:rPr>
              <a:t>Línea de crédito CORFO		1.723.627	426.252</a:t>
            </a:r>
          </a:p>
          <a:p>
            <a:pPr marL="0" indent="0">
              <a:lnSpc>
                <a:spcPts val="2300"/>
              </a:lnSpc>
              <a:buNone/>
            </a:pPr>
            <a:r>
              <a:rPr lang="en-US" sz="1100" b="1" dirty="0">
                <a:solidFill>
                  <a:srgbClr val="1D1D1F"/>
                </a:solidFill>
                <a:latin typeface="Helvetica"/>
              </a:rPr>
              <a:t>Total financiación			2.034.758	802.778</a:t>
            </a:r>
          </a:p>
          <a:p>
            <a:pPr marL="0" indent="0">
              <a:lnSpc>
                <a:spcPts val="2500"/>
              </a:lnSpc>
              <a:buNone/>
            </a:pPr>
            <a:r>
              <a:rPr lang="en-US" sz="1200" b="1" dirty="0">
                <a:solidFill>
                  <a:srgbClr val="6B2DA8"/>
                </a:solidFill>
                <a:latin typeface="Helvetica"/>
              </a:rPr>
              <a:t>VARIACIÓN NETA EFECTIVO	(125.737)	181.301</a:t>
            </a:r>
          </a:p>
          <a:p>
            <a:pPr marL="0" indent="0">
              <a:lnSpc>
                <a:spcPts val="2100"/>
              </a:lnSpc>
              <a:buNone/>
            </a:pPr>
            <a:r>
              <a:rPr lang="en-US" sz="1050" dirty="0">
                <a:solidFill>
                  <a:srgbClr val="86868B"/>
                </a:solidFill>
                <a:latin typeface="Helvetica"/>
              </a:rPr>
              <a:t>Efectivo final del período		55.564		181.301</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22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11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 8 + Patrimonio</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Cartera y Patrimonio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Inversiones método de la participación y composición de aportes · M$</a:t>
            </a:r>
          </a:p>
        </p:txBody>
      </p:sp>
      <p:sp>
        <p:nvSpPr>
          <p:cNvPr id="20" name="PortT"/>
          <p:cNvSpPr/>
          <p:nvPr/>
        </p:nvSpPr>
        <p:spPr>
          <a:xfrm>
            <a:off x="457200" y="2103120"/>
            <a:ext cx="731520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INVERSIONES POR MÉTODO DE LA PARTICIPACIÓN · NOTA 8</a:t>
            </a:r>
          </a:p>
        </p:txBody>
      </p:sp>
      <p:sp>
        <p:nvSpPr>
          <p:cNvPr id="30" name="PC0Bg"/>
          <p:cNvSpPr/>
          <p:nvPr/>
        </p:nvSpPr>
        <p:spPr>
          <a:xfrm>
            <a:off x="45720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31" name="PC0Name"/>
          <p:cNvSpPr/>
          <p:nvPr/>
        </p:nvSpPr>
        <p:spPr>
          <a:xfrm>
            <a:off x="59436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Climate Smart Leasing</a:t>
            </a:r>
          </a:p>
        </p:txBody>
      </p:sp>
      <p:sp>
        <p:nvSpPr>
          <p:cNvPr id="32" name="PC0Pct"/>
          <p:cNvSpPr/>
          <p:nvPr/>
        </p:nvSpPr>
        <p:spPr>
          <a:xfrm>
            <a:off x="59436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33" name="PC0Val"/>
          <p:cNvSpPr/>
          <p:nvPr/>
        </p:nvSpPr>
        <p:spPr>
          <a:xfrm>
            <a:off x="59436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550.042</a:t>
            </a:r>
          </a:p>
          <a:p>
            <a:pPr marL="0" indent="0">
              <a:buNone/>
            </a:pPr>
            <a:r>
              <a:rPr lang="en-US" sz="800" dirty="0">
                <a:solidFill>
                  <a:srgbClr val="86868B"/>
                </a:solidFill>
                <a:latin typeface="Helvetica"/>
              </a:rPr>
              <a:t>Valor libro M$</a:t>
            </a:r>
          </a:p>
        </p:txBody>
      </p:sp>
      <p:sp>
        <p:nvSpPr>
          <p:cNvPr id="34" name="PC0Eff"/>
          <p:cNvSpPr/>
          <p:nvPr/>
        </p:nvSpPr>
        <p:spPr>
          <a:xfrm>
            <a:off x="59436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(134.928)</a:t>
            </a:r>
          </a:p>
        </p:txBody>
      </p:sp>
      <p:sp>
        <p:nvSpPr>
          <p:cNvPr id="40" name="PC1Bg"/>
          <p:cNvSpPr/>
          <p:nvPr/>
        </p:nvSpPr>
        <p:spPr>
          <a:xfrm>
            <a:off x="288852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41" name="PC1Name"/>
          <p:cNvSpPr/>
          <p:nvPr/>
        </p:nvSpPr>
        <p:spPr>
          <a:xfrm>
            <a:off x="302568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Rho Generación</a:t>
            </a:r>
          </a:p>
        </p:txBody>
      </p:sp>
      <p:sp>
        <p:nvSpPr>
          <p:cNvPr id="42" name="PC1Pct"/>
          <p:cNvSpPr/>
          <p:nvPr/>
        </p:nvSpPr>
        <p:spPr>
          <a:xfrm>
            <a:off x="302568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43" name="PC1Val"/>
          <p:cNvSpPr/>
          <p:nvPr/>
        </p:nvSpPr>
        <p:spPr>
          <a:xfrm>
            <a:off x="302568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542.169</a:t>
            </a:r>
          </a:p>
          <a:p>
            <a:pPr marL="0" indent="0">
              <a:buNone/>
            </a:pPr>
            <a:r>
              <a:rPr lang="en-US" sz="800" dirty="0">
                <a:solidFill>
                  <a:srgbClr val="86868B"/>
                </a:solidFill>
                <a:latin typeface="Helvetica"/>
              </a:rPr>
              <a:t>Valor libro M$</a:t>
            </a:r>
          </a:p>
        </p:txBody>
      </p:sp>
      <p:sp>
        <p:nvSpPr>
          <p:cNvPr id="44" name="PC1Eff"/>
          <p:cNvSpPr/>
          <p:nvPr/>
        </p:nvSpPr>
        <p:spPr>
          <a:xfrm>
            <a:off x="302568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(257.203)</a:t>
            </a:r>
          </a:p>
        </p:txBody>
      </p:sp>
      <p:sp>
        <p:nvSpPr>
          <p:cNvPr id="50" name="PC2Bg"/>
          <p:cNvSpPr/>
          <p:nvPr/>
        </p:nvSpPr>
        <p:spPr>
          <a:xfrm>
            <a:off x="531984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51" name="PC2Name"/>
          <p:cNvSpPr/>
          <p:nvPr/>
        </p:nvSpPr>
        <p:spPr>
          <a:xfrm>
            <a:off x="545700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DTE Consulting &amp; Dev.</a:t>
            </a:r>
          </a:p>
        </p:txBody>
      </p:sp>
      <p:sp>
        <p:nvSpPr>
          <p:cNvPr id="52" name="PC2Pct"/>
          <p:cNvSpPr/>
          <p:nvPr/>
        </p:nvSpPr>
        <p:spPr>
          <a:xfrm>
            <a:off x="545700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53" name="PC2Val"/>
          <p:cNvSpPr/>
          <p:nvPr/>
        </p:nvSpPr>
        <p:spPr>
          <a:xfrm>
            <a:off x="545700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167.169</a:t>
            </a:r>
          </a:p>
          <a:p>
            <a:pPr marL="0" indent="0">
              <a:buNone/>
            </a:pPr>
            <a:r>
              <a:rPr lang="en-US" sz="800" dirty="0">
                <a:solidFill>
                  <a:srgbClr val="86868B"/>
                </a:solidFill>
                <a:latin typeface="Helvetica"/>
              </a:rPr>
              <a:t>Valor libro M$</a:t>
            </a:r>
          </a:p>
        </p:txBody>
      </p:sp>
      <p:sp>
        <p:nvSpPr>
          <p:cNvPr id="54" name="PC2Eff"/>
          <p:cNvSpPr/>
          <p:nvPr/>
        </p:nvSpPr>
        <p:spPr>
          <a:xfrm>
            <a:off x="545700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(127.643)</a:t>
            </a:r>
          </a:p>
        </p:txBody>
      </p:sp>
      <p:sp>
        <p:nvSpPr>
          <p:cNvPr id="60" name="PC3Bg"/>
          <p:cNvSpPr/>
          <p:nvPr/>
        </p:nvSpPr>
        <p:spPr>
          <a:xfrm>
            <a:off x="45720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61" name="PC3Name"/>
          <p:cNvSpPr/>
          <p:nvPr/>
        </p:nvSpPr>
        <p:spPr>
          <a:xfrm>
            <a:off x="59436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Ingeniería e Innovación</a:t>
            </a:r>
          </a:p>
        </p:txBody>
      </p:sp>
      <p:sp>
        <p:nvSpPr>
          <p:cNvPr id="62" name="PC3Pct"/>
          <p:cNvSpPr/>
          <p:nvPr/>
        </p:nvSpPr>
        <p:spPr>
          <a:xfrm>
            <a:off x="59436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63" name="PC3Val"/>
          <p:cNvSpPr/>
          <p:nvPr/>
        </p:nvSpPr>
        <p:spPr>
          <a:xfrm>
            <a:off x="59436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138.490</a:t>
            </a:r>
          </a:p>
          <a:p>
            <a:pPr marL="0" indent="0">
              <a:buNone/>
            </a:pPr>
            <a:r>
              <a:rPr lang="en-US" sz="800" dirty="0">
                <a:solidFill>
                  <a:srgbClr val="86868B"/>
                </a:solidFill>
                <a:latin typeface="Helvetica"/>
              </a:rPr>
              <a:t>Valor libro M$</a:t>
            </a:r>
          </a:p>
        </p:txBody>
      </p:sp>
      <p:sp>
        <p:nvSpPr>
          <p:cNvPr id="64" name="PC3Eff"/>
          <p:cNvSpPr/>
          <p:nvPr/>
        </p:nvSpPr>
        <p:spPr>
          <a:xfrm>
            <a:off x="59436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(11.572)</a:t>
            </a:r>
          </a:p>
        </p:txBody>
      </p:sp>
      <p:sp>
        <p:nvSpPr>
          <p:cNvPr id="70" name="PC4Bg"/>
          <p:cNvSpPr/>
          <p:nvPr/>
        </p:nvSpPr>
        <p:spPr>
          <a:xfrm>
            <a:off x="288852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71" name="PC4Name"/>
          <p:cNvSpPr/>
          <p:nvPr/>
        </p:nvSpPr>
        <p:spPr>
          <a:xfrm>
            <a:off x="302568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Agrotecn. e Ing. (Trongkai)</a:t>
            </a:r>
          </a:p>
        </p:txBody>
      </p:sp>
      <p:sp>
        <p:nvSpPr>
          <p:cNvPr id="72" name="PC4Pct"/>
          <p:cNvSpPr/>
          <p:nvPr/>
        </p:nvSpPr>
        <p:spPr>
          <a:xfrm>
            <a:off x="302568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73" name="PC4Val"/>
          <p:cNvSpPr/>
          <p:nvPr/>
        </p:nvSpPr>
        <p:spPr>
          <a:xfrm>
            <a:off x="302568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31.927</a:t>
            </a:r>
          </a:p>
          <a:p>
            <a:pPr marL="0" indent="0">
              <a:buNone/>
            </a:pPr>
            <a:r>
              <a:rPr lang="en-US" sz="800" dirty="0">
                <a:solidFill>
                  <a:srgbClr val="86868B"/>
                </a:solidFill>
                <a:latin typeface="Helvetica"/>
              </a:rPr>
              <a:t>Valor libro M$</a:t>
            </a:r>
          </a:p>
        </p:txBody>
      </p:sp>
      <p:sp>
        <p:nvSpPr>
          <p:cNvPr id="74" name="PC4Eff"/>
          <p:cNvSpPr/>
          <p:nvPr/>
        </p:nvSpPr>
        <p:spPr>
          <a:xfrm>
            <a:off x="302568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(18.078)</a:t>
            </a:r>
          </a:p>
        </p:txBody>
      </p:sp>
      <p:sp>
        <p:nvSpPr>
          <p:cNvPr id="80" name="PC5Bg"/>
          <p:cNvSpPr/>
          <p:nvPr/>
        </p:nvSpPr>
        <p:spPr>
          <a:xfrm>
            <a:off x="5319840" y="4084120"/>
            <a:ext cx="2400840" cy="1600000"/>
          </a:xfrm>
          <a:prstGeom prst="roundRect">
            <a:avLst>
              <a:gd name="adj" fmla="val 6000"/>
            </a:avLst>
          </a:prstGeom>
          <a:solidFill>
            <a:srgbClr val="EAF3FB"/>
          </a:solidFill>
          <a:ln>
            <a:noFill/>
          </a:ln>
        </p:spPr>
        <p:txBody>
          <a:bodyPr wrap="square" rtlCol="0" anchor="ctr"/>
          <a:lstStyle/>
          <a:p>
            <a:pPr>
              <a:buNone/>
            </a:pPr>
            <a:endParaRPr lang="en-US"/>
          </a:p>
        </p:txBody>
      </p:sp>
      <p:sp>
        <p:nvSpPr>
          <p:cNvPr id="81" name="PC5Name"/>
          <p:cNvSpPr/>
          <p:nvPr/>
        </p:nvSpPr>
        <p:spPr>
          <a:xfrm>
            <a:off x="545700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Evoque Energy</a:t>
            </a:r>
          </a:p>
        </p:txBody>
      </p:sp>
      <p:sp>
        <p:nvSpPr>
          <p:cNvPr id="82" name="PC5Pct"/>
          <p:cNvSpPr/>
          <p:nvPr/>
        </p:nvSpPr>
        <p:spPr>
          <a:xfrm>
            <a:off x="545700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80%</a:t>
            </a:r>
          </a:p>
        </p:txBody>
      </p:sp>
      <p:sp>
        <p:nvSpPr>
          <p:cNvPr id="83" name="PC5Val"/>
          <p:cNvSpPr/>
          <p:nvPr/>
        </p:nvSpPr>
        <p:spPr>
          <a:xfrm>
            <a:off x="5457000" y="4769920"/>
            <a:ext cx="2126520" cy="450000"/>
          </a:xfrm>
          <a:prstGeom prst="rect">
            <a:avLst/>
          </a:prstGeom>
          <a:noFill/>
          <a:ln/>
        </p:spPr>
        <p:txBody>
          <a:bodyPr wrap="square" rtlCol="0" anchor="t"/>
          <a:lstStyle/>
          <a:p>
            <a:pPr marL="0" indent="0">
              <a:buNone/>
            </a:pPr>
            <a:r>
              <a:rPr lang="en-US" sz="2200" b="1" dirty="0">
                <a:solidFill>
                  <a:srgbClr val="2563A8"/>
                </a:solidFill>
                <a:latin typeface="Helvetica"/>
              </a:rPr>
              <a:t>22.423</a:t>
            </a:r>
          </a:p>
          <a:p>
            <a:pPr marL="0" indent="0">
              <a:buNone/>
            </a:pPr>
            <a:r>
              <a:rPr lang="en-US" sz="800" dirty="0">
                <a:solidFill>
                  <a:srgbClr val="86868B"/>
                </a:solidFill>
                <a:latin typeface="Helvetica"/>
              </a:rPr>
              <a:t>Valor libro M$</a:t>
            </a:r>
          </a:p>
        </p:txBody>
      </p:sp>
      <p:sp>
        <p:nvSpPr>
          <p:cNvPr id="84" name="PC5Eff"/>
          <p:cNvSpPr/>
          <p:nvPr/>
        </p:nvSpPr>
        <p:spPr>
          <a:xfrm>
            <a:off x="545700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(24.706)</a:t>
            </a:r>
          </a:p>
        </p:txBody>
      </p:sp>
      <p:sp>
        <p:nvSpPr>
          <p:cNvPr id="200" name="PatT"/>
          <p:cNvSpPr/>
          <p:nvPr/>
        </p:nvSpPr>
        <p:spPr>
          <a:xfrm>
            <a:off x="8138160" y="2103120"/>
            <a:ext cx="359359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PATRIMONIO · APORTANTES</a:t>
            </a:r>
          </a:p>
        </p:txBody>
      </p:sp>
      <p:sp>
        <p:nvSpPr>
          <p:cNvPr id="201" name="PatBox"/>
          <p:cNvSpPr/>
          <p:nvPr/>
        </p:nvSpPr>
        <p:spPr>
          <a:xfrm>
            <a:off x="8138160" y="2423160"/>
            <a:ext cx="3593592" cy="3886200"/>
          </a:xfrm>
          <a:prstGeom prst="rect">
            <a:avLst/>
          </a:prstGeom>
          <a:noFill/>
          <a:ln/>
        </p:spPr>
        <p:txBody>
          <a:bodyPr wrap="square" rtlCol="0" anchor="t"/>
          <a:lstStyle/>
          <a:p>
            <a:pPr marL="0" indent="0">
              <a:lnSpc>
                <a:spcPts val="2200"/>
              </a:lnSpc>
              <a:buNone/>
            </a:pPr>
            <a:r>
              <a:rPr lang="en-US" sz="1000" b="1" dirty="0">
                <a:solidFill>
                  <a:srgbClr val="86868B"/>
                </a:solidFill>
                <a:latin typeface="Helvetica"/>
              </a:rPr>
              <a:t>Aportes pagados M$ · 31-12-25</a:t>
            </a:r>
          </a:p>
          <a:p>
            <a:pPr marL="0" indent="0">
              <a:lnSpc>
                <a:spcPts val="2200"/>
              </a:lnSpc>
              <a:buNone/>
            </a:pPr>
            <a:r>
              <a:rPr lang="en-US" sz="1050" b="1" dirty="0">
                <a:solidFill>
                  <a:srgbClr val="1D1D1F"/>
                </a:solidFill>
                <a:latin typeface="Helvetica"/>
              </a:rPr>
              <a:t>AFIS S.A. (Serie B)</a:t>
            </a:r>
          </a:p>
          <a:p>
            <a:pPr marL="0" indent="0">
              <a:lnSpc>
                <a:spcPts val="2200"/>
              </a:lnSpc>
              <a:buNone/>
            </a:pPr>
            <a:r>
              <a:rPr lang="en-US" sz="1050" dirty="0">
                <a:solidFill>
                  <a:srgbClr val="424245"/>
                </a:solidFill>
                <a:latin typeface="Helvetica"/>
              </a:rPr>
              <a:t>357.328</a:t>
            </a:r>
          </a:p>
          <a:p>
            <a:pPr marL="0" indent="0">
              <a:lnSpc>
                <a:spcPts val="2200"/>
              </a:lnSpc>
              <a:buNone/>
            </a:pPr>
            <a:r>
              <a:rPr lang="en-US" sz="1050" b="1" dirty="0">
                <a:solidFill>
                  <a:srgbClr val="1D1D1F"/>
                </a:solidFill>
                <a:latin typeface="Helvetica"/>
              </a:rPr>
              <a:t>Araucaria Renta Car (A)</a:t>
            </a:r>
          </a:p>
          <a:p>
            <a:pPr marL="0" indent="0">
              <a:lnSpc>
                <a:spcPts val="2200"/>
              </a:lnSpc>
              <a:buNone/>
            </a:pPr>
            <a:r>
              <a:rPr lang="en-US" sz="1050" dirty="0">
                <a:solidFill>
                  <a:srgbClr val="424245"/>
                </a:solidFill>
                <a:latin typeface="Helvetica"/>
              </a:rPr>
              <a:t>280.643</a:t>
            </a:r>
          </a:p>
          <a:p>
            <a:pPr marL="0" indent="0">
              <a:lnSpc>
                <a:spcPts val="2200"/>
              </a:lnSpc>
              <a:buNone/>
            </a:pPr>
            <a:r>
              <a:rPr lang="en-US" sz="1050" b="1" dirty="0">
                <a:solidFill>
                  <a:srgbClr val="1D1D1F"/>
                </a:solidFill>
                <a:latin typeface="Helvetica"/>
              </a:rPr>
              <a:t>Inv. Ecoinnova (A)</a:t>
            </a:r>
          </a:p>
          <a:p>
            <a:pPr marL="0" indent="0">
              <a:lnSpc>
                <a:spcPts val="2200"/>
              </a:lnSpc>
              <a:buNone/>
            </a:pPr>
            <a:r>
              <a:rPr lang="en-US" sz="1050" dirty="0">
                <a:solidFill>
                  <a:srgbClr val="424245"/>
                </a:solidFill>
                <a:latin typeface="Helvetica"/>
              </a:rPr>
              <a:t>204.452</a:t>
            </a:r>
          </a:p>
          <a:p>
            <a:pPr marL="0" indent="0">
              <a:lnSpc>
                <a:spcPts val="2200"/>
              </a:lnSpc>
              <a:buNone/>
            </a:pPr>
            <a:r>
              <a:rPr lang="en-US" sz="1050" b="1" dirty="0">
                <a:solidFill>
                  <a:srgbClr val="1D1D1F"/>
                </a:solidFill>
                <a:latin typeface="Helvetica"/>
              </a:rPr>
              <a:t>Ing. Orbicorp (A)</a:t>
            </a:r>
          </a:p>
          <a:p>
            <a:pPr marL="0" indent="0">
              <a:lnSpc>
                <a:spcPts val="2200"/>
              </a:lnSpc>
              <a:buNone/>
            </a:pPr>
            <a:r>
              <a:rPr lang="en-US" sz="1050" dirty="0">
                <a:solidFill>
                  <a:srgbClr val="424245"/>
                </a:solidFill>
                <a:latin typeface="Helvetica"/>
              </a:rPr>
              <a:t>217.121</a:t>
            </a:r>
          </a:p>
          <a:p>
            <a:pPr marL="0" indent="0">
              <a:lnSpc>
                <a:spcPts val="2600"/>
              </a:lnSpc>
              <a:buNone/>
            </a:pPr>
            <a:r>
              <a:rPr lang="en-US" sz="1150" b="1" dirty="0">
                <a:solidFill>
                  <a:srgbClr val="6B2DA8"/>
                </a:solidFill>
                <a:latin typeface="Helvetica"/>
              </a:rPr>
              <a:t>TOTAL APORTES</a:t>
            </a:r>
          </a:p>
          <a:p>
            <a:pPr marL="0" indent="0">
              <a:lnSpc>
                <a:spcPts val="2200"/>
              </a:lnSpc>
              <a:buNone/>
            </a:pPr>
            <a:r>
              <a:rPr lang="en-US" sz="1200" b="1" dirty="0">
                <a:solidFill>
                  <a:srgbClr val="6B2DA8"/>
                </a:solidFill>
                <a:latin typeface="Helvetica"/>
              </a:rPr>
              <a:t>1.059.544</a:t>
            </a:r>
          </a:p>
          <a:p>
            <a:pPr marL="0" indent="0">
              <a:lnSpc>
                <a:spcPts val="2200"/>
              </a:lnSpc>
              <a:buNone/>
            </a:pPr>
            <a:r>
              <a:rPr lang="en-US" sz="900" i="1" dirty="0">
                <a:solidFill>
                  <a:srgbClr val="86868B"/>
                </a:solidFill>
                <a:latin typeface="Georgia"/>
              </a:rPr>
              <a:t>(+ 553.018 vs 2024)</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22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12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Notas + Dictamen</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Notas relevantes y Dictamen</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Políticas contables, línea CORFO y opinión del auditor externo</a:t>
            </a:r>
          </a:p>
        </p:txBody>
      </p:sp>
      <p:sp>
        <p:nvSpPr>
          <p:cNvPr id="20" name="OpCard"/>
          <p:cNvSpPr/>
          <p:nvPr/>
        </p:nvSpPr>
        <p:spPr>
          <a:xfrm>
            <a:off x="457200" y="2103120"/>
            <a:ext cx="7315200" cy="2103120"/>
          </a:xfrm>
          <a:prstGeom prst="roundRect">
            <a:avLst>
              <a:gd name="adj" fmla="val 5000"/>
            </a:avLst>
          </a:prstGeom>
          <a:solidFill>
            <a:srgbClr val="F2EAFB"/>
          </a:solidFill>
          <a:ln>
            <a:noFill/>
          </a:ln>
        </p:spPr>
        <p:txBody>
          <a:bodyPr wrap="square" rtlCol="0" anchor="ctr"/>
          <a:lstStyle/>
          <a:p>
            <a:pPr>
              <a:buNone/>
            </a:pPr>
            <a:endParaRPr lang="en-US"/>
          </a:p>
        </p:txBody>
      </p:sp>
      <p:sp>
        <p:nvSpPr>
          <p:cNvPr id="21" name="OpLbl"/>
          <p:cNvSpPr/>
          <p:nvPr/>
        </p:nvSpPr>
        <p:spPr>
          <a:xfrm>
            <a:off x="685800" y="2240280"/>
            <a:ext cx="6858000" cy="274320"/>
          </a:xfrm>
          <a:prstGeom prst="rect">
            <a:avLst/>
          </a:prstGeom>
          <a:noFill/>
          <a:ln/>
        </p:spPr>
        <p:txBody>
          <a:bodyPr wrap="square" rtlCol="0" anchor="t"/>
          <a:lstStyle/>
          <a:p>
            <a:pPr marL="0" indent="0">
              <a:buNone/>
            </a:pPr>
            <a:r>
              <a:rPr lang="en-US" sz="1000" b="1" kern="0" spc="300" dirty="0">
                <a:solidFill>
                  <a:srgbClr val="6B2DA8"/>
                </a:solidFill>
                <a:latin typeface="Helvetica"/>
              </a:rPr>
              <a:t>DICTAMEN DEL AUDITOR EXTERNO · NATTERO AUDITORES CONSULTORES</a:t>
            </a:r>
          </a:p>
        </p:txBody>
      </p:sp>
      <p:sp>
        <p:nvSpPr>
          <p:cNvPr id="22" name="OpQuote"/>
          <p:cNvSpPr/>
          <p:nvPr/>
        </p:nvSpPr>
        <p:spPr>
          <a:xfrm>
            <a:off x="685800" y="2575560"/>
            <a:ext cx="6858000" cy="1097280"/>
          </a:xfrm>
          <a:prstGeom prst="rect">
            <a:avLst/>
          </a:prstGeom>
          <a:noFill/>
          <a:ln/>
        </p:spPr>
        <p:txBody>
          <a:bodyPr wrap="square" rtlCol="0" anchor="t"/>
          <a:lstStyle/>
          <a:p>
            <a:pPr marL="0" indent="0">
              <a:lnSpc>
                <a:spcPts val="2400"/>
              </a:lnSpc>
              <a:buNone/>
            </a:pPr>
            <a:r>
              <a:rPr lang="en-US" sz="1300" i="1" dirty="0">
                <a:solidFill>
                  <a:srgbClr val="1D1D1F"/>
                </a:solidFill>
                <a:latin typeface="Georgia"/>
              </a:rPr>
              <a:t>“En nuestra opinión, los estados financieros adjuntos presentan razonablemente, en todos los aspectos materiales, la situación financiera del Fondo al 31 de diciembre de 2025, sus resultados y sus flujos de efectivo, de conformidad con las Normas de Contabilidad NIIF.”</a:t>
            </a:r>
          </a:p>
        </p:txBody>
      </p:sp>
      <p:sp>
        <p:nvSpPr>
          <p:cNvPr id="23" name="OpSign"/>
          <p:cNvSpPr/>
          <p:nvPr/>
        </p:nvSpPr>
        <p:spPr>
          <a:xfrm>
            <a:off x="685800" y="3795000"/>
            <a:ext cx="6858000" cy="274320"/>
          </a:xfrm>
          <a:prstGeom prst="rect">
            <a:avLst/>
          </a:prstGeom>
          <a:noFill/>
          <a:ln/>
        </p:spPr>
        <p:txBody>
          <a:bodyPr wrap="square" rtlCol="0" anchor="t"/>
          <a:lstStyle/>
          <a:p>
            <a:pPr marL="0" indent="0">
              <a:buNone/>
            </a:pPr>
            <a:r>
              <a:rPr lang="en-US" sz="1000" b="1" dirty="0">
                <a:solidFill>
                  <a:srgbClr val="1D1D1F"/>
                </a:solidFill>
                <a:latin typeface="Helvetica"/>
              </a:rPr>
              <a:t xml:space="preserve">Renzo Aldo Nattero Antonelli, Socio </a:t>
            </a:r>
            <a:r>
              <a:rPr lang="en-US" sz="1000" dirty="0">
                <a:solidFill>
                  <a:srgbClr val="424245"/>
                </a:solidFill>
                <a:latin typeface="Helvetica"/>
              </a:rPr>
              <a:t>· Valparaíso, 30 de abril de 2026 · firma electrónica avanzada</a:t>
            </a:r>
          </a:p>
        </p:txBody>
      </p:sp>
      <p:sp>
        <p:nvSpPr>
          <p:cNvPr id="30" name="EnfasisCard"/>
          <p:cNvSpPr/>
          <p:nvPr/>
        </p:nvSpPr>
        <p:spPr>
          <a:xfrm>
            <a:off x="8138160" y="2103120"/>
            <a:ext cx="3593592" cy="2103120"/>
          </a:xfrm>
          <a:prstGeom prst="roundRect">
            <a:avLst>
              <a:gd name="adj" fmla="val 5000"/>
            </a:avLst>
          </a:prstGeom>
          <a:solidFill>
            <a:srgbClr val="EAF3FB"/>
          </a:solidFill>
          <a:ln>
            <a:noFill/>
          </a:ln>
        </p:spPr>
        <p:txBody>
          <a:bodyPr wrap="square" rtlCol="0" anchor="ctr"/>
          <a:lstStyle/>
          <a:p>
            <a:pPr>
              <a:buNone/>
            </a:pPr>
            <a:endParaRPr lang="en-US"/>
          </a:p>
        </p:txBody>
      </p:sp>
      <p:sp>
        <p:nvSpPr>
          <p:cNvPr id="31" name="EnfasisLbl"/>
          <p:cNvSpPr/>
          <p:nvPr/>
        </p:nvSpPr>
        <p:spPr>
          <a:xfrm>
            <a:off x="8366760" y="2240280"/>
            <a:ext cx="3136392" cy="274320"/>
          </a:xfrm>
          <a:prstGeom prst="rect">
            <a:avLst/>
          </a:prstGeom>
          <a:noFill/>
          <a:ln/>
        </p:spPr>
        <p:txBody>
          <a:bodyPr wrap="square" rtlCol="0" anchor="t"/>
          <a:lstStyle/>
          <a:p>
            <a:pPr marL="0" indent="0">
              <a:buNone/>
            </a:pPr>
            <a:r>
              <a:rPr lang="en-US" sz="1000" b="1" kern="0" spc="300" dirty="0">
                <a:solidFill>
                  <a:srgbClr val="2563A8"/>
                </a:solidFill>
                <a:latin typeface="Helvetica"/>
              </a:rPr>
              <a:t>ÉNFASIS EN UN ASUNTO</a:t>
            </a:r>
          </a:p>
        </p:txBody>
      </p:sp>
      <p:sp>
        <p:nvSpPr>
          <p:cNvPr id="32" name="EnfasisTxt"/>
          <p:cNvSpPr/>
          <p:nvPr/>
        </p:nvSpPr>
        <p:spPr>
          <a:xfrm>
            <a:off x="8366760" y="2575560"/>
            <a:ext cx="3136392" cy="1554480"/>
          </a:xfrm>
          <a:prstGeom prst="rect">
            <a:avLst/>
          </a:prstGeom>
          <a:noFill/>
          <a:ln/>
        </p:spPr>
        <p:txBody>
          <a:bodyPr wrap="square" rtlCol="0" anchor="t"/>
          <a:lstStyle/>
          <a:p>
            <a:pPr marL="0" indent="0">
              <a:lnSpc>
                <a:spcPts val="1800"/>
              </a:lnSpc>
              <a:buNone/>
            </a:pPr>
            <a:r>
              <a:rPr lang="en-US" sz="1000" dirty="0">
                <a:solidFill>
                  <a:srgbClr val="424245"/>
                </a:solidFill>
                <a:latin typeface="Helvetica"/>
              </a:rPr>
              <a:t>Los estados financieros no han sido consolidados, en aplicación de los oficios circulares CMF N° 592 y N° 657. No se modifica la opinión del auditor sobre este asunto.</a:t>
            </a:r>
          </a:p>
          <a:p>
            <a:pPr marL="0" indent="0">
              <a:lnSpc>
                <a:spcPts val="1800"/>
              </a:lnSpc>
              <a:buNone/>
            </a:pPr>
            <a:endParaRPr lang="en-US" sz="1000"/>
          </a:p>
          <a:p>
            <a:pPr marL="0" indent="0">
              <a:lnSpc>
                <a:spcPts val="1800"/>
              </a:lnSpc>
              <a:buNone/>
            </a:pPr>
            <a:r>
              <a:rPr lang="en-US" sz="900" i="1" dirty="0">
                <a:solidFill>
                  <a:srgbClr val="86868B"/>
                </a:solidFill>
                <a:latin typeface="Helvetica"/>
              </a:rPr>
              <a:t>EEFF aprobados por el Directorio el 30 de abril de 2026 (Nota 2.1).</a:t>
            </a:r>
          </a:p>
        </p:txBody>
      </p:sp>
      <p:sp>
        <p:nvSpPr>
          <p:cNvPr id="40" name="NotasT"/>
          <p:cNvSpPr/>
          <p:nvPr/>
        </p:nvSpPr>
        <p:spPr>
          <a:xfrm>
            <a:off x="457200" y="4434840"/>
            <a:ext cx="1127455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NOTAS RELEVANTES</a:t>
            </a:r>
          </a:p>
        </p:txBody>
      </p:sp>
      <p:sp>
        <p:nvSpPr>
          <p:cNvPr id="41" name="Nota1"/>
          <p:cNvSpPr/>
          <p:nvPr/>
        </p:nvSpPr>
        <p:spPr>
          <a:xfrm>
            <a:off x="45720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9 · LÍNEA CORFO</a:t>
            </a:r>
          </a:p>
          <a:p>
            <a:pPr marL="0" indent="0">
              <a:lnSpc>
                <a:spcPts val="1900"/>
              </a:lnSpc>
              <a:buNone/>
            </a:pPr>
            <a:r>
              <a:rPr lang="en-US" sz="1000" dirty="0">
                <a:solidFill>
                  <a:srgbClr val="424245"/>
                </a:solidFill>
                <a:latin typeface="Helvetica"/>
              </a:rPr>
              <a:t xml:space="preserve">Línea autorizada por el Comité de Capital de Riesgo el 29-11-2023 hasta 350.000 UF. </a:t>
            </a:r>
          </a:p>
          <a:p>
            <a:pPr marL="0" indent="0">
              <a:lnSpc>
                <a:spcPts val="1900"/>
              </a:lnSpc>
              <a:buNone/>
            </a:pPr>
            <a:r>
              <a:rPr lang="en-US" sz="1000" dirty="0">
                <a:solidFill>
                  <a:srgbClr val="424245"/>
                </a:solidFill>
                <a:latin typeface="Helvetica"/>
              </a:rPr>
              <a:t xml:space="preserve">Al 31-12-2025 utilizadas </a:t>
            </a:r>
            <a:r>
              <a:rPr lang="en-US" sz="1000" b="1" dirty="0">
                <a:solidFill>
                  <a:srgbClr val="1D1D1F"/>
                </a:solidFill>
                <a:latin typeface="Helvetica"/>
              </a:rPr>
              <a:t>55.201 UF</a:t>
            </a:r>
            <a:r>
              <a:rPr lang="en-US" sz="1000" dirty="0">
                <a:solidFill>
                  <a:srgbClr val="424245"/>
                </a:solidFill>
                <a:latin typeface="Helvetica"/>
              </a:rPr>
              <a:t>. Tasa BCU 10a, plazo hasta 12 años.</a:t>
            </a:r>
          </a:p>
        </p:txBody>
      </p:sp>
      <p:sp>
        <p:nvSpPr>
          <p:cNvPr id="42" name="Nota2"/>
          <p:cNvSpPr/>
          <p:nvPr/>
        </p:nvSpPr>
        <p:spPr>
          <a:xfrm>
            <a:off x="428643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10 · CUOTAS Y APORTES</a:t>
            </a:r>
          </a:p>
          <a:p>
            <a:pPr marL="0" indent="0">
              <a:lnSpc>
                <a:spcPts val="1900"/>
              </a:lnSpc>
              <a:buNone/>
            </a:pPr>
            <a:r>
              <a:rPr lang="en-US" sz="1000" dirty="0">
                <a:solidFill>
                  <a:srgbClr val="424245"/>
                </a:solidFill>
                <a:latin typeface="Helvetica"/>
              </a:rPr>
              <a:t xml:space="preserve">Capital inicial </a:t>
            </a:r>
            <a:r>
              <a:rPr lang="en-US" sz="1000" b="1" dirty="0">
                <a:solidFill>
                  <a:srgbClr val="1D1D1F"/>
                </a:solidFill>
                <a:latin typeface="Helvetica"/>
              </a:rPr>
              <a:t>UF 175.000</a:t>
            </a:r>
            <a:r>
              <a:rPr lang="en-US" sz="1000" dirty="0">
                <a:solidFill>
                  <a:srgbClr val="424245"/>
                </a:solidFill>
                <a:latin typeface="Helvetica"/>
              </a:rPr>
              <a:t xml:space="preserve"> · 500 cuotas valor inicial 350 UF.</a:t>
            </a:r>
          </a:p>
          <a:p>
            <a:pPr marL="0" indent="0">
              <a:lnSpc>
                <a:spcPts val="1900"/>
              </a:lnSpc>
              <a:buNone/>
            </a:pPr>
            <a:r>
              <a:rPr lang="en-US" sz="1000" dirty="0">
                <a:solidFill>
                  <a:srgbClr val="424245"/>
                </a:solidFill>
                <a:latin typeface="Helvetica"/>
              </a:rPr>
              <a:t>414 Serie A (aportantes) + 86 Serie B (AFIS). Política de dividendos: hasta 30% de beneficios netos percibidos.</a:t>
            </a:r>
          </a:p>
        </p:txBody>
      </p:sp>
      <p:sp>
        <p:nvSpPr>
          <p:cNvPr id="43" name="Nota3"/>
          <p:cNvSpPr/>
          <p:nvPr/>
        </p:nvSpPr>
        <p:spPr>
          <a:xfrm>
            <a:off x="811566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NOTAS 12, 14-17 · ADM. Y CIERRE</a:t>
            </a:r>
          </a:p>
          <a:p>
            <a:pPr marL="0" indent="0">
              <a:lnSpc>
                <a:spcPts val="1900"/>
              </a:lnSpc>
              <a:buNone/>
            </a:pPr>
            <a:r>
              <a:rPr lang="en-US" sz="1000" dirty="0">
                <a:solidFill>
                  <a:srgbClr val="424245"/>
                </a:solidFill>
                <a:latin typeface="Helvetica"/>
              </a:rPr>
              <a:t xml:space="preserve">Comisión administración </a:t>
            </a:r>
            <a:r>
              <a:rPr lang="en-US" sz="1000" b="1" dirty="0">
                <a:solidFill>
                  <a:srgbClr val="1D1D1F"/>
                </a:solidFill>
                <a:latin typeface="Helvetica"/>
              </a:rPr>
              <a:t>2,5% + IVA</a:t>
            </a:r>
            <a:r>
              <a:rPr lang="en-US" sz="1000" dirty="0">
                <a:solidFill>
                  <a:srgbClr val="424245"/>
                </a:solidFill>
                <a:latin typeface="Helvetica"/>
              </a:rPr>
              <a:t xml:space="preserve"> sobre aportes suscritos/comprometidos + línea CORFO.</a:t>
            </a:r>
          </a:p>
          <a:p>
            <a:pPr marL="0" indent="0">
              <a:lnSpc>
                <a:spcPts val="1900"/>
              </a:lnSpc>
              <a:buNone/>
            </a:pPr>
            <a:r>
              <a:rPr lang="en-US" sz="1000" dirty="0">
                <a:solidFill>
                  <a:srgbClr val="424245"/>
                </a:solidFill>
                <a:latin typeface="Helvetica"/>
              </a:rPr>
              <a:t>Sin contingencias, juicios, ni sanciones. Sin hechos posteriores relevantes.</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3152</Words>
  <Application>Microsoft Office PowerPoint</Application>
  <PresentationFormat>Panorámica</PresentationFormat>
  <Paragraphs>378</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Georgia</vt:lpstr>
      <vt:lpstr>Helvetica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Administradora de Fondos de la Industria Sostenible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CEHTA Capital — Asamblea de Aportantes 2026</dc:title>
  <dc:subject>Segunda Asamblea Ordinaria de Aportantes — FIP CEHTA ESG</dc:subject>
  <dc:creator>AFIS S.A.</dc:creator>
  <cp:lastModifiedBy>Nicolas Rietta González</cp:lastModifiedBy>
  <cp:revision>2</cp:revision>
  <dcterms:created xsi:type="dcterms:W3CDTF">2026-05-12T21:48:34Z</dcterms:created>
  <dcterms:modified xsi:type="dcterms:W3CDTF">2026-05-12T21:55:50Z</dcterms:modified>
</cp:coreProperties>
</file>